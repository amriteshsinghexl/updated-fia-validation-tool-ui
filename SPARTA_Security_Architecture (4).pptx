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SPARTA security architecture, rebuilt to follow the ISG-approved Security Architecture Diagram sample. Single Windows EC2 application host with S3, RDS MySQL, Bedrock Nova, GitHub and 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component diagram. Internal corporate users reach the SPARTA React app through the WAF and Application Load Balancer into the private subnet. A single Windows EC2 hosts the frontend, API, calculation engine, actuarial scripts, ETL and comparison tool. It talks to RDS MySQL and S3 for data, Bedrock Nova for GenAI, SES for mail, CloudWatch for logs. GitHub deploys via CI/CD. Security and access control apply across all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Chronological workflow: GitHub deploys to EC2; user logs in via Cognito; submits a run; the app loads data from S3 and RDS, validates, calls Bedrock Nova to generate scripts, runs the calculation engine, persists results to RDS and S3, compares against legacy, and emails results via 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2-9.png"/><Relationship Id="rId10" Type="http://schemas.openxmlformats.org/officeDocument/2006/relationships/image" Target="../media/image-2-10.svg"/><Relationship Id="rId11" Type="http://schemas.openxmlformats.org/officeDocument/2006/relationships/image" Target="../media/image-2-11.png"/><Relationship Id="rId12" Type="http://schemas.openxmlformats.org/officeDocument/2006/relationships/image" Target="../media/image-2-12.svg"/><Relationship Id="rId13" Type="http://schemas.openxmlformats.org/officeDocument/2006/relationships/image" Target="../media/image-2-13.png"/><Relationship Id="rId14" Type="http://schemas.openxmlformats.org/officeDocument/2006/relationships/image" Target="../media/image-2-14.svg"/><Relationship Id="rId15" Type="http://schemas.openxmlformats.org/officeDocument/2006/relationships/image" Target="../media/image-2-15.png"/><Relationship Id="rId16" Type="http://schemas.openxmlformats.org/officeDocument/2006/relationships/image" Target="../media/image-2-16.svg"/><Relationship Id="rId17" Type="http://schemas.openxmlformats.org/officeDocument/2006/relationships/image" Target="../media/image-2-17.png"/><Relationship Id="rId18" Type="http://schemas.openxmlformats.org/officeDocument/2006/relationships/image" Target="../media/image-2-18.svg"/><Relationship Id="rId19" Type="http://schemas.openxmlformats.org/officeDocument/2006/relationships/image" Target="../media/image-2-19.png"/><Relationship Id="rId20" Type="http://schemas.openxmlformats.org/officeDocument/2006/relationships/image" Target="../media/image-2-20.svg"/><Relationship Id="rId21" Type="http://schemas.openxmlformats.org/officeDocument/2006/relationships/image" Target="../media/image-2-21.png"/><Relationship Id="rId22" Type="http://schemas.openxmlformats.org/officeDocument/2006/relationships/image" Target="../media/image-2-22.svg"/><Relationship Id="rId23" Type="http://schemas.openxmlformats.org/officeDocument/2006/relationships/image" Target="../media/image-2-23.png"/><Relationship Id="rId24" Type="http://schemas.openxmlformats.org/officeDocument/2006/relationships/image" Target="../media/image-2-24.svg"/><Relationship Id="rId25" Type="http://schemas.openxmlformats.org/officeDocument/2006/relationships/image" Target="../media/image-2-25.png"/><Relationship Id="rId26" Type="http://schemas.openxmlformats.org/officeDocument/2006/relationships/image" Target="../media/image-2-26.svg"/><Relationship Id="rId27" Type="http://schemas.openxmlformats.org/officeDocument/2006/relationships/image" Target="../media/image-2-27.png"/><Relationship Id="rId28" Type="http://schemas.openxmlformats.org/officeDocument/2006/relationships/image" Target="../media/image-2-28.svg"/><Relationship Id="rId29" Type="http://schemas.openxmlformats.org/officeDocument/2006/relationships/image" Target="../media/image-2-29.png"/><Relationship Id="rId30" Type="http://schemas.openxmlformats.org/officeDocument/2006/relationships/image" Target="../media/image-2-30.svg"/><Relationship Id="rId31" Type="http://schemas.openxmlformats.org/officeDocument/2006/relationships/image" Target="../media/image-2-31.png"/><Relationship Id="rId32" Type="http://schemas.openxmlformats.org/officeDocument/2006/relationships/image" Target="../media/image-2-32.svg"/><Relationship Id="rId33" Type="http://schemas.openxmlformats.org/officeDocument/2006/relationships/image" Target="../media/image-2-33.png"/><Relationship Id="rId34" Type="http://schemas.openxmlformats.org/officeDocument/2006/relationships/image" Target="../media/image-2-34.svg"/><Relationship Id="rId35" Type="http://schemas.openxmlformats.org/officeDocument/2006/relationships/image" Target="../media/image-2-35.png"/><Relationship Id="rId36" Type="http://schemas.openxmlformats.org/officeDocument/2006/relationships/image" Target="../media/image-2-36.svg"/><Relationship Id="rId37" Type="http://schemas.openxmlformats.org/officeDocument/2006/relationships/image" Target="../media/image-2-37.png"/><Relationship Id="rId38" Type="http://schemas.openxmlformats.org/officeDocument/2006/relationships/image" Target="../media/image-2-38.svg"/><Relationship Id="rId39" Type="http://schemas.openxmlformats.org/officeDocument/2006/relationships/image" Target="../media/image-2-39.png"/><Relationship Id="rId40" Type="http://schemas.openxmlformats.org/officeDocument/2006/relationships/image" Target="../media/image-2-40.svg"/><Relationship Id="rId41" Type="http://schemas.openxmlformats.org/officeDocument/2006/relationships/image" Target="../media/image-2-41.png"/><Relationship Id="rId42" Type="http://schemas.openxmlformats.org/officeDocument/2006/relationships/image" Target="../media/image-2-42.svg"/><Relationship Id="rId43" Type="http://schemas.openxmlformats.org/officeDocument/2006/relationships/image" Target="../media/image-2-43.png"/><Relationship Id="rId44" Type="http://schemas.openxmlformats.org/officeDocument/2006/relationships/image" Target="../media/image-2-44.svg"/><Relationship Id="rId45" Type="http://schemas.openxmlformats.org/officeDocument/2006/relationships/image" Target="../media/image-2-45.png"/><Relationship Id="rId46" Type="http://schemas.openxmlformats.org/officeDocument/2006/relationships/image" Target="../media/image-2-46.svg"/><Relationship Id="rId47" Type="http://schemas.openxmlformats.org/officeDocument/2006/relationships/image" Target="../media/image-2-47.png"/><Relationship Id="rId48" Type="http://schemas.openxmlformats.org/officeDocument/2006/relationships/image" Target="../media/image-2-48.svg"/><Relationship Id="rId49" Type="http://schemas.openxmlformats.org/officeDocument/2006/relationships/image" Target="../media/image-2-49.png"/><Relationship Id="rId50" Type="http://schemas.openxmlformats.org/officeDocument/2006/relationships/image" Target="../media/image-2-50.svg"/><Relationship Id="rId51" Type="http://schemas.openxmlformats.org/officeDocument/2006/relationships/slideLayout" Target="../slideLayouts/slideLayout1.xml"/><Relationship Id="rId5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ED7100"/>
          </a:solidFill>
          <a:ln/>
        </p:spPr>
      </p:sp>
      <p:sp>
        <p:nvSpPr>
          <p:cNvPr id="3" name="Text 1"/>
          <p:cNvSpPr/>
          <p:nvPr/>
        </p:nvSpPr>
        <p:spPr>
          <a:xfrm>
            <a:off x="1143000" y="1143000"/>
            <a:ext cx="2463195" cy="34290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7A8694"/>
                </a:solidFill>
                <a:latin typeface="Source Sans 3" pitchFamily="34" charset="0"/>
                <a:ea typeface="Source Sans 3" pitchFamily="34" charset="-122"/>
                <a:cs typeface="Source Sans 3" pitchFamily="34" charset="-120"/>
              </a:rPr>
              <a:t>SPARTA PLATFORM</a:t>
            </a:r>
            <a:endParaRPr lang="en-US" sz="1650" dirty="0"/>
          </a:p>
        </p:txBody>
      </p:sp>
      <p:sp>
        <p:nvSpPr>
          <p:cNvPr id="4" name="Text 2"/>
          <p:cNvSpPr/>
          <p:nvPr/>
        </p:nvSpPr>
        <p:spPr>
          <a:xfrm>
            <a:off x="1143000" y="3429000"/>
            <a:ext cx="14668500" cy="447675"/>
          </a:xfrm>
          <a:prstGeom prst="rect">
            <a:avLst/>
          </a:prstGeom>
          <a:noFill/>
          <a:ln/>
        </p:spPr>
        <p:txBody>
          <a:bodyPr wrap="square" lIns="25400" tIns="25400" rIns="25400" bIns="25400" rtlCol="0" anchor="t">
            <a:normAutofit/>
          </a:bodyPr>
          <a:lstStyle/>
          <a:p>
            <a:pPr algn="l" indent="0" marL="0">
              <a:buNone/>
            </a:pPr>
            <a:r>
              <a:rPr lang="en-US" sz="2250" b="1" spc="75" kern="0" dirty="0">
                <a:solidFill>
                  <a:srgbClr val="ED7100"/>
                </a:solidFill>
                <a:latin typeface="Source Sans 3" pitchFamily="34" charset="0"/>
                <a:ea typeface="Source Sans 3" pitchFamily="34" charset="-122"/>
                <a:cs typeface="Source Sans 3" pitchFamily="34" charset="-120"/>
              </a:rPr>
              <a:t>SECURITY ARCHITECTURE</a:t>
            </a:r>
            <a:endParaRPr lang="en-US" sz="2250" dirty="0"/>
          </a:p>
        </p:txBody>
      </p:sp>
      <p:sp>
        <p:nvSpPr>
          <p:cNvPr id="5" name="Text 3"/>
          <p:cNvSpPr/>
          <p:nvPr/>
        </p:nvSpPr>
        <p:spPr>
          <a:xfrm>
            <a:off x="1143000" y="3971925"/>
            <a:ext cx="13735050" cy="2058888"/>
          </a:xfrm>
          <a:prstGeom prst="rect">
            <a:avLst/>
          </a:prstGeom>
          <a:noFill/>
          <a:ln/>
        </p:spPr>
        <p:txBody>
          <a:bodyPr wrap="square" lIns="25400" tIns="25400" rIns="25400" bIns="25400" rtlCol="0" anchor="t">
            <a:normAutofit/>
          </a:bodyPr>
          <a:lstStyle/>
          <a:p>
            <a:pPr algn="l" indent="0" marL="0">
              <a:lnSpc>
                <a:spcPct val="102000"/>
              </a:lnSpc>
              <a:buNone/>
            </a:pPr>
            <a:r>
              <a:rPr lang="en-US" sz="7800" b="1" spc="-112" kern="0" dirty="0">
                <a:solidFill>
                  <a:srgbClr val="1D2A3A"/>
                </a:solidFill>
                <a:latin typeface="Source Sans 3" pitchFamily="34" charset="0"/>
                <a:ea typeface="Source Sans 3" pitchFamily="34" charset="-122"/>
                <a:cs typeface="Source Sans 3" pitchFamily="34" charset="-120"/>
              </a:rPr>
              <a:t>Security Architecture Diagram</a:t>
            </a:r>
            <a:endParaRPr lang="en-US" sz="7800" dirty="0"/>
          </a:p>
        </p:txBody>
      </p:sp>
      <p:sp>
        <p:nvSpPr>
          <p:cNvPr id="6" name="Text 4"/>
          <p:cNvSpPr/>
          <p:nvPr/>
        </p:nvSpPr>
        <p:spPr>
          <a:xfrm>
            <a:off x="1143000" y="6278463"/>
            <a:ext cx="14668500" cy="447675"/>
          </a:xfrm>
          <a:prstGeom prst="rect">
            <a:avLst/>
          </a:prstGeom>
          <a:noFill/>
          <a:ln/>
        </p:spPr>
        <p:txBody>
          <a:bodyPr wrap="square" lIns="25400" tIns="25400" rIns="25400" bIns="25400" rtlCol="0" anchor="t">
            <a:normAutofit/>
          </a:bodyPr>
          <a:lstStyle/>
          <a:p>
            <a:pPr algn="l" indent="0" marL="0">
              <a:buNone/>
            </a:pPr>
            <a:r>
              <a:rPr lang="en-US" sz="2250" dirty="0">
                <a:solidFill>
                  <a:srgbClr val="56636F"/>
                </a:solidFill>
                <a:latin typeface="Source Sans 3" pitchFamily="34" charset="0"/>
                <a:ea typeface="Source Sans 3" pitchFamily="34" charset="-122"/>
                <a:cs typeface="Source Sans 3" pitchFamily="34" charset="-120"/>
              </a:rPr>
              <a:t>High Level Design (Traffic Flow) &amp; Chronological Workflow</a:t>
            </a:r>
            <a:endParaRPr lang="en-US" sz="2250" dirty="0"/>
          </a:p>
        </p:txBody>
      </p:sp>
      <p:sp>
        <p:nvSpPr>
          <p:cNvPr id="7" name="Shape 5"/>
          <p:cNvSpPr/>
          <p:nvPr/>
        </p:nvSpPr>
        <p:spPr>
          <a:xfrm>
            <a:off x="1143000" y="2857500"/>
            <a:ext cx="2286000" cy="38100"/>
          </a:xfrm>
          <a:prstGeom prst="rect">
            <a:avLst/>
          </a:prstGeom>
          <a:solidFill>
            <a:srgbClr val="1D2A3A"/>
          </a:solidFill>
          <a:ln/>
        </p:spPr>
      </p:sp>
      <p:sp>
        <p:nvSpPr>
          <p:cNvPr id="8" name="Text 6"/>
          <p:cNvSpPr/>
          <p:nvPr/>
        </p:nvSpPr>
        <p:spPr>
          <a:xfrm>
            <a:off x="1143000" y="9353550"/>
            <a:ext cx="2175555" cy="304800"/>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8B97A5"/>
                </a:solidFill>
                <a:latin typeface="Source Sans 3" pitchFamily="34" charset="0"/>
                <a:ea typeface="Source Sans 3" pitchFamily="34" charset="-122"/>
                <a:cs typeface="Source Sans 3" pitchFamily="34" charset="-120"/>
              </a:rPr>
              <a:t>INTERNAL DOCUMENT</a:t>
            </a:r>
            <a:endParaRPr lang="en-US" sz="1500" dirty="0"/>
          </a:p>
        </p:txBody>
      </p:sp>
      <p:sp>
        <p:nvSpPr>
          <p:cNvPr id="9" name="Text 7"/>
          <p:cNvSpPr/>
          <p:nvPr/>
        </p:nvSpPr>
        <p:spPr>
          <a:xfrm>
            <a:off x="13008025" y="9410700"/>
            <a:ext cx="4550673" cy="304800"/>
          </a:xfrm>
          <a:prstGeom prst="rect">
            <a:avLst/>
          </a:prstGeom>
          <a:noFill/>
          <a:ln/>
        </p:spPr>
        <p:txBody>
          <a:bodyPr wrap="square" lIns="25400" tIns="25400" rIns="25400" bIns="25400" rtlCol="0" anchor="t">
            <a:normAutofit/>
          </a:bodyPr>
          <a:lstStyle/>
          <a:p>
            <a:pPr algn="l" indent="0" marL="0">
              <a:buNone/>
            </a:pPr>
            <a:r>
              <a:rPr lang="en-US" sz="1500" dirty="0">
                <a:solidFill>
                  <a:srgbClr val="8B97A5"/>
                </a:solidFill>
                <a:latin typeface="Source Sans 3" pitchFamily="34" charset="0"/>
                <a:ea typeface="Source Sans 3" pitchFamily="34" charset="-122"/>
                <a:cs typeface="Source Sans 3" pitchFamily="34" charset="-120"/>
              </a:rPr>
              <a:t>© 2025 EXL Service Holdings, Inc. All rights reserved.</a:t>
            </a:r>
            <a:endParaRPr lang="en-US" sz="1500" dirty="0"/>
          </a:p>
        </p:txBody>
      </p:sp>
      <p:sp>
        <p:nvSpPr>
          <p:cNvPr id="10" name="Text 8"/>
          <p:cNvSpPr/>
          <p:nvPr/>
        </p:nvSpPr>
        <p:spPr>
          <a:xfrm>
            <a:off x="16486138" y="1047750"/>
            <a:ext cx="735062" cy="581025"/>
          </a:xfrm>
          <a:prstGeom prst="rect">
            <a:avLst/>
          </a:prstGeom>
          <a:noFill/>
          <a:ln/>
        </p:spPr>
        <p:txBody>
          <a:bodyPr wrap="square" lIns="25400" tIns="25400" rIns="25400" bIns="25400" rtlCol="0" anchor="t">
            <a:normAutofit/>
          </a:bodyPr>
          <a:lstStyle/>
          <a:p>
            <a:pPr algn="l" indent="0" marL="0">
              <a:buNone/>
            </a:pPr>
            <a:r>
              <a:rPr lang="en-US" sz="3000" b="1" spc="75" kern="0" dirty="0">
                <a:solidFill>
                  <a:srgbClr val="ED7100"/>
                </a:solidFill>
                <a:latin typeface="Source Sans 3" pitchFamily="34" charset="0"/>
                <a:ea typeface="Source Sans 3" pitchFamily="34" charset="-122"/>
                <a:cs typeface="Source Sans 3" pitchFamily="34" charset="-120"/>
              </a:rPr>
              <a:t>EXL</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85750"/>
            <a:ext cx="10528905" cy="419100"/>
          </a:xfrm>
          <a:prstGeom prst="rect">
            <a:avLst/>
          </a:prstGeom>
          <a:noFill/>
          <a:ln/>
        </p:spPr>
        <p:txBody>
          <a:bodyPr wrap="square" lIns="25400" tIns="25400" rIns="25400" bIns="25400" rtlCol="0" anchor="t">
            <a:normAutofit/>
          </a:bodyPr>
          <a:lstStyle/>
          <a:p>
            <a:pPr algn="l" indent="0" marL="0">
              <a:buNone/>
            </a:pPr>
            <a:r>
              <a:rPr lang="en-US" sz="2100" b="1" dirty="0">
                <a:solidFill>
                  <a:srgbClr val="1D2A3A"/>
                </a:solidFill>
                <a:latin typeface="Source Sans 3" pitchFamily="34" charset="0"/>
                <a:ea typeface="Source Sans 3" pitchFamily="34" charset="-122"/>
                <a:cs typeface="Source Sans 3" pitchFamily="34" charset="-120"/>
              </a:rPr>
              <a:t>High Level Design Diagram (Including Traffic Flow) — End to End Component Level</a:t>
            </a:r>
            <a:endParaRPr lang="en-US" sz="2100" dirty="0"/>
          </a:p>
        </p:txBody>
      </p:sp>
      <p:sp>
        <p:nvSpPr>
          <p:cNvPr id="3" name="Shape 1"/>
          <p:cNvSpPr/>
          <p:nvPr/>
        </p:nvSpPr>
        <p:spPr>
          <a:xfrm>
            <a:off x="457200" y="685800"/>
            <a:ext cx="17373600" cy="19050"/>
          </a:xfrm>
          <a:prstGeom prst="rect">
            <a:avLst/>
          </a:prstGeom>
          <a:solidFill>
            <a:srgbClr val="E2E6EA"/>
          </a:solidFill>
          <a:ln/>
        </p:spPr>
      </p:sp>
      <p:sp>
        <p:nvSpPr>
          <p:cNvPr id="4" name="Shape 2"/>
          <p:cNvSpPr/>
          <p:nvPr/>
        </p:nvSpPr>
        <p:spPr>
          <a:xfrm>
            <a:off x="4095750" y="1066800"/>
            <a:ext cx="11715750" cy="8667750"/>
          </a:xfrm>
          <a:prstGeom prst="roundRect">
            <a:avLst>
              <a:gd name="adj" fmla="val 1099"/>
            </a:avLst>
          </a:prstGeom>
          <a:solidFill>
            <a:srgbClr val="FFFFFF"/>
          </a:solidFill>
          <a:ln w="9525">
            <a:solidFill>
              <a:srgbClr val="8B97A5"/>
            </a:solidFill>
            <a:prstDash val="solid"/>
          </a:ln>
        </p:spPr>
      </p:sp>
      <p:sp>
        <p:nvSpPr>
          <p:cNvPr id="5" name="Shape 3"/>
          <p:cNvSpPr/>
          <p:nvPr/>
        </p:nvSpPr>
        <p:spPr>
          <a:xfrm>
            <a:off x="4248150" y="1162050"/>
            <a:ext cx="285750" cy="285750"/>
          </a:xfrm>
          <a:prstGeom prst="roundRect">
            <a:avLst>
              <a:gd name="adj" fmla="val 20000"/>
            </a:avLst>
          </a:prstGeom>
          <a:solidFill>
            <a:srgbClr val="232F3E"/>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95775" y="1209675"/>
            <a:ext cx="190500" cy="190500"/>
          </a:xfrm>
          <a:prstGeom prst="rect">
            <a:avLst/>
          </a:prstGeom>
        </p:spPr>
      </p:pic>
      <p:sp>
        <p:nvSpPr>
          <p:cNvPr id="7" name="Text 4"/>
          <p:cNvSpPr/>
          <p:nvPr/>
        </p:nvSpPr>
        <p:spPr>
          <a:xfrm>
            <a:off x="4610100" y="1200150"/>
            <a:ext cx="1646441" cy="247650"/>
          </a:xfrm>
          <a:prstGeom prst="rect">
            <a:avLst/>
          </a:prstGeom>
          <a:noFill/>
          <a:ln/>
        </p:spPr>
        <p:txBody>
          <a:bodyPr wrap="square" lIns="25400" tIns="25400" rIns="25400" bIns="25400" rtlCol="0" anchor="t">
            <a:normAutofit/>
          </a:bodyPr>
          <a:lstStyle/>
          <a:p>
            <a:pPr algn="l" indent="0" marL="0">
              <a:buNone/>
            </a:pPr>
            <a:r>
              <a:rPr lang="en-US" sz="1200" b="1" dirty="0">
                <a:solidFill>
                  <a:srgbClr val="232F3E"/>
                </a:solidFill>
                <a:latin typeface="Source Sans 3" pitchFamily="34" charset="0"/>
                <a:ea typeface="Source Sans 3" pitchFamily="34" charset="-122"/>
                <a:cs typeface="Source Sans 3" pitchFamily="34" charset="-120"/>
              </a:rPr>
              <a:t>AWS Cloud · us-east-1</a:t>
            </a:r>
            <a:endParaRPr lang="en-US" sz="1200" dirty="0"/>
          </a:p>
        </p:txBody>
      </p:sp>
      <p:sp>
        <p:nvSpPr>
          <p:cNvPr id="8" name="Shape 5"/>
          <p:cNvSpPr/>
          <p:nvPr/>
        </p:nvSpPr>
        <p:spPr>
          <a:xfrm>
            <a:off x="4476750" y="1733550"/>
            <a:ext cx="8382000" cy="7620000"/>
          </a:xfrm>
          <a:prstGeom prst="roundRect">
            <a:avLst>
              <a:gd name="adj" fmla="val 1000"/>
            </a:avLst>
          </a:prstGeom>
          <a:solidFill>
            <a:srgbClr val="EAF3EB"/>
          </a:solidFill>
          <a:ln w="9525">
            <a:solidFill>
              <a:srgbClr val="6FA77F"/>
            </a:solidFill>
            <a:prstDash val="solid"/>
          </a:ln>
        </p:spPr>
      </p:sp>
      <p:sp>
        <p:nvSpPr>
          <p:cNvPr id="9" name="Shape 6"/>
          <p:cNvSpPr/>
          <p:nvPr/>
        </p:nvSpPr>
        <p:spPr>
          <a:xfrm>
            <a:off x="4610100" y="1828800"/>
            <a:ext cx="247650" cy="247650"/>
          </a:xfrm>
          <a:prstGeom prst="roundRect">
            <a:avLst>
              <a:gd name="adj" fmla="val 19231"/>
            </a:avLst>
          </a:prstGeom>
          <a:solidFill>
            <a:srgbClr val="4F9D69"/>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52963" y="1871663"/>
            <a:ext cx="161925" cy="161925"/>
          </a:xfrm>
          <a:prstGeom prst="rect">
            <a:avLst/>
          </a:prstGeom>
        </p:spPr>
      </p:pic>
      <p:sp>
        <p:nvSpPr>
          <p:cNvPr id="11" name="Text 7"/>
          <p:cNvSpPr/>
          <p:nvPr/>
        </p:nvSpPr>
        <p:spPr>
          <a:xfrm>
            <a:off x="4924425" y="1852612"/>
            <a:ext cx="1916564" cy="238125"/>
          </a:xfrm>
          <a:prstGeom prst="rect">
            <a:avLst/>
          </a:prstGeom>
          <a:noFill/>
          <a:ln/>
        </p:spPr>
        <p:txBody>
          <a:bodyPr wrap="square" lIns="25400" tIns="25400" rIns="25400" bIns="25400" rtlCol="0" anchor="t">
            <a:normAutofit/>
          </a:bodyPr>
          <a:lstStyle/>
          <a:p>
            <a:pPr algn="l" indent="0" marL="0">
              <a:buNone/>
            </a:pPr>
            <a:r>
              <a:rPr lang="en-US" sz="1125" b="1" dirty="0">
                <a:solidFill>
                  <a:srgbClr val="3C7A52"/>
                </a:solidFill>
                <a:latin typeface="Source Sans 3" pitchFamily="34" charset="0"/>
                <a:ea typeface="Source Sans 3" pitchFamily="34" charset="-122"/>
                <a:cs typeface="Source Sans 3" pitchFamily="34" charset="-120"/>
              </a:rPr>
              <a:t>Production VPC 10.0.0.0/16</a:t>
            </a:r>
            <a:endParaRPr lang="en-US" sz="1125" dirty="0"/>
          </a:p>
        </p:txBody>
      </p:sp>
      <p:sp>
        <p:nvSpPr>
          <p:cNvPr id="12" name="Shape 8"/>
          <p:cNvSpPr/>
          <p:nvPr/>
        </p:nvSpPr>
        <p:spPr>
          <a:xfrm>
            <a:off x="4762500" y="2362200"/>
            <a:ext cx="2857500" cy="1123950"/>
          </a:xfrm>
          <a:prstGeom prst="roundRect">
            <a:avLst>
              <a:gd name="adj" fmla="val 5085"/>
            </a:avLst>
          </a:prstGeom>
          <a:solidFill>
            <a:srgbClr val="FBF1D9"/>
          </a:solidFill>
          <a:ln w="9525">
            <a:solidFill>
              <a:srgbClr val="E0982A"/>
            </a:solidFill>
            <a:prstDash val="dash"/>
          </a:ln>
        </p:spPr>
      </p:sp>
      <p:sp>
        <p:nvSpPr>
          <p:cNvPr id="13" name="Text 9"/>
          <p:cNvSpPr/>
          <p:nvPr/>
        </p:nvSpPr>
        <p:spPr>
          <a:xfrm>
            <a:off x="4876800" y="2438400"/>
            <a:ext cx="987921" cy="209550"/>
          </a:xfrm>
          <a:prstGeom prst="rect">
            <a:avLst/>
          </a:prstGeom>
          <a:noFill/>
          <a:ln/>
        </p:spPr>
        <p:txBody>
          <a:bodyPr wrap="square" lIns="25400" tIns="25400" rIns="25400" bIns="25400" rtlCol="0" anchor="t">
            <a:normAutofit/>
          </a:bodyPr>
          <a:lstStyle/>
          <a:p>
            <a:pPr algn="l" indent="0" marL="0">
              <a:buNone/>
            </a:pPr>
            <a:r>
              <a:rPr lang="en-US" sz="975" b="1" spc="22" kern="0" dirty="0">
                <a:solidFill>
                  <a:srgbClr val="B9791B"/>
                </a:solidFill>
                <a:latin typeface="Source Sans 3" pitchFamily="34" charset="0"/>
                <a:ea typeface="Source Sans 3" pitchFamily="34" charset="-122"/>
                <a:cs typeface="Source Sans 3" pitchFamily="34" charset="-120"/>
              </a:rPr>
              <a:t>PUBLIC SUBNET</a:t>
            </a:r>
            <a:endParaRPr lang="en-US" sz="975" dirty="0"/>
          </a:p>
        </p:txBody>
      </p:sp>
      <p:sp>
        <p:nvSpPr>
          <p:cNvPr id="14" name="Shape 10"/>
          <p:cNvSpPr/>
          <p:nvPr/>
        </p:nvSpPr>
        <p:spPr>
          <a:xfrm>
            <a:off x="4762500" y="3886200"/>
            <a:ext cx="7810500" cy="5181600"/>
          </a:xfrm>
          <a:prstGeom prst="roundRect">
            <a:avLst>
              <a:gd name="adj" fmla="val 1103"/>
            </a:avLst>
          </a:prstGeom>
          <a:solidFill>
            <a:srgbClr val="FBF1D9"/>
          </a:solidFill>
          <a:ln w="9525">
            <a:solidFill>
              <a:srgbClr val="E0982A"/>
            </a:solidFill>
            <a:prstDash val="dash"/>
          </a:ln>
        </p:spPr>
      </p:sp>
      <p:sp>
        <p:nvSpPr>
          <p:cNvPr id="15" name="Text 11"/>
          <p:cNvSpPr/>
          <p:nvPr/>
        </p:nvSpPr>
        <p:spPr>
          <a:xfrm>
            <a:off x="4876800" y="3962400"/>
            <a:ext cx="1441147" cy="209550"/>
          </a:xfrm>
          <a:prstGeom prst="rect">
            <a:avLst/>
          </a:prstGeom>
          <a:noFill/>
          <a:ln/>
        </p:spPr>
        <p:txBody>
          <a:bodyPr wrap="square" lIns="25400" tIns="25400" rIns="25400" bIns="25400" rtlCol="0" anchor="t">
            <a:normAutofit/>
          </a:bodyPr>
          <a:lstStyle/>
          <a:p>
            <a:pPr algn="l" indent="0" marL="0">
              <a:buNone/>
            </a:pPr>
            <a:r>
              <a:rPr lang="en-US" sz="975" b="1" spc="22" kern="0" dirty="0">
                <a:solidFill>
                  <a:srgbClr val="B9791B"/>
                </a:solidFill>
                <a:latin typeface="Source Sans 3" pitchFamily="34" charset="0"/>
                <a:ea typeface="Source Sans 3" pitchFamily="34" charset="-122"/>
                <a:cs typeface="Source Sans 3" pitchFamily="34" charset="-120"/>
              </a:rPr>
              <a:t>PRIVATE SUBNET · AZ-1</a:t>
            </a:r>
            <a:endParaRPr lang="en-US" sz="975" dirty="0"/>
          </a:p>
        </p:txBody>
      </p:sp>
      <p:sp>
        <p:nvSpPr>
          <p:cNvPr id="16" name="Shape 12"/>
          <p:cNvSpPr/>
          <p:nvPr/>
        </p:nvSpPr>
        <p:spPr>
          <a:xfrm>
            <a:off x="13125450" y="2362200"/>
            <a:ext cx="2495550" cy="4629150"/>
          </a:xfrm>
          <a:prstGeom prst="roundRect">
            <a:avLst>
              <a:gd name="adj" fmla="val 2290"/>
            </a:avLst>
          </a:prstGeom>
          <a:solidFill>
            <a:srgbClr val="CFE0F2"/>
          </a:solidFill>
          <a:ln w="9525">
            <a:solidFill>
              <a:srgbClr val="9DBCE0"/>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18288000" cy="10287000"/>
          </a:xfrm>
          <a:prstGeom prst="rect">
            <a:avLst/>
          </a:prstGeom>
        </p:spPr>
      </p:pic>
      <p:sp>
        <p:nvSpPr>
          <p:cNvPr id="18" name="Text 13"/>
          <p:cNvSpPr/>
          <p:nvPr/>
        </p:nvSpPr>
        <p:spPr>
          <a:xfrm>
            <a:off x="247650" y="5981700"/>
            <a:ext cx="2343150" cy="323850"/>
          </a:xfrm>
          <a:prstGeom prst="rect">
            <a:avLst/>
          </a:prstGeom>
          <a:noFill/>
          <a:ln/>
        </p:spPr>
        <p:txBody>
          <a:bodyPr wrap="square" lIns="25400" tIns="25400" rIns="25400" bIns="25400" rtlCol="0" anchor="t">
            <a:normAutofit/>
          </a:bodyPr>
          <a:lstStyle/>
          <a:p>
            <a:pPr algn="ctr" indent="0" marL="0">
              <a:lnSpc>
                <a:spcPct val="125000"/>
              </a:lnSpc>
              <a:buNone/>
            </a:pPr>
            <a:r>
              <a:rPr lang="en-US" sz="900" b="1" dirty="0">
                <a:solidFill>
                  <a:srgbClr val="7C8896"/>
                </a:solidFill>
                <a:latin typeface="Source Sans 3" pitchFamily="34" charset="0"/>
                <a:ea typeface="Source Sans 3" pitchFamily="34" charset="-122"/>
                <a:cs typeface="Source Sans 3" pitchFamily="34" charset="-120"/>
              </a:rPr>
              <a:t>Internal access only — corporate-managed laptops, no public internet</a:t>
            </a:r>
            <a:endParaRPr lang="en-US" sz="900" dirty="0"/>
          </a:p>
        </p:txBody>
      </p:sp>
      <p:sp>
        <p:nvSpPr>
          <p:cNvPr id="19" name="Shape 14"/>
          <p:cNvSpPr/>
          <p:nvPr/>
        </p:nvSpPr>
        <p:spPr>
          <a:xfrm>
            <a:off x="4438650" y="2724150"/>
            <a:ext cx="863947" cy="171450"/>
          </a:xfrm>
          <a:prstGeom prst="rect">
            <a:avLst/>
          </a:prstGeom>
          <a:solidFill>
            <a:srgbClr val="FBF1D9"/>
          </a:solidFill>
          <a:ln/>
        </p:spPr>
      </p:sp>
      <p:sp>
        <p:nvSpPr>
          <p:cNvPr id="20" name="Text 15"/>
          <p:cNvSpPr/>
          <p:nvPr/>
        </p:nvSpPr>
        <p:spPr>
          <a:xfrm>
            <a:off x="4476750" y="2724150"/>
            <a:ext cx="874142" cy="209550"/>
          </a:xfrm>
          <a:prstGeom prst="rect">
            <a:avLst/>
          </a:prstGeom>
          <a:noFill/>
          <a:ln/>
        </p:spPr>
        <p:txBody>
          <a:bodyPr wrap="square" lIns="25400" tIns="25400" rIns="25400" bIns="25400" rtlCol="0" anchor="t">
            <a:normAutofit/>
          </a:bodyPr>
          <a:lstStyle/>
          <a:p>
            <a:pPr algn="l" indent="0" marL="0">
              <a:buNone/>
            </a:pPr>
            <a:r>
              <a:rPr lang="en-US" sz="938" b="1" dirty="0">
                <a:solidFill>
                  <a:srgbClr val="4B5563"/>
                </a:solidFill>
                <a:latin typeface="Source Sans 3" pitchFamily="34" charset="0"/>
                <a:ea typeface="Source Sans 3" pitchFamily="34" charset="-122"/>
                <a:cs typeface="Source Sans 3" pitchFamily="34" charset="-120"/>
              </a:rPr>
              <a:t>HTTPS · TLS 1.3</a:t>
            </a:r>
            <a:endParaRPr lang="en-US" sz="938" dirty="0"/>
          </a:p>
        </p:txBody>
      </p:sp>
      <p:sp>
        <p:nvSpPr>
          <p:cNvPr id="21" name="Shape 16"/>
          <p:cNvSpPr/>
          <p:nvPr/>
        </p:nvSpPr>
        <p:spPr>
          <a:xfrm>
            <a:off x="6324600" y="3981450"/>
            <a:ext cx="418207" cy="171450"/>
          </a:xfrm>
          <a:prstGeom prst="rect">
            <a:avLst/>
          </a:prstGeom>
          <a:solidFill>
            <a:srgbClr val="FBF1D9"/>
          </a:solidFill>
          <a:ln/>
        </p:spPr>
      </p:sp>
      <p:sp>
        <p:nvSpPr>
          <p:cNvPr id="22" name="Text 17"/>
          <p:cNvSpPr/>
          <p:nvPr/>
        </p:nvSpPr>
        <p:spPr>
          <a:xfrm>
            <a:off x="6362700" y="3981450"/>
            <a:ext cx="383828" cy="209550"/>
          </a:xfrm>
          <a:prstGeom prst="rect">
            <a:avLst/>
          </a:prstGeom>
          <a:noFill/>
          <a:ln/>
        </p:spPr>
        <p:txBody>
          <a:bodyPr wrap="square" lIns="25400" tIns="25400" rIns="25400" bIns="25400" rtlCol="0" anchor="t">
            <a:normAutofit/>
          </a:bodyPr>
          <a:lstStyle/>
          <a:p>
            <a:pPr algn="l" indent="0" marL="0">
              <a:buNone/>
            </a:pPr>
            <a:r>
              <a:rPr lang="en-US" sz="938" b="1" dirty="0">
                <a:solidFill>
                  <a:srgbClr val="4B5563"/>
                </a:solidFill>
                <a:latin typeface="Source Sans 3" pitchFamily="34" charset="0"/>
                <a:ea typeface="Source Sans 3" pitchFamily="34" charset="-122"/>
                <a:cs typeface="Source Sans 3" pitchFamily="34" charset="-120"/>
              </a:rPr>
              <a:t>HTTPS</a:t>
            </a:r>
            <a:endParaRPr lang="en-US" sz="938" dirty="0"/>
          </a:p>
        </p:txBody>
      </p:sp>
      <p:sp>
        <p:nvSpPr>
          <p:cNvPr id="23" name="Shape 18"/>
          <p:cNvSpPr/>
          <p:nvPr/>
        </p:nvSpPr>
        <p:spPr>
          <a:xfrm>
            <a:off x="8477250" y="4762500"/>
            <a:ext cx="1130498" cy="171450"/>
          </a:xfrm>
          <a:prstGeom prst="rect">
            <a:avLst/>
          </a:prstGeom>
          <a:solidFill>
            <a:srgbClr val="FBF1D9"/>
          </a:solidFill>
          <a:ln/>
        </p:spPr>
      </p:sp>
      <p:sp>
        <p:nvSpPr>
          <p:cNvPr id="24" name="Text 19"/>
          <p:cNvSpPr/>
          <p:nvPr/>
        </p:nvSpPr>
        <p:spPr>
          <a:xfrm>
            <a:off x="8515350" y="4762500"/>
            <a:ext cx="1167348" cy="209550"/>
          </a:xfrm>
          <a:prstGeom prst="rect">
            <a:avLst/>
          </a:prstGeom>
          <a:noFill/>
          <a:ln/>
        </p:spPr>
        <p:txBody>
          <a:bodyPr wrap="square" lIns="25400" tIns="25400" rIns="25400" bIns="25400" rtlCol="0" anchor="t">
            <a:normAutofit/>
          </a:bodyPr>
          <a:lstStyle/>
          <a:p>
            <a:pPr algn="l" indent="0" marL="0">
              <a:buNone/>
            </a:pPr>
            <a:r>
              <a:rPr lang="en-US" sz="938" b="1" dirty="0">
                <a:solidFill>
                  <a:srgbClr val="4B5563"/>
                </a:solidFill>
                <a:latin typeface="Source Sans 3" pitchFamily="34" charset="0"/>
                <a:ea typeface="Source Sans 3" pitchFamily="34" charset="-122"/>
                <a:cs typeface="Source Sans 3" pitchFamily="34" charset="-120"/>
              </a:rPr>
              <a:t>DB over SSL · TLS 1.3</a:t>
            </a:r>
            <a:endParaRPr lang="en-US" sz="938" dirty="0"/>
          </a:p>
        </p:txBody>
      </p:sp>
      <p:sp>
        <p:nvSpPr>
          <p:cNvPr id="25" name="Shape 20"/>
          <p:cNvSpPr/>
          <p:nvPr/>
        </p:nvSpPr>
        <p:spPr>
          <a:xfrm>
            <a:off x="8620125" y="5505450"/>
            <a:ext cx="863947" cy="171450"/>
          </a:xfrm>
          <a:prstGeom prst="rect">
            <a:avLst/>
          </a:prstGeom>
          <a:solidFill>
            <a:srgbClr val="FBF1D9"/>
          </a:solidFill>
          <a:ln/>
        </p:spPr>
      </p:sp>
      <p:sp>
        <p:nvSpPr>
          <p:cNvPr id="26" name="Text 21"/>
          <p:cNvSpPr/>
          <p:nvPr/>
        </p:nvSpPr>
        <p:spPr>
          <a:xfrm>
            <a:off x="8658225" y="5505450"/>
            <a:ext cx="874142" cy="209550"/>
          </a:xfrm>
          <a:prstGeom prst="rect">
            <a:avLst/>
          </a:prstGeom>
          <a:noFill/>
          <a:ln/>
        </p:spPr>
        <p:txBody>
          <a:bodyPr wrap="square" lIns="25400" tIns="25400" rIns="25400" bIns="25400" rtlCol="0" anchor="t">
            <a:normAutofit/>
          </a:bodyPr>
          <a:lstStyle/>
          <a:p>
            <a:pPr algn="l" indent="0" marL="0">
              <a:buNone/>
            </a:pPr>
            <a:r>
              <a:rPr lang="en-US" sz="938" b="1" dirty="0">
                <a:solidFill>
                  <a:srgbClr val="4B5563"/>
                </a:solidFill>
                <a:latin typeface="Source Sans 3" pitchFamily="34" charset="0"/>
                <a:ea typeface="Source Sans 3" pitchFamily="34" charset="-122"/>
                <a:cs typeface="Source Sans 3" pitchFamily="34" charset="-120"/>
              </a:rPr>
              <a:t>HTTPS · TLS 1.3</a:t>
            </a:r>
            <a:endParaRPr lang="en-US" sz="938" dirty="0"/>
          </a:p>
        </p:txBody>
      </p:sp>
      <p:sp>
        <p:nvSpPr>
          <p:cNvPr id="27" name="Shape 22"/>
          <p:cNvSpPr/>
          <p:nvPr/>
        </p:nvSpPr>
        <p:spPr>
          <a:xfrm>
            <a:off x="8458200" y="6915150"/>
            <a:ext cx="1139428" cy="171450"/>
          </a:xfrm>
          <a:prstGeom prst="rect">
            <a:avLst/>
          </a:prstGeom>
          <a:solidFill>
            <a:srgbClr val="FBF1D9"/>
          </a:solidFill>
          <a:ln/>
        </p:spPr>
      </p:sp>
      <p:sp>
        <p:nvSpPr>
          <p:cNvPr id="28" name="Text 23"/>
          <p:cNvSpPr/>
          <p:nvPr/>
        </p:nvSpPr>
        <p:spPr>
          <a:xfrm>
            <a:off x="8496300" y="6915150"/>
            <a:ext cx="1177171" cy="209550"/>
          </a:xfrm>
          <a:prstGeom prst="rect">
            <a:avLst/>
          </a:prstGeom>
          <a:noFill/>
          <a:ln/>
        </p:spPr>
        <p:txBody>
          <a:bodyPr wrap="square" lIns="25400" tIns="25400" rIns="25400" bIns="25400" rtlCol="0" anchor="t">
            <a:normAutofit/>
          </a:bodyPr>
          <a:lstStyle/>
          <a:p>
            <a:pPr algn="l" indent="0" marL="0">
              <a:buNone/>
            </a:pPr>
            <a:r>
              <a:rPr lang="en-US" sz="938" b="1" dirty="0">
                <a:solidFill>
                  <a:srgbClr val="4B5563"/>
                </a:solidFill>
                <a:latin typeface="Source Sans 3" pitchFamily="34" charset="0"/>
                <a:ea typeface="Source Sans 3" pitchFamily="34" charset="-122"/>
                <a:cs typeface="Source Sans 3" pitchFamily="34" charset="-120"/>
              </a:rPr>
              <a:t>Bedrock API · TLS 1.3</a:t>
            </a:r>
            <a:endParaRPr lang="en-US" sz="938" dirty="0"/>
          </a:p>
        </p:txBody>
      </p:sp>
      <p:sp>
        <p:nvSpPr>
          <p:cNvPr id="29" name="Shape 24"/>
          <p:cNvSpPr/>
          <p:nvPr/>
        </p:nvSpPr>
        <p:spPr>
          <a:xfrm>
            <a:off x="8877300" y="7524750"/>
            <a:ext cx="631180" cy="171450"/>
          </a:xfrm>
          <a:prstGeom prst="rect">
            <a:avLst/>
          </a:prstGeom>
          <a:solidFill>
            <a:srgbClr val="FBF1D9"/>
          </a:solidFill>
          <a:ln/>
        </p:spPr>
      </p:sp>
      <p:sp>
        <p:nvSpPr>
          <p:cNvPr id="30" name="Text 25"/>
          <p:cNvSpPr/>
          <p:nvPr/>
        </p:nvSpPr>
        <p:spPr>
          <a:xfrm>
            <a:off x="8915400" y="7524750"/>
            <a:ext cx="618098" cy="209550"/>
          </a:xfrm>
          <a:prstGeom prst="rect">
            <a:avLst/>
          </a:prstGeom>
          <a:noFill/>
          <a:ln/>
        </p:spPr>
        <p:txBody>
          <a:bodyPr wrap="square" lIns="25400" tIns="25400" rIns="25400" bIns="25400" rtlCol="0" anchor="t">
            <a:normAutofit/>
          </a:bodyPr>
          <a:lstStyle/>
          <a:p>
            <a:pPr algn="l" indent="0" marL="0">
              <a:buNone/>
            </a:pPr>
            <a:r>
              <a:rPr lang="en-US" sz="938" b="1" dirty="0">
                <a:solidFill>
                  <a:srgbClr val="4B5563"/>
                </a:solidFill>
                <a:latin typeface="Source Sans 3" pitchFamily="34" charset="0"/>
                <a:ea typeface="Source Sans 3" pitchFamily="34" charset="-122"/>
                <a:cs typeface="Source Sans 3" pitchFamily="34" charset="-120"/>
              </a:rPr>
              <a:t>SMTP · TLS</a:t>
            </a:r>
            <a:endParaRPr lang="en-US" sz="938" dirty="0"/>
          </a:p>
        </p:txBody>
      </p:sp>
      <p:sp>
        <p:nvSpPr>
          <p:cNvPr id="31" name="Shape 26"/>
          <p:cNvSpPr/>
          <p:nvPr/>
        </p:nvSpPr>
        <p:spPr>
          <a:xfrm>
            <a:off x="8877300" y="8134350"/>
            <a:ext cx="580132" cy="171450"/>
          </a:xfrm>
          <a:prstGeom prst="rect">
            <a:avLst/>
          </a:prstGeom>
          <a:solidFill>
            <a:srgbClr val="FBF1D9"/>
          </a:solidFill>
          <a:ln/>
        </p:spPr>
      </p:sp>
      <p:sp>
        <p:nvSpPr>
          <p:cNvPr id="32" name="Text 27"/>
          <p:cNvSpPr/>
          <p:nvPr/>
        </p:nvSpPr>
        <p:spPr>
          <a:xfrm>
            <a:off x="8915400" y="8134350"/>
            <a:ext cx="561945" cy="209550"/>
          </a:xfrm>
          <a:prstGeom prst="rect">
            <a:avLst/>
          </a:prstGeom>
          <a:noFill/>
          <a:ln/>
        </p:spPr>
        <p:txBody>
          <a:bodyPr wrap="square" lIns="25400" tIns="25400" rIns="25400" bIns="25400" rtlCol="0" anchor="t">
            <a:normAutofit/>
          </a:bodyPr>
          <a:lstStyle/>
          <a:p>
            <a:pPr algn="l" indent="0" marL="0">
              <a:buNone/>
            </a:pPr>
            <a:r>
              <a:rPr lang="en-US" sz="938" b="1" dirty="0">
                <a:solidFill>
                  <a:srgbClr val="4B5563"/>
                </a:solidFill>
                <a:latin typeface="Source Sans 3" pitchFamily="34" charset="0"/>
                <a:ea typeface="Source Sans 3" pitchFamily="34" charset="-122"/>
                <a:cs typeface="Source Sans 3" pitchFamily="34" charset="-120"/>
              </a:rPr>
              <a:t>Logs · TLS</a:t>
            </a:r>
            <a:endParaRPr lang="en-US" sz="938" dirty="0"/>
          </a:p>
        </p:txBody>
      </p:sp>
      <p:sp>
        <p:nvSpPr>
          <p:cNvPr id="33" name="Shape 28"/>
          <p:cNvSpPr/>
          <p:nvPr/>
        </p:nvSpPr>
        <p:spPr>
          <a:xfrm>
            <a:off x="4476750" y="9296400"/>
            <a:ext cx="1863030" cy="171450"/>
          </a:xfrm>
          <a:prstGeom prst="rect">
            <a:avLst/>
          </a:prstGeom>
          <a:solidFill>
            <a:srgbClr val="FFFFFF"/>
          </a:solidFill>
          <a:ln/>
        </p:spPr>
      </p:sp>
      <p:sp>
        <p:nvSpPr>
          <p:cNvPr id="34" name="Text 29"/>
          <p:cNvSpPr/>
          <p:nvPr/>
        </p:nvSpPr>
        <p:spPr>
          <a:xfrm>
            <a:off x="4514850" y="9296400"/>
            <a:ext cx="1973134" cy="209550"/>
          </a:xfrm>
          <a:prstGeom prst="rect">
            <a:avLst/>
          </a:prstGeom>
          <a:noFill/>
          <a:ln/>
        </p:spPr>
        <p:txBody>
          <a:bodyPr wrap="square" lIns="25400" tIns="25400" rIns="25400" bIns="25400" rtlCol="0" anchor="t">
            <a:normAutofit/>
          </a:bodyPr>
          <a:lstStyle/>
          <a:p>
            <a:pPr algn="l" indent="0" marL="0">
              <a:buNone/>
            </a:pPr>
            <a:r>
              <a:rPr lang="en-US" sz="938" b="1" dirty="0">
                <a:solidFill>
                  <a:srgbClr val="4B5563"/>
                </a:solidFill>
                <a:latin typeface="Source Sans 3" pitchFamily="34" charset="0"/>
                <a:ea typeface="Source Sans 3" pitchFamily="34" charset="-122"/>
                <a:cs typeface="Source Sans 3" pitchFamily="34" charset="-120"/>
              </a:rPr>
              <a:t>Email notifications · SMTP over TLS</a:t>
            </a:r>
            <a:endParaRPr lang="en-US" sz="938" dirty="0"/>
          </a:p>
        </p:txBody>
      </p:sp>
      <p:sp>
        <p:nvSpPr>
          <p:cNvPr id="35" name="Shape 30"/>
          <p:cNvSpPr/>
          <p:nvPr/>
        </p:nvSpPr>
        <p:spPr>
          <a:xfrm>
            <a:off x="9334500" y="1733550"/>
            <a:ext cx="1537692" cy="171450"/>
          </a:xfrm>
          <a:prstGeom prst="rect">
            <a:avLst/>
          </a:prstGeom>
          <a:solidFill>
            <a:srgbClr val="EAF3EB"/>
          </a:solidFill>
          <a:ln/>
        </p:spPr>
      </p:sp>
      <p:sp>
        <p:nvSpPr>
          <p:cNvPr id="36" name="Text 31"/>
          <p:cNvSpPr/>
          <p:nvPr/>
        </p:nvSpPr>
        <p:spPr>
          <a:xfrm>
            <a:off x="9372600" y="1733550"/>
            <a:ext cx="1615261" cy="209550"/>
          </a:xfrm>
          <a:prstGeom prst="rect">
            <a:avLst/>
          </a:prstGeom>
          <a:noFill/>
          <a:ln/>
        </p:spPr>
        <p:txBody>
          <a:bodyPr wrap="square" lIns="25400" tIns="25400" rIns="25400" bIns="25400" rtlCol="0" anchor="t">
            <a:normAutofit/>
          </a:bodyPr>
          <a:lstStyle/>
          <a:p>
            <a:pPr algn="l" indent="0" marL="0">
              <a:buNone/>
            </a:pPr>
            <a:r>
              <a:rPr lang="en-US" sz="938" b="1" dirty="0">
                <a:solidFill>
                  <a:srgbClr val="4B5563"/>
                </a:solidFill>
                <a:latin typeface="Source Sans 3" pitchFamily="34" charset="0"/>
                <a:ea typeface="Source Sans 3" pitchFamily="34" charset="-122"/>
                <a:cs typeface="Source Sans 3" pitchFamily="34" charset="-120"/>
              </a:rPr>
              <a:t>Deploy · CI/CD (HTTPS / SSH)</a:t>
            </a:r>
            <a:endParaRPr lang="en-US" sz="938" dirty="0"/>
          </a:p>
        </p:txBody>
      </p:sp>
      <p:sp>
        <p:nvSpPr>
          <p:cNvPr id="37" name="Shape 32"/>
          <p:cNvSpPr/>
          <p:nvPr/>
        </p:nvSpPr>
        <p:spPr>
          <a:xfrm>
            <a:off x="14820900" y="8058150"/>
            <a:ext cx="798165" cy="171450"/>
          </a:xfrm>
          <a:prstGeom prst="rect">
            <a:avLst/>
          </a:prstGeom>
          <a:solidFill>
            <a:srgbClr val="FFFFFF"/>
          </a:solidFill>
          <a:ln/>
        </p:spPr>
      </p:sp>
      <p:sp>
        <p:nvSpPr>
          <p:cNvPr id="38" name="Text 33"/>
          <p:cNvSpPr/>
          <p:nvPr/>
        </p:nvSpPr>
        <p:spPr>
          <a:xfrm>
            <a:off x="14859000" y="8058150"/>
            <a:ext cx="801782" cy="209550"/>
          </a:xfrm>
          <a:prstGeom prst="rect">
            <a:avLst/>
          </a:prstGeom>
          <a:noFill/>
          <a:ln/>
        </p:spPr>
        <p:txBody>
          <a:bodyPr wrap="square" lIns="25400" tIns="25400" rIns="25400" bIns="25400" rtlCol="0" anchor="t">
            <a:normAutofit/>
          </a:bodyPr>
          <a:lstStyle/>
          <a:p>
            <a:pPr algn="l" indent="0" marL="0">
              <a:buNone/>
            </a:pPr>
            <a:r>
              <a:rPr lang="en-US" sz="938" b="1" dirty="0">
                <a:solidFill>
                  <a:srgbClr val="4B5563"/>
                </a:solidFill>
                <a:latin typeface="Source Sans 3" pitchFamily="34" charset="0"/>
                <a:ea typeface="Source Sans 3" pitchFamily="34" charset="-122"/>
                <a:cs typeface="Source Sans 3" pitchFamily="34" charset="-120"/>
              </a:rPr>
              <a:t>SFTP over TLS</a:t>
            </a:r>
            <a:endParaRPr lang="en-US" sz="938" dirty="0"/>
          </a:p>
        </p:txBody>
      </p:sp>
      <p:sp>
        <p:nvSpPr>
          <p:cNvPr id="39" name="Shape 34"/>
          <p:cNvSpPr/>
          <p:nvPr/>
        </p:nvSpPr>
        <p:spPr>
          <a:xfrm>
            <a:off x="12496800" y="6553200"/>
            <a:ext cx="971401" cy="171450"/>
          </a:xfrm>
          <a:prstGeom prst="rect">
            <a:avLst/>
          </a:prstGeom>
          <a:solidFill>
            <a:srgbClr val="FFFFFF"/>
          </a:solidFill>
          <a:ln/>
        </p:spPr>
      </p:sp>
      <p:sp>
        <p:nvSpPr>
          <p:cNvPr id="40" name="Text 35"/>
          <p:cNvSpPr/>
          <p:nvPr/>
        </p:nvSpPr>
        <p:spPr>
          <a:xfrm>
            <a:off x="12534900" y="6553200"/>
            <a:ext cx="992341" cy="209550"/>
          </a:xfrm>
          <a:prstGeom prst="rect">
            <a:avLst/>
          </a:prstGeom>
          <a:noFill/>
          <a:ln/>
        </p:spPr>
        <p:txBody>
          <a:bodyPr wrap="square" lIns="25400" tIns="25400" rIns="25400" bIns="25400" rtlCol="0" anchor="t">
            <a:normAutofit/>
          </a:bodyPr>
          <a:lstStyle/>
          <a:p>
            <a:pPr algn="l" indent="0" marL="0">
              <a:buNone/>
            </a:pPr>
            <a:r>
              <a:rPr lang="en-US" sz="938" b="1" dirty="0">
                <a:solidFill>
                  <a:srgbClr val="4B5563"/>
                </a:solidFill>
                <a:latin typeface="Source Sans 3" pitchFamily="34" charset="0"/>
                <a:ea typeface="Source Sans 3" pitchFamily="34" charset="-122"/>
                <a:cs typeface="Source Sans 3" pitchFamily="34" charset="-120"/>
              </a:rPr>
              <a:t>Vendor files → S3</a:t>
            </a:r>
            <a:endParaRPr lang="en-US" sz="938" dirty="0"/>
          </a:p>
        </p:txBody>
      </p:sp>
      <p:sp>
        <p:nvSpPr>
          <p:cNvPr id="41" name="Shape 36"/>
          <p:cNvSpPr/>
          <p:nvPr/>
        </p:nvSpPr>
        <p:spPr>
          <a:xfrm>
            <a:off x="342900" y="3028950"/>
            <a:ext cx="2152650" cy="2857500"/>
          </a:xfrm>
          <a:prstGeom prst="roundRect">
            <a:avLst>
              <a:gd name="adj" fmla="val 2655"/>
            </a:avLst>
          </a:prstGeom>
          <a:solidFill>
            <a:srgbClr val="FFFFFF"/>
          </a:solidFill>
          <a:ln w="9525">
            <a:solidFill>
              <a:srgbClr val="9AA6B2"/>
            </a:solidFill>
            <a:prstDash val="solid"/>
          </a:ln>
        </p:spPr>
      </p:sp>
      <p:sp>
        <p:nvSpPr>
          <p:cNvPr id="42" name="Text 37"/>
          <p:cNvSpPr/>
          <p:nvPr/>
        </p:nvSpPr>
        <p:spPr>
          <a:xfrm>
            <a:off x="466725" y="3133725"/>
            <a:ext cx="2095500" cy="209550"/>
          </a:xfrm>
          <a:prstGeom prst="rect">
            <a:avLst/>
          </a:prstGeom>
          <a:noFill/>
          <a:ln/>
        </p:spPr>
        <p:txBody>
          <a:bodyPr wrap="square" lIns="25400" tIns="25400" rIns="25400" bIns="25400" rtlCol="0" anchor="t">
            <a:normAutofit/>
          </a:bodyPr>
          <a:lstStyle/>
          <a:p>
            <a:pPr algn="l" indent="0" marL="0">
              <a:buNone/>
            </a:pPr>
            <a:r>
              <a:rPr lang="en-US" sz="975" b="1" spc="22" kern="0" dirty="0">
                <a:solidFill>
                  <a:srgbClr val="5B6876"/>
                </a:solidFill>
                <a:latin typeface="Source Sans 3" pitchFamily="34" charset="0"/>
                <a:ea typeface="Source Sans 3" pitchFamily="34" charset="-122"/>
                <a:cs typeface="Source Sans 3" pitchFamily="34" charset="-120"/>
              </a:rPr>
              <a:t>CORPORATE LAPTOPS</a:t>
            </a:r>
            <a:endParaRPr lang="en-US" sz="975" dirty="0"/>
          </a:p>
        </p:txBody>
      </p:sp>
      <p:sp>
        <p:nvSpPr>
          <p:cNvPr id="43" name="Text 38"/>
          <p:cNvSpPr/>
          <p:nvPr/>
        </p:nvSpPr>
        <p:spPr>
          <a:xfrm>
            <a:off x="466725" y="3314700"/>
            <a:ext cx="2232660" cy="200025"/>
          </a:xfrm>
          <a:prstGeom prst="rect">
            <a:avLst/>
          </a:prstGeom>
          <a:noFill/>
          <a:ln/>
        </p:spPr>
        <p:txBody>
          <a:bodyPr wrap="square" lIns="25400" tIns="25400" rIns="25400" bIns="25400" rtlCol="0" anchor="t">
            <a:normAutofit/>
          </a:bodyPr>
          <a:lstStyle/>
          <a:p>
            <a:pPr algn="l" indent="0" marL="0">
              <a:buNone/>
            </a:pPr>
            <a:r>
              <a:rPr lang="en-US" sz="863" dirty="0">
                <a:solidFill>
                  <a:srgbClr val="8B97A5"/>
                </a:solidFill>
                <a:latin typeface="Source Sans 3" pitchFamily="34" charset="0"/>
                <a:ea typeface="Source Sans 3" pitchFamily="34" charset="-122"/>
                <a:cs typeface="Source Sans 3" pitchFamily="34" charset="-120"/>
              </a:rPr>
              <a:t>Internal only · managed devices</a:t>
            </a:r>
            <a:endParaRPr lang="en-US" sz="863" dirty="0"/>
          </a:p>
        </p:txBody>
      </p:sp>
      <p:sp>
        <p:nvSpPr>
          <p:cNvPr id="44" name="Shape 39"/>
          <p:cNvSpPr/>
          <p:nvPr/>
        </p:nvSpPr>
        <p:spPr>
          <a:xfrm>
            <a:off x="1180951" y="3686175"/>
            <a:ext cx="476250" cy="476250"/>
          </a:xfrm>
          <a:prstGeom prst="roundRect">
            <a:avLst>
              <a:gd name="adj" fmla="val 18000"/>
            </a:avLst>
          </a:prstGeom>
          <a:solidFill>
            <a:srgbClr val="4D72F3"/>
          </a:solidFill>
          <a:ln/>
          <a:effectLst>
            <a:outerShdw sx="100000" sy="100000" kx="0" ky="0" algn="bl" rotWithShape="0" blurRad="19050" dist="9525" dir="5400000">
              <a:srgbClr val="000000">
                <a:alpha val="20000"/>
              </a:srgbClr>
            </a:outerShdw>
          </a:effectLst>
        </p:spPr>
      </p:sp>
      <p:pic>
        <p:nvPicPr>
          <p:cNvPr id="4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76201" y="3781425"/>
            <a:ext cx="285750" cy="285750"/>
          </a:xfrm>
          <a:prstGeom prst="rect">
            <a:avLst/>
          </a:prstGeom>
        </p:spPr>
      </p:pic>
      <p:sp>
        <p:nvSpPr>
          <p:cNvPr id="46" name="Text 40"/>
          <p:cNvSpPr/>
          <p:nvPr/>
        </p:nvSpPr>
        <p:spPr>
          <a:xfrm>
            <a:off x="912168" y="4219575"/>
            <a:ext cx="1013966" cy="310455"/>
          </a:xfrm>
          <a:prstGeom prst="rect">
            <a:avLst/>
          </a:prstGeom>
          <a:noFill/>
          <a:ln/>
        </p:spPr>
        <p:txBody>
          <a:bodyPr wrap="square" lIns="25400" tIns="25400" rIns="25400" bIns="25400" rtlCol="0" anchor="t">
            <a:normAutofit/>
          </a:bodyPr>
          <a:lstStyle/>
          <a:p>
            <a:pPr algn="ctr" indent="0" marL="0">
              <a:lnSpc>
                <a:spcPct val="110000"/>
              </a:lnSpc>
              <a:buNone/>
            </a:pPr>
            <a:r>
              <a:rPr lang="en-US" sz="975" b="1" dirty="0">
                <a:solidFill>
                  <a:srgbClr val="374151"/>
                </a:solidFill>
                <a:latin typeface="Source Sans 3" pitchFamily="34" charset="0"/>
                <a:ea typeface="Source Sans 3" pitchFamily="34" charset="-122"/>
                <a:cs typeface="Source Sans 3" pitchFamily="34" charset="-120"/>
              </a:rPr>
              <a:t>Business Users </a:t>
            </a:r>
            <a:pPr algn="ctr" indent="0" marL="0">
              <a:lnSpc>
                <a:spcPct val="110000"/>
              </a:lnSpc>
              <a:buNone/>
            </a:pPr>
            <a:r>
              <a:rPr lang="en-US" sz="975" dirty="0">
                <a:solidFill>
                  <a:srgbClr val="6B7682"/>
                </a:solidFill>
                <a:latin typeface="Source Sans 3" pitchFamily="34" charset="0"/>
                <a:ea typeface="Source Sans 3" pitchFamily="34" charset="-122"/>
                <a:cs typeface="Source Sans 3" pitchFamily="34" charset="-120"/>
              </a:rPr>
              <a:t>SPARTA React App</a:t>
            </a:r>
            <a:endParaRPr lang="en-US" sz="975" dirty="0"/>
          </a:p>
        </p:txBody>
      </p:sp>
      <p:sp>
        <p:nvSpPr>
          <p:cNvPr id="47" name="Shape 41"/>
          <p:cNvSpPr/>
          <p:nvPr/>
        </p:nvSpPr>
        <p:spPr>
          <a:xfrm>
            <a:off x="1181100" y="4663380"/>
            <a:ext cx="476250" cy="476250"/>
          </a:xfrm>
          <a:prstGeom prst="roundRect">
            <a:avLst>
              <a:gd name="adj" fmla="val 18000"/>
            </a:avLst>
          </a:prstGeom>
          <a:solidFill>
            <a:srgbClr val="232F3E"/>
          </a:solidFill>
          <a:ln/>
          <a:effectLst>
            <a:outerShdw sx="100000" sy="100000" kx="0" ky="0" algn="bl" rotWithShape="0" blurRad="19050" dist="9525" dir="5400000">
              <a:srgbClr val="000000">
                <a:alpha val="20000"/>
              </a:srgbClr>
            </a:outerShdw>
          </a:effectLst>
        </p:spPr>
      </p:sp>
      <p:pic>
        <p:nvPicPr>
          <p:cNvPr id="4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76350" y="4758630"/>
            <a:ext cx="285750" cy="285750"/>
          </a:xfrm>
          <a:prstGeom prst="rect">
            <a:avLst/>
          </a:prstGeom>
        </p:spPr>
      </p:pic>
      <p:sp>
        <p:nvSpPr>
          <p:cNvPr id="49" name="Text 42"/>
          <p:cNvSpPr/>
          <p:nvPr/>
        </p:nvSpPr>
        <p:spPr>
          <a:xfrm>
            <a:off x="1067098" y="5196780"/>
            <a:ext cx="704255" cy="310455"/>
          </a:xfrm>
          <a:prstGeom prst="rect">
            <a:avLst/>
          </a:prstGeom>
          <a:noFill/>
          <a:ln/>
        </p:spPr>
        <p:txBody>
          <a:bodyPr wrap="square" lIns="25400" tIns="25400" rIns="25400" bIns="25400" rtlCol="0" anchor="t">
            <a:normAutofit/>
          </a:bodyPr>
          <a:lstStyle/>
          <a:p>
            <a:pPr algn="ctr" indent="0" marL="0">
              <a:lnSpc>
                <a:spcPct val="110000"/>
              </a:lnSpc>
              <a:buNone/>
            </a:pPr>
            <a:r>
              <a:rPr lang="en-US" sz="975" b="1" dirty="0">
                <a:solidFill>
                  <a:srgbClr val="374151"/>
                </a:solidFill>
                <a:latin typeface="Source Sans 3" pitchFamily="34" charset="0"/>
                <a:ea typeface="Source Sans 3" pitchFamily="34" charset="-122"/>
                <a:cs typeface="Source Sans 3" pitchFamily="34" charset="-120"/>
              </a:rPr>
              <a:t>Admin </a:t>
            </a:r>
            <a:pPr algn="ctr" indent="0" marL="0">
              <a:lnSpc>
                <a:spcPct val="110000"/>
              </a:lnSpc>
              <a:buNone/>
            </a:pPr>
            <a:r>
              <a:rPr lang="en-US" sz="975" dirty="0">
                <a:solidFill>
                  <a:srgbClr val="6B7682"/>
                </a:solidFill>
                <a:latin typeface="Source Sans 3" pitchFamily="34" charset="0"/>
                <a:ea typeface="Source Sans 3" pitchFamily="34" charset="-122"/>
                <a:cs typeface="Source Sans 3" pitchFamily="34" charset="-120"/>
              </a:rPr>
              <a:t>Ops console</a:t>
            </a:r>
            <a:endParaRPr lang="en-US" sz="975" dirty="0"/>
          </a:p>
        </p:txBody>
      </p:sp>
      <p:sp>
        <p:nvSpPr>
          <p:cNvPr id="50" name="Shape 43"/>
          <p:cNvSpPr/>
          <p:nvPr/>
        </p:nvSpPr>
        <p:spPr>
          <a:xfrm>
            <a:off x="342900" y="7258050"/>
            <a:ext cx="2152650" cy="1143000"/>
          </a:xfrm>
          <a:prstGeom prst="roundRect">
            <a:avLst>
              <a:gd name="adj" fmla="val 5000"/>
            </a:avLst>
          </a:prstGeom>
          <a:solidFill>
            <a:srgbClr val="FFFFFF"/>
          </a:solidFill>
          <a:ln w="9525">
            <a:solidFill>
              <a:srgbClr val="9AA6B2"/>
            </a:solidFill>
            <a:prstDash val="solid"/>
          </a:ln>
        </p:spPr>
      </p:sp>
      <p:sp>
        <p:nvSpPr>
          <p:cNvPr id="51" name="Shape 44"/>
          <p:cNvSpPr/>
          <p:nvPr/>
        </p:nvSpPr>
        <p:spPr>
          <a:xfrm>
            <a:off x="1200150" y="7436197"/>
            <a:ext cx="438150" cy="438150"/>
          </a:xfrm>
          <a:prstGeom prst="roundRect">
            <a:avLst>
              <a:gd name="adj" fmla="val 19565"/>
            </a:avLst>
          </a:prstGeom>
          <a:solidFill>
            <a:srgbClr val="232F3E"/>
          </a:solidFill>
          <a:ln/>
          <a:effectLst>
            <a:outerShdw sx="100000" sy="100000" kx="0" ky="0" algn="bl" rotWithShape="0" blurRad="19050" dist="9525" dir="5400000">
              <a:srgbClr val="000000">
                <a:alpha val="20000"/>
              </a:srgbClr>
            </a:outerShdw>
          </a:effectLst>
        </p:spPr>
      </p:sp>
      <p:pic>
        <p:nvPicPr>
          <p:cNvPr id="5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85875" y="7521922"/>
            <a:ext cx="266700" cy="266700"/>
          </a:xfrm>
          <a:prstGeom prst="rect">
            <a:avLst/>
          </a:prstGeom>
        </p:spPr>
      </p:pic>
      <p:sp>
        <p:nvSpPr>
          <p:cNvPr id="53" name="Text 45"/>
          <p:cNvSpPr/>
          <p:nvPr/>
        </p:nvSpPr>
        <p:spPr>
          <a:xfrm>
            <a:off x="766911" y="7950547"/>
            <a:ext cx="1304627" cy="310455"/>
          </a:xfrm>
          <a:prstGeom prst="rect">
            <a:avLst/>
          </a:prstGeom>
          <a:noFill/>
          <a:ln/>
        </p:spPr>
        <p:txBody>
          <a:bodyPr wrap="square" lIns="25400" tIns="25400" rIns="25400" bIns="25400" rtlCol="0" anchor="t">
            <a:normAutofit/>
          </a:bodyPr>
          <a:lstStyle/>
          <a:p>
            <a:pPr algn="ctr" indent="0" marL="0">
              <a:lnSpc>
                <a:spcPct val="110000"/>
              </a:lnSpc>
              <a:buNone/>
            </a:pPr>
            <a:r>
              <a:rPr lang="en-US" sz="975" b="1" dirty="0">
                <a:solidFill>
                  <a:srgbClr val="374151"/>
                </a:solidFill>
                <a:latin typeface="Source Sans 3" pitchFamily="34" charset="0"/>
                <a:ea typeface="Source Sans 3" pitchFamily="34" charset="-122"/>
                <a:cs typeface="Source Sans 3" pitchFamily="34" charset="-120"/>
              </a:rPr>
              <a:t>Mail Recipients </a:t>
            </a:r>
            <a:pPr algn="ctr" indent="0" marL="0">
              <a:lnSpc>
                <a:spcPct val="110000"/>
              </a:lnSpc>
              <a:buNone/>
            </a:pPr>
            <a:r>
              <a:rPr lang="en-US" sz="975" dirty="0">
                <a:solidFill>
                  <a:srgbClr val="6B7682"/>
                </a:solidFill>
                <a:latin typeface="Source Sans 3" pitchFamily="34" charset="0"/>
                <a:ea typeface="Source Sans 3" pitchFamily="34" charset="-122"/>
                <a:cs typeface="Source Sans 3" pitchFamily="34" charset="-120"/>
              </a:rPr>
              <a:t>Business mailbox group</a:t>
            </a:r>
            <a:endParaRPr lang="en-US" sz="975" dirty="0"/>
          </a:p>
        </p:txBody>
      </p:sp>
      <p:sp>
        <p:nvSpPr>
          <p:cNvPr id="54" name="Shape 46"/>
          <p:cNvSpPr/>
          <p:nvPr/>
        </p:nvSpPr>
        <p:spPr>
          <a:xfrm>
            <a:off x="2867025" y="3829050"/>
            <a:ext cx="476250" cy="476250"/>
          </a:xfrm>
          <a:prstGeom prst="roundRect">
            <a:avLst>
              <a:gd name="adj" fmla="val 18000"/>
            </a:avLst>
          </a:prstGeom>
          <a:solidFill>
            <a:srgbClr val="8C4FFF"/>
          </a:solidFill>
          <a:ln/>
          <a:effectLst>
            <a:outerShdw sx="100000" sy="100000" kx="0" ky="0" algn="bl" rotWithShape="0" blurRad="19050" dist="9525" dir="5400000">
              <a:srgbClr val="000000">
                <a:alpha val="20000"/>
              </a:srgbClr>
            </a:outerShdw>
          </a:effectLst>
        </p:spPr>
      </p:sp>
      <p:pic>
        <p:nvPicPr>
          <p:cNvPr id="55"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962275" y="3924300"/>
            <a:ext cx="285750" cy="285750"/>
          </a:xfrm>
          <a:prstGeom prst="rect">
            <a:avLst/>
          </a:prstGeom>
        </p:spPr>
      </p:pic>
      <p:sp>
        <p:nvSpPr>
          <p:cNvPr id="56" name="Text 47"/>
          <p:cNvSpPr/>
          <p:nvPr/>
        </p:nvSpPr>
        <p:spPr>
          <a:xfrm>
            <a:off x="2782491" y="4362450"/>
            <a:ext cx="645319" cy="289322"/>
          </a:xfrm>
          <a:prstGeom prst="rect">
            <a:avLst/>
          </a:prstGeom>
          <a:noFill/>
          <a:ln/>
        </p:spPr>
        <p:txBody>
          <a:bodyPr wrap="square" lIns="25400" tIns="25400" rIns="25400" bIns="25400" rtlCol="0" anchor="t">
            <a:normAutofit/>
          </a:bodyPr>
          <a:lstStyle/>
          <a:p>
            <a:pPr algn="ctr" indent="0" marL="0">
              <a:lnSpc>
                <a:spcPct val="110000"/>
              </a:lnSpc>
              <a:buNone/>
            </a:pPr>
            <a:r>
              <a:rPr lang="en-US" sz="900" b="1" dirty="0">
                <a:solidFill>
                  <a:srgbClr val="374151"/>
                </a:solidFill>
                <a:latin typeface="Source Sans 3" pitchFamily="34" charset="0"/>
                <a:ea typeface="Source Sans 3" pitchFamily="34" charset="-122"/>
                <a:cs typeface="Source Sans 3" pitchFamily="34" charset="-120"/>
              </a:rPr>
              <a:t>Site-to-Site IPSEC VPN</a:t>
            </a:r>
            <a:endParaRPr lang="en-US" sz="900" dirty="0"/>
          </a:p>
        </p:txBody>
      </p:sp>
      <p:sp>
        <p:nvSpPr>
          <p:cNvPr id="57" name="Shape 48"/>
          <p:cNvSpPr/>
          <p:nvPr/>
        </p:nvSpPr>
        <p:spPr>
          <a:xfrm>
            <a:off x="5953125" y="2686050"/>
            <a:ext cx="476250" cy="476250"/>
          </a:xfrm>
          <a:prstGeom prst="roundRect">
            <a:avLst>
              <a:gd name="adj" fmla="val 18000"/>
            </a:avLst>
          </a:prstGeom>
          <a:solidFill>
            <a:srgbClr val="8C4FFF"/>
          </a:solidFill>
          <a:ln/>
          <a:effectLst>
            <a:outerShdw sx="100000" sy="100000" kx="0" ky="0" algn="bl" rotWithShape="0" blurRad="19050" dist="9525" dir="5400000">
              <a:srgbClr val="000000">
                <a:alpha val="20000"/>
              </a:srgbClr>
            </a:outerShdw>
          </a:effectLst>
        </p:spPr>
      </p:sp>
      <p:pic>
        <p:nvPicPr>
          <p:cNvPr id="58"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048375" y="2781300"/>
            <a:ext cx="285750" cy="285750"/>
          </a:xfrm>
          <a:prstGeom prst="rect">
            <a:avLst/>
          </a:prstGeom>
        </p:spPr>
      </p:pic>
      <p:sp>
        <p:nvSpPr>
          <p:cNvPr id="59" name="Text 49"/>
          <p:cNvSpPr/>
          <p:nvPr/>
        </p:nvSpPr>
        <p:spPr>
          <a:xfrm>
            <a:off x="5797600" y="3209925"/>
            <a:ext cx="787301" cy="289322"/>
          </a:xfrm>
          <a:prstGeom prst="rect">
            <a:avLst/>
          </a:prstGeom>
          <a:noFill/>
          <a:ln/>
        </p:spPr>
        <p:txBody>
          <a:bodyPr wrap="square" lIns="25400" tIns="25400" rIns="25400" bIns="25400" rtlCol="0" anchor="t">
            <a:normAutofit/>
          </a:bodyPr>
          <a:lstStyle/>
          <a:p>
            <a:pPr algn="ctr" indent="0" marL="0">
              <a:lnSpc>
                <a:spcPct val="110000"/>
              </a:lnSpc>
              <a:buNone/>
            </a:pPr>
            <a:r>
              <a:rPr lang="en-US" sz="900" b="1" dirty="0">
                <a:solidFill>
                  <a:srgbClr val="374151"/>
                </a:solidFill>
                <a:latin typeface="Source Sans 3" pitchFamily="34" charset="0"/>
                <a:ea typeface="Source Sans 3" pitchFamily="34" charset="-122"/>
                <a:cs typeface="Source Sans 3" pitchFamily="34" charset="-120"/>
              </a:rPr>
              <a:t>Application Load Balancer</a:t>
            </a:r>
            <a:endParaRPr lang="en-US" sz="900" dirty="0"/>
          </a:p>
        </p:txBody>
      </p:sp>
      <p:sp>
        <p:nvSpPr>
          <p:cNvPr id="60" name="Shape 50"/>
          <p:cNvSpPr/>
          <p:nvPr/>
        </p:nvSpPr>
        <p:spPr>
          <a:xfrm>
            <a:off x="4991100" y="4476750"/>
            <a:ext cx="3429000" cy="4305300"/>
          </a:xfrm>
          <a:prstGeom prst="roundRect">
            <a:avLst>
              <a:gd name="adj" fmla="val 1667"/>
            </a:avLst>
          </a:prstGeom>
          <a:solidFill>
            <a:srgbClr val="CFE0F2"/>
          </a:solidFill>
          <a:ln w="9525">
            <a:solidFill>
              <a:srgbClr val="9DBCE0"/>
            </a:solidFill>
            <a:prstDash val="solid"/>
          </a:ln>
        </p:spPr>
      </p:sp>
      <p:sp>
        <p:nvSpPr>
          <p:cNvPr id="61" name="Shape 51"/>
          <p:cNvSpPr/>
          <p:nvPr/>
        </p:nvSpPr>
        <p:spPr>
          <a:xfrm>
            <a:off x="5153025" y="4619625"/>
            <a:ext cx="476250" cy="476250"/>
          </a:xfrm>
          <a:prstGeom prst="roundRect">
            <a:avLst>
              <a:gd name="adj" fmla="val 18000"/>
            </a:avLst>
          </a:prstGeom>
          <a:solidFill>
            <a:srgbClr val="ED7100"/>
          </a:solidFill>
          <a:ln/>
          <a:effectLst>
            <a:outerShdw sx="100000" sy="100000" kx="0" ky="0" algn="bl" rotWithShape="0" blurRad="19050" dist="9525" dir="5400000">
              <a:srgbClr val="000000">
                <a:alpha val="20000"/>
              </a:srgbClr>
            </a:outerShdw>
          </a:effectLst>
        </p:spPr>
      </p:sp>
      <p:pic>
        <p:nvPicPr>
          <p:cNvPr id="62"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248275" y="4714875"/>
            <a:ext cx="285750" cy="285750"/>
          </a:xfrm>
          <a:prstGeom prst="rect">
            <a:avLst/>
          </a:prstGeom>
        </p:spPr>
      </p:pic>
      <p:sp>
        <p:nvSpPr>
          <p:cNvPr id="63" name="Text 52"/>
          <p:cNvSpPr/>
          <p:nvPr/>
        </p:nvSpPr>
        <p:spPr>
          <a:xfrm>
            <a:off x="5743575" y="4682282"/>
            <a:ext cx="2107615" cy="208062"/>
          </a:xfrm>
          <a:prstGeom prst="rect">
            <a:avLst/>
          </a:prstGeom>
          <a:noFill/>
          <a:ln/>
        </p:spPr>
        <p:txBody>
          <a:bodyPr wrap="square" lIns="25400" tIns="25400" rIns="25400" bIns="25400" rtlCol="0" anchor="t">
            <a:normAutofit/>
          </a:bodyPr>
          <a:lstStyle/>
          <a:p>
            <a:pPr algn="l" indent="0" marL="0">
              <a:lnSpc>
                <a:spcPct val="105000"/>
              </a:lnSpc>
              <a:buNone/>
            </a:pPr>
            <a:r>
              <a:rPr lang="en-US" sz="1275" b="1" dirty="0">
                <a:solidFill>
                  <a:srgbClr val="1D2A3A"/>
                </a:solidFill>
                <a:latin typeface="Source Sans 3" pitchFamily="34" charset="0"/>
                <a:ea typeface="Source Sans 3" pitchFamily="34" charset="-122"/>
                <a:cs typeface="Source Sans 3" pitchFamily="34" charset="-120"/>
              </a:rPr>
              <a:t>SPARTA Application Server</a:t>
            </a:r>
            <a:endParaRPr lang="en-US" sz="1275" dirty="0"/>
          </a:p>
        </p:txBody>
      </p:sp>
      <p:sp>
        <p:nvSpPr>
          <p:cNvPr id="64" name="Text 53"/>
          <p:cNvSpPr/>
          <p:nvPr/>
        </p:nvSpPr>
        <p:spPr>
          <a:xfrm>
            <a:off x="5743575" y="4852243"/>
            <a:ext cx="2107615" cy="219075"/>
          </a:xfrm>
          <a:prstGeom prst="rect">
            <a:avLst/>
          </a:prstGeom>
          <a:noFill/>
          <a:ln/>
        </p:spPr>
        <p:txBody>
          <a:bodyPr wrap="square" lIns="25400" tIns="25400" rIns="25400" bIns="25400" rtlCol="0" anchor="t">
            <a:normAutofit/>
          </a:bodyPr>
          <a:lstStyle/>
          <a:p>
            <a:pPr algn="l" indent="0" marL="0">
              <a:buNone/>
            </a:pPr>
            <a:r>
              <a:rPr lang="en-US" sz="1013" b="1" dirty="0">
                <a:solidFill>
                  <a:srgbClr val="4B6280"/>
                </a:solidFill>
                <a:latin typeface="Source Sans 3" pitchFamily="34" charset="0"/>
                <a:ea typeface="Source Sans 3" pitchFamily="34" charset="-122"/>
                <a:cs typeface="Source Sans 3" pitchFamily="34" charset="-120"/>
              </a:rPr>
              <a:t>Windows Server EC2 · single host</a:t>
            </a:r>
            <a:endParaRPr lang="en-US" sz="1013" dirty="0"/>
          </a:p>
        </p:txBody>
      </p:sp>
      <p:sp>
        <p:nvSpPr>
          <p:cNvPr id="65" name="Shape 54"/>
          <p:cNvSpPr/>
          <p:nvPr/>
        </p:nvSpPr>
        <p:spPr>
          <a:xfrm>
            <a:off x="5153025" y="5219700"/>
            <a:ext cx="3105150" cy="9525"/>
          </a:xfrm>
          <a:prstGeom prst="rect">
            <a:avLst/>
          </a:prstGeom>
          <a:solidFill>
            <a:srgbClr val="A9C4E4"/>
          </a:solidFill>
          <a:ln/>
        </p:spPr>
      </p:sp>
      <p:sp>
        <p:nvSpPr>
          <p:cNvPr id="66" name="Text 55"/>
          <p:cNvSpPr/>
          <p:nvPr/>
        </p:nvSpPr>
        <p:spPr>
          <a:xfrm>
            <a:off x="5153025" y="5334000"/>
            <a:ext cx="3415665" cy="200025"/>
          </a:xfrm>
          <a:prstGeom prst="rect">
            <a:avLst/>
          </a:prstGeom>
          <a:noFill/>
          <a:ln/>
        </p:spPr>
        <p:txBody>
          <a:bodyPr wrap="square" lIns="25400" tIns="25400" rIns="25400" bIns="25400" rtlCol="0" anchor="t">
            <a:normAutofit/>
          </a:bodyPr>
          <a:lstStyle/>
          <a:p>
            <a:pPr algn="l" indent="0" marL="0">
              <a:buNone/>
            </a:pPr>
            <a:r>
              <a:rPr lang="en-US" sz="900" b="1" spc="30" kern="0" dirty="0">
                <a:solidFill>
                  <a:srgbClr val="5A6F8C"/>
                </a:solidFill>
                <a:latin typeface="Source Sans 3" pitchFamily="34" charset="0"/>
                <a:ea typeface="Source Sans 3" pitchFamily="34" charset="-122"/>
                <a:cs typeface="Source Sans 3" pitchFamily="34" charset="-120"/>
              </a:rPr>
              <a:t>HOSTED ON THIS INSTANCE</a:t>
            </a:r>
            <a:endParaRPr lang="en-US" sz="900" dirty="0"/>
          </a:p>
        </p:txBody>
      </p:sp>
      <p:sp>
        <p:nvSpPr>
          <p:cNvPr id="67" name="Shape 56"/>
          <p:cNvSpPr/>
          <p:nvPr/>
        </p:nvSpPr>
        <p:spPr>
          <a:xfrm>
            <a:off x="5153025" y="5581650"/>
            <a:ext cx="1504950" cy="323850"/>
          </a:xfrm>
          <a:prstGeom prst="roundRect">
            <a:avLst>
              <a:gd name="adj" fmla="val 14706"/>
            </a:avLst>
          </a:prstGeom>
          <a:solidFill>
            <a:srgbClr val="FFFFFF"/>
          </a:solidFill>
          <a:ln w="9525">
            <a:solidFill>
              <a:srgbClr val="C2D4EA"/>
            </a:solidFill>
            <a:prstDash val="solid"/>
          </a:ln>
        </p:spPr>
      </p:sp>
      <p:sp>
        <p:nvSpPr>
          <p:cNvPr id="68" name="Shape 57"/>
          <p:cNvSpPr/>
          <p:nvPr/>
        </p:nvSpPr>
        <p:spPr>
          <a:xfrm>
            <a:off x="5248275" y="5700713"/>
            <a:ext cx="85725" cy="85725"/>
          </a:xfrm>
          <a:prstGeom prst="roundRect">
            <a:avLst>
              <a:gd name="adj" fmla="val 22222"/>
            </a:avLst>
          </a:prstGeom>
          <a:solidFill>
            <a:srgbClr val="ED7100"/>
          </a:solidFill>
          <a:ln/>
        </p:spPr>
      </p:sp>
      <p:sp>
        <p:nvSpPr>
          <p:cNvPr id="69" name="Text 58"/>
          <p:cNvSpPr/>
          <p:nvPr/>
        </p:nvSpPr>
        <p:spPr>
          <a:xfrm>
            <a:off x="5400675" y="5657850"/>
            <a:ext cx="886569"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2C3A4B"/>
                </a:solidFill>
                <a:latin typeface="Source Sans 3" pitchFamily="34" charset="0"/>
                <a:ea typeface="Source Sans 3" pitchFamily="34" charset="-122"/>
                <a:cs typeface="Source Sans 3" pitchFamily="34" charset="-120"/>
              </a:rPr>
              <a:t>React Frontend</a:t>
            </a:r>
            <a:endParaRPr lang="en-US" sz="975" dirty="0"/>
          </a:p>
        </p:txBody>
      </p:sp>
      <p:sp>
        <p:nvSpPr>
          <p:cNvPr id="70" name="Shape 59"/>
          <p:cNvSpPr/>
          <p:nvPr/>
        </p:nvSpPr>
        <p:spPr>
          <a:xfrm>
            <a:off x="6753225" y="5581650"/>
            <a:ext cx="1504950" cy="323850"/>
          </a:xfrm>
          <a:prstGeom prst="roundRect">
            <a:avLst>
              <a:gd name="adj" fmla="val 14706"/>
            </a:avLst>
          </a:prstGeom>
          <a:solidFill>
            <a:srgbClr val="FFFFFF"/>
          </a:solidFill>
          <a:ln w="9525">
            <a:solidFill>
              <a:srgbClr val="C2D4EA"/>
            </a:solidFill>
            <a:prstDash val="solid"/>
          </a:ln>
        </p:spPr>
      </p:sp>
      <p:sp>
        <p:nvSpPr>
          <p:cNvPr id="71" name="Shape 60"/>
          <p:cNvSpPr/>
          <p:nvPr/>
        </p:nvSpPr>
        <p:spPr>
          <a:xfrm>
            <a:off x="6848475" y="5700713"/>
            <a:ext cx="85725" cy="85725"/>
          </a:xfrm>
          <a:prstGeom prst="roundRect">
            <a:avLst>
              <a:gd name="adj" fmla="val 22222"/>
            </a:avLst>
          </a:prstGeom>
          <a:solidFill>
            <a:srgbClr val="ED7100"/>
          </a:solidFill>
          <a:ln/>
        </p:spPr>
      </p:sp>
      <p:sp>
        <p:nvSpPr>
          <p:cNvPr id="72" name="Text 61"/>
          <p:cNvSpPr/>
          <p:nvPr/>
        </p:nvSpPr>
        <p:spPr>
          <a:xfrm>
            <a:off x="7000875" y="5657850"/>
            <a:ext cx="887016"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2C3A4B"/>
                </a:solidFill>
                <a:latin typeface="Source Sans 3" pitchFamily="34" charset="0"/>
                <a:ea typeface="Source Sans 3" pitchFamily="34" charset="-122"/>
                <a:cs typeface="Source Sans 3" pitchFamily="34" charset="-120"/>
              </a:rPr>
              <a:t>App &amp; REST API</a:t>
            </a:r>
            <a:endParaRPr lang="en-US" sz="975" dirty="0"/>
          </a:p>
        </p:txBody>
      </p:sp>
      <p:sp>
        <p:nvSpPr>
          <p:cNvPr id="73" name="Shape 62"/>
          <p:cNvSpPr/>
          <p:nvPr/>
        </p:nvSpPr>
        <p:spPr>
          <a:xfrm>
            <a:off x="5153025" y="5991225"/>
            <a:ext cx="1504950" cy="323850"/>
          </a:xfrm>
          <a:prstGeom prst="roundRect">
            <a:avLst>
              <a:gd name="adj" fmla="val 14706"/>
            </a:avLst>
          </a:prstGeom>
          <a:solidFill>
            <a:srgbClr val="FFFFFF"/>
          </a:solidFill>
          <a:ln w="9525">
            <a:solidFill>
              <a:srgbClr val="C2D4EA"/>
            </a:solidFill>
            <a:prstDash val="solid"/>
          </a:ln>
        </p:spPr>
      </p:sp>
      <p:sp>
        <p:nvSpPr>
          <p:cNvPr id="74" name="Shape 63"/>
          <p:cNvSpPr/>
          <p:nvPr/>
        </p:nvSpPr>
        <p:spPr>
          <a:xfrm>
            <a:off x="5248275" y="6110288"/>
            <a:ext cx="85725" cy="85725"/>
          </a:xfrm>
          <a:prstGeom prst="roundRect">
            <a:avLst>
              <a:gd name="adj" fmla="val 22222"/>
            </a:avLst>
          </a:prstGeom>
          <a:solidFill>
            <a:srgbClr val="ED7100"/>
          </a:solidFill>
          <a:ln/>
        </p:spPr>
      </p:sp>
      <p:sp>
        <p:nvSpPr>
          <p:cNvPr id="75" name="Text 64"/>
          <p:cNvSpPr/>
          <p:nvPr/>
        </p:nvSpPr>
        <p:spPr>
          <a:xfrm>
            <a:off x="5400675" y="6067425"/>
            <a:ext cx="1070670"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2C3A4B"/>
                </a:solidFill>
                <a:latin typeface="Source Sans 3" pitchFamily="34" charset="0"/>
                <a:ea typeface="Source Sans 3" pitchFamily="34" charset="-122"/>
                <a:cs typeface="Source Sans 3" pitchFamily="34" charset="-120"/>
              </a:rPr>
              <a:t>Calculation Engine</a:t>
            </a:r>
            <a:endParaRPr lang="en-US" sz="975" dirty="0"/>
          </a:p>
        </p:txBody>
      </p:sp>
      <p:sp>
        <p:nvSpPr>
          <p:cNvPr id="76" name="Shape 65"/>
          <p:cNvSpPr/>
          <p:nvPr/>
        </p:nvSpPr>
        <p:spPr>
          <a:xfrm>
            <a:off x="6753225" y="5991225"/>
            <a:ext cx="1504950" cy="323850"/>
          </a:xfrm>
          <a:prstGeom prst="roundRect">
            <a:avLst>
              <a:gd name="adj" fmla="val 14706"/>
            </a:avLst>
          </a:prstGeom>
          <a:solidFill>
            <a:srgbClr val="FFFFFF"/>
          </a:solidFill>
          <a:ln w="9525">
            <a:solidFill>
              <a:srgbClr val="C2D4EA"/>
            </a:solidFill>
            <a:prstDash val="solid"/>
          </a:ln>
        </p:spPr>
      </p:sp>
      <p:sp>
        <p:nvSpPr>
          <p:cNvPr id="77" name="Shape 66"/>
          <p:cNvSpPr/>
          <p:nvPr/>
        </p:nvSpPr>
        <p:spPr>
          <a:xfrm>
            <a:off x="6848475" y="6110288"/>
            <a:ext cx="85725" cy="85725"/>
          </a:xfrm>
          <a:prstGeom prst="roundRect">
            <a:avLst>
              <a:gd name="adj" fmla="val 22222"/>
            </a:avLst>
          </a:prstGeom>
          <a:solidFill>
            <a:srgbClr val="ED7100"/>
          </a:solidFill>
          <a:ln/>
        </p:spPr>
      </p:sp>
      <p:sp>
        <p:nvSpPr>
          <p:cNvPr id="78" name="Text 67"/>
          <p:cNvSpPr/>
          <p:nvPr/>
        </p:nvSpPr>
        <p:spPr>
          <a:xfrm>
            <a:off x="7000875" y="6067425"/>
            <a:ext cx="946845"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2C3A4B"/>
                </a:solidFill>
                <a:latin typeface="Source Sans 3" pitchFamily="34" charset="0"/>
                <a:ea typeface="Source Sans 3" pitchFamily="34" charset="-122"/>
                <a:cs typeface="Source Sans 3" pitchFamily="34" charset="-120"/>
              </a:rPr>
              <a:t>Actuarial Scripts</a:t>
            </a:r>
            <a:endParaRPr lang="en-US" sz="975" dirty="0"/>
          </a:p>
        </p:txBody>
      </p:sp>
      <p:sp>
        <p:nvSpPr>
          <p:cNvPr id="79" name="Shape 68"/>
          <p:cNvSpPr/>
          <p:nvPr/>
        </p:nvSpPr>
        <p:spPr>
          <a:xfrm>
            <a:off x="5153025" y="6400800"/>
            <a:ext cx="1504950" cy="323850"/>
          </a:xfrm>
          <a:prstGeom prst="roundRect">
            <a:avLst>
              <a:gd name="adj" fmla="val 14706"/>
            </a:avLst>
          </a:prstGeom>
          <a:solidFill>
            <a:srgbClr val="FFFFFF"/>
          </a:solidFill>
          <a:ln w="9525">
            <a:solidFill>
              <a:srgbClr val="C2D4EA"/>
            </a:solidFill>
            <a:prstDash val="solid"/>
          </a:ln>
        </p:spPr>
      </p:sp>
      <p:sp>
        <p:nvSpPr>
          <p:cNvPr id="80" name="Shape 69"/>
          <p:cNvSpPr/>
          <p:nvPr/>
        </p:nvSpPr>
        <p:spPr>
          <a:xfrm>
            <a:off x="5248275" y="6519863"/>
            <a:ext cx="85725" cy="85725"/>
          </a:xfrm>
          <a:prstGeom prst="roundRect">
            <a:avLst>
              <a:gd name="adj" fmla="val 22222"/>
            </a:avLst>
          </a:prstGeom>
          <a:solidFill>
            <a:srgbClr val="ED7100"/>
          </a:solidFill>
          <a:ln/>
        </p:spPr>
      </p:sp>
      <p:sp>
        <p:nvSpPr>
          <p:cNvPr id="81" name="Text 70"/>
          <p:cNvSpPr/>
          <p:nvPr/>
        </p:nvSpPr>
        <p:spPr>
          <a:xfrm>
            <a:off x="5400675" y="6477000"/>
            <a:ext cx="969466"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2C3A4B"/>
                </a:solidFill>
                <a:latin typeface="Source Sans 3" pitchFamily="34" charset="0"/>
                <a:ea typeface="Source Sans 3" pitchFamily="34" charset="-122"/>
                <a:cs typeface="Source Sans 3" pitchFamily="34" charset="-120"/>
              </a:rPr>
              <a:t>ETL &amp; Data Conv.</a:t>
            </a:r>
            <a:endParaRPr lang="en-US" sz="975" dirty="0"/>
          </a:p>
        </p:txBody>
      </p:sp>
      <p:sp>
        <p:nvSpPr>
          <p:cNvPr id="82" name="Shape 71"/>
          <p:cNvSpPr/>
          <p:nvPr/>
        </p:nvSpPr>
        <p:spPr>
          <a:xfrm>
            <a:off x="6753225" y="6400800"/>
            <a:ext cx="1504950" cy="323850"/>
          </a:xfrm>
          <a:prstGeom prst="roundRect">
            <a:avLst>
              <a:gd name="adj" fmla="val 14706"/>
            </a:avLst>
          </a:prstGeom>
          <a:solidFill>
            <a:srgbClr val="FFFFFF"/>
          </a:solidFill>
          <a:ln w="9525">
            <a:solidFill>
              <a:srgbClr val="C2D4EA"/>
            </a:solidFill>
            <a:prstDash val="solid"/>
          </a:ln>
        </p:spPr>
      </p:sp>
      <p:sp>
        <p:nvSpPr>
          <p:cNvPr id="83" name="Shape 72"/>
          <p:cNvSpPr/>
          <p:nvPr/>
        </p:nvSpPr>
        <p:spPr>
          <a:xfrm>
            <a:off x="6848475" y="6519863"/>
            <a:ext cx="85725" cy="85725"/>
          </a:xfrm>
          <a:prstGeom prst="roundRect">
            <a:avLst>
              <a:gd name="adj" fmla="val 22222"/>
            </a:avLst>
          </a:prstGeom>
          <a:solidFill>
            <a:srgbClr val="ED7100"/>
          </a:solidFill>
          <a:ln/>
        </p:spPr>
      </p:sp>
      <p:sp>
        <p:nvSpPr>
          <p:cNvPr id="84" name="Text 73"/>
          <p:cNvSpPr/>
          <p:nvPr/>
        </p:nvSpPr>
        <p:spPr>
          <a:xfrm>
            <a:off x="7000875" y="6477000"/>
            <a:ext cx="974527"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2C3A4B"/>
                </a:solidFill>
                <a:latin typeface="Source Sans 3" pitchFamily="34" charset="0"/>
                <a:ea typeface="Source Sans 3" pitchFamily="34" charset="-122"/>
                <a:cs typeface="Source Sans 3" pitchFamily="34" charset="-120"/>
              </a:rPr>
              <a:t>Comparison Tool</a:t>
            </a:r>
            <a:endParaRPr lang="en-US" sz="975" dirty="0"/>
          </a:p>
        </p:txBody>
      </p:sp>
      <p:sp>
        <p:nvSpPr>
          <p:cNvPr id="85" name="Shape 74"/>
          <p:cNvSpPr/>
          <p:nvPr/>
        </p:nvSpPr>
        <p:spPr>
          <a:xfrm>
            <a:off x="5153025" y="6829425"/>
            <a:ext cx="3105150" cy="323850"/>
          </a:xfrm>
          <a:prstGeom prst="roundRect">
            <a:avLst>
              <a:gd name="adj" fmla="val 14706"/>
            </a:avLst>
          </a:prstGeom>
          <a:solidFill>
            <a:srgbClr val="EAF1FB"/>
          </a:solidFill>
          <a:ln w="9525">
            <a:solidFill>
              <a:srgbClr val="9DBCE0"/>
            </a:solidFill>
            <a:prstDash val="dash"/>
          </a:ln>
        </p:spPr>
      </p:sp>
      <p:pic>
        <p:nvPicPr>
          <p:cNvPr id="86"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248275" y="6905625"/>
            <a:ext cx="171450" cy="171450"/>
          </a:xfrm>
          <a:prstGeom prst="rect">
            <a:avLst/>
          </a:prstGeom>
        </p:spPr>
      </p:pic>
      <p:sp>
        <p:nvSpPr>
          <p:cNvPr id="87" name="Text 75"/>
          <p:cNvSpPr/>
          <p:nvPr/>
        </p:nvSpPr>
        <p:spPr>
          <a:xfrm>
            <a:off x="5486400" y="6905625"/>
            <a:ext cx="2197328" cy="209550"/>
          </a:xfrm>
          <a:prstGeom prst="rect">
            <a:avLst/>
          </a:prstGeom>
          <a:noFill/>
          <a:ln/>
        </p:spPr>
        <p:txBody>
          <a:bodyPr wrap="square" lIns="25400" tIns="25400" rIns="25400" bIns="25400" rtlCol="0" anchor="t">
            <a:normAutofit/>
          </a:bodyPr>
          <a:lstStyle/>
          <a:p>
            <a:pPr algn="l" indent="0" marL="0">
              <a:buNone/>
            </a:pPr>
            <a:r>
              <a:rPr lang="en-US" sz="938" b="1" dirty="0">
                <a:solidFill>
                  <a:srgbClr val="4B6280"/>
                </a:solidFill>
                <a:latin typeface="Source Sans 3" pitchFamily="34" charset="0"/>
                <a:ea typeface="Source Sans 3" pitchFamily="34" charset="-122"/>
                <a:cs typeface="Source Sans 3" pitchFamily="34" charset="-120"/>
              </a:rPr>
              <a:t>Encrypted EBS volume · AES-256 at rest</a:t>
            </a:r>
            <a:endParaRPr lang="en-US" sz="938" dirty="0"/>
          </a:p>
        </p:txBody>
      </p:sp>
      <p:sp>
        <p:nvSpPr>
          <p:cNvPr id="88" name="Shape 76"/>
          <p:cNvSpPr/>
          <p:nvPr/>
        </p:nvSpPr>
        <p:spPr>
          <a:xfrm>
            <a:off x="9810750" y="4476750"/>
            <a:ext cx="2590800" cy="1714500"/>
          </a:xfrm>
          <a:prstGeom prst="roundRect">
            <a:avLst>
              <a:gd name="adj" fmla="val 3333"/>
            </a:avLst>
          </a:prstGeom>
          <a:solidFill>
            <a:srgbClr val="CFE0F2"/>
          </a:solidFill>
          <a:ln w="9525">
            <a:solidFill>
              <a:srgbClr val="9DBCE0"/>
            </a:solidFill>
            <a:prstDash val="solid"/>
          </a:ln>
        </p:spPr>
      </p:sp>
      <p:sp>
        <p:nvSpPr>
          <p:cNvPr id="89" name="Text 77"/>
          <p:cNvSpPr/>
          <p:nvPr/>
        </p:nvSpPr>
        <p:spPr>
          <a:xfrm>
            <a:off x="9953625" y="4600575"/>
            <a:ext cx="2535555" cy="209550"/>
          </a:xfrm>
          <a:prstGeom prst="rect">
            <a:avLst/>
          </a:prstGeom>
          <a:noFill/>
          <a:ln/>
        </p:spPr>
        <p:txBody>
          <a:bodyPr wrap="square" lIns="25400" tIns="25400" rIns="25400" bIns="25400" rtlCol="0" anchor="t">
            <a:normAutofit/>
          </a:bodyPr>
          <a:lstStyle/>
          <a:p>
            <a:pPr algn="l" indent="0" marL="0">
              <a:buNone/>
            </a:pPr>
            <a:r>
              <a:rPr lang="en-US" sz="975" b="1" spc="30" kern="0" dirty="0">
                <a:solidFill>
                  <a:srgbClr val="5A6F8C"/>
                </a:solidFill>
                <a:latin typeface="Source Sans 3" pitchFamily="34" charset="0"/>
                <a:ea typeface="Source Sans 3" pitchFamily="34" charset="-122"/>
                <a:cs typeface="Source Sans 3" pitchFamily="34" charset="-120"/>
              </a:rPr>
              <a:t>DATA TIER</a:t>
            </a:r>
            <a:endParaRPr lang="en-US" sz="975" dirty="0"/>
          </a:p>
        </p:txBody>
      </p:sp>
      <p:sp>
        <p:nvSpPr>
          <p:cNvPr id="90" name="Shape 78"/>
          <p:cNvSpPr/>
          <p:nvPr/>
        </p:nvSpPr>
        <p:spPr>
          <a:xfrm>
            <a:off x="9953625" y="4867275"/>
            <a:ext cx="419100" cy="419100"/>
          </a:xfrm>
          <a:prstGeom prst="roundRect">
            <a:avLst>
              <a:gd name="adj" fmla="val 18182"/>
            </a:avLst>
          </a:prstGeom>
          <a:solidFill>
            <a:srgbClr val="4D72F3"/>
          </a:solidFill>
          <a:ln/>
          <a:effectLst>
            <a:outerShdw sx="100000" sy="100000" kx="0" ky="0" algn="bl" rotWithShape="0" blurRad="19050" dist="9525" dir="5400000">
              <a:srgbClr val="000000">
                <a:alpha val="20000"/>
              </a:srgbClr>
            </a:outerShdw>
          </a:effectLst>
        </p:spPr>
      </p:sp>
      <p:pic>
        <p:nvPicPr>
          <p:cNvPr id="91"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0034588" y="4948238"/>
            <a:ext cx="257175" cy="257175"/>
          </a:xfrm>
          <a:prstGeom prst="rect">
            <a:avLst/>
          </a:prstGeom>
        </p:spPr>
      </p:pic>
      <p:sp>
        <p:nvSpPr>
          <p:cNvPr id="92" name="Text 79"/>
          <p:cNvSpPr/>
          <p:nvPr/>
        </p:nvSpPr>
        <p:spPr>
          <a:xfrm>
            <a:off x="10477500" y="4891088"/>
            <a:ext cx="1495991" cy="238125"/>
          </a:xfrm>
          <a:prstGeom prst="rect">
            <a:avLst/>
          </a:prstGeom>
          <a:noFill/>
          <a:ln/>
        </p:spPr>
        <p:txBody>
          <a:bodyPr wrap="square" lIns="25400" tIns="25400" rIns="25400" bIns="25400" rtlCol="0" anchor="t">
            <a:normAutofit/>
          </a:bodyPr>
          <a:lstStyle/>
          <a:p>
            <a:pPr algn="l" indent="0" marL="0">
              <a:buNone/>
            </a:pPr>
            <a:r>
              <a:rPr lang="en-US" sz="1088" b="1" dirty="0">
                <a:solidFill>
                  <a:srgbClr val="1D2A3A"/>
                </a:solidFill>
                <a:latin typeface="Source Sans 3" pitchFamily="34" charset="0"/>
                <a:ea typeface="Source Sans 3" pitchFamily="34" charset="-122"/>
                <a:cs typeface="Source Sans 3" pitchFamily="34" charset="-120"/>
              </a:rPr>
              <a:t>Amazon RDS (MySQL)</a:t>
            </a:r>
            <a:endParaRPr lang="en-US" sz="1088" dirty="0"/>
          </a:p>
        </p:txBody>
      </p:sp>
      <p:sp>
        <p:nvSpPr>
          <p:cNvPr id="93" name="Text 80"/>
          <p:cNvSpPr/>
          <p:nvPr/>
        </p:nvSpPr>
        <p:spPr>
          <a:xfrm>
            <a:off x="10477500" y="5091113"/>
            <a:ext cx="1495991" cy="209550"/>
          </a:xfrm>
          <a:prstGeom prst="rect">
            <a:avLst/>
          </a:prstGeom>
          <a:noFill/>
          <a:ln/>
        </p:spPr>
        <p:txBody>
          <a:bodyPr wrap="square" lIns="25400" tIns="25400" rIns="25400" bIns="25400" rtlCol="0" anchor="t">
            <a:normAutofit/>
          </a:bodyPr>
          <a:lstStyle/>
          <a:p>
            <a:pPr algn="l" indent="0" marL="0">
              <a:buNone/>
            </a:pPr>
            <a:r>
              <a:rPr lang="en-US" sz="938" dirty="0">
                <a:solidFill>
                  <a:srgbClr val="5A6F8C"/>
                </a:solidFill>
                <a:latin typeface="Source Sans 3" pitchFamily="34" charset="0"/>
                <a:ea typeface="Source Sans 3" pitchFamily="34" charset="-122"/>
                <a:cs typeface="Source Sans 3" pitchFamily="34" charset="-120"/>
              </a:rPr>
              <a:t>Structured data · encrypted</a:t>
            </a:r>
            <a:endParaRPr lang="en-US" sz="938" dirty="0"/>
          </a:p>
        </p:txBody>
      </p:sp>
      <p:sp>
        <p:nvSpPr>
          <p:cNvPr id="94" name="Shape 81"/>
          <p:cNvSpPr/>
          <p:nvPr/>
        </p:nvSpPr>
        <p:spPr>
          <a:xfrm>
            <a:off x="9953625" y="5391150"/>
            <a:ext cx="419100" cy="419100"/>
          </a:xfrm>
          <a:prstGeom prst="roundRect">
            <a:avLst>
              <a:gd name="adj" fmla="val 18182"/>
            </a:avLst>
          </a:prstGeom>
          <a:solidFill>
            <a:srgbClr val="3F8624"/>
          </a:solidFill>
          <a:ln/>
          <a:effectLst>
            <a:outerShdw sx="100000" sy="100000" kx="0" ky="0" algn="bl" rotWithShape="0" blurRad="19050" dist="9525" dir="5400000">
              <a:srgbClr val="000000">
                <a:alpha val="20000"/>
              </a:srgbClr>
            </a:outerShdw>
          </a:effectLst>
        </p:spPr>
      </p:sp>
      <p:pic>
        <p:nvPicPr>
          <p:cNvPr id="95" name="Image 11" descr="preencoded.pn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0034588" y="5472113"/>
            <a:ext cx="257175" cy="257175"/>
          </a:xfrm>
          <a:prstGeom prst="rect">
            <a:avLst/>
          </a:prstGeom>
        </p:spPr>
      </p:pic>
      <p:sp>
        <p:nvSpPr>
          <p:cNvPr id="96" name="Text 82"/>
          <p:cNvSpPr/>
          <p:nvPr/>
        </p:nvSpPr>
        <p:spPr>
          <a:xfrm>
            <a:off x="10477500" y="5414963"/>
            <a:ext cx="1747123" cy="238125"/>
          </a:xfrm>
          <a:prstGeom prst="rect">
            <a:avLst/>
          </a:prstGeom>
          <a:noFill/>
          <a:ln/>
        </p:spPr>
        <p:txBody>
          <a:bodyPr wrap="square" lIns="25400" tIns="25400" rIns="25400" bIns="25400" rtlCol="0" anchor="t">
            <a:normAutofit/>
          </a:bodyPr>
          <a:lstStyle/>
          <a:p>
            <a:pPr algn="l" indent="0" marL="0">
              <a:buNone/>
            </a:pPr>
            <a:r>
              <a:rPr lang="en-US" sz="1088" b="1" dirty="0">
                <a:solidFill>
                  <a:srgbClr val="1D2A3A"/>
                </a:solidFill>
                <a:latin typeface="Source Sans 3" pitchFamily="34" charset="0"/>
                <a:ea typeface="Source Sans 3" pitchFamily="34" charset="-122"/>
                <a:cs typeface="Source Sans 3" pitchFamily="34" charset="-120"/>
              </a:rPr>
              <a:t>Amazon S3</a:t>
            </a:r>
            <a:endParaRPr lang="en-US" sz="1088" dirty="0"/>
          </a:p>
        </p:txBody>
      </p:sp>
      <p:sp>
        <p:nvSpPr>
          <p:cNvPr id="97" name="Text 83"/>
          <p:cNvSpPr/>
          <p:nvPr/>
        </p:nvSpPr>
        <p:spPr>
          <a:xfrm>
            <a:off x="10477500" y="5614988"/>
            <a:ext cx="1747123" cy="209550"/>
          </a:xfrm>
          <a:prstGeom prst="rect">
            <a:avLst/>
          </a:prstGeom>
          <a:noFill/>
          <a:ln/>
        </p:spPr>
        <p:txBody>
          <a:bodyPr wrap="square" lIns="25400" tIns="25400" rIns="25400" bIns="25400" rtlCol="0" anchor="t">
            <a:normAutofit/>
          </a:bodyPr>
          <a:lstStyle/>
          <a:p>
            <a:pPr algn="l" indent="0" marL="0">
              <a:buNone/>
            </a:pPr>
            <a:r>
              <a:rPr lang="en-US" sz="938" dirty="0">
                <a:solidFill>
                  <a:srgbClr val="5A6F8C"/>
                </a:solidFill>
                <a:latin typeface="Source Sans 3" pitchFamily="34" charset="0"/>
                <a:ea typeface="Source Sans 3" pitchFamily="34" charset="-122"/>
                <a:cs typeface="Source Sans 3" pitchFamily="34" charset="-120"/>
              </a:rPr>
              <a:t>Data files · assumptions · output</a:t>
            </a:r>
            <a:endParaRPr lang="en-US" sz="938" dirty="0"/>
          </a:p>
        </p:txBody>
      </p:sp>
      <p:sp>
        <p:nvSpPr>
          <p:cNvPr id="98" name="Shape 84"/>
          <p:cNvSpPr/>
          <p:nvPr/>
        </p:nvSpPr>
        <p:spPr>
          <a:xfrm>
            <a:off x="9810750" y="6572250"/>
            <a:ext cx="2590800" cy="2209800"/>
          </a:xfrm>
          <a:prstGeom prst="roundRect">
            <a:avLst>
              <a:gd name="adj" fmla="val 2586"/>
            </a:avLst>
          </a:prstGeom>
          <a:solidFill>
            <a:srgbClr val="CFE0F2"/>
          </a:solidFill>
          <a:ln w="9525">
            <a:solidFill>
              <a:srgbClr val="9DBCE0"/>
            </a:solidFill>
            <a:prstDash val="solid"/>
          </a:ln>
        </p:spPr>
      </p:sp>
      <p:sp>
        <p:nvSpPr>
          <p:cNvPr id="99" name="Text 85"/>
          <p:cNvSpPr/>
          <p:nvPr/>
        </p:nvSpPr>
        <p:spPr>
          <a:xfrm>
            <a:off x="9953625" y="6696075"/>
            <a:ext cx="2381250" cy="381000"/>
          </a:xfrm>
          <a:prstGeom prst="rect">
            <a:avLst/>
          </a:prstGeom>
          <a:noFill/>
          <a:ln/>
        </p:spPr>
        <p:txBody>
          <a:bodyPr wrap="square" lIns="25400" tIns="25400" rIns="25400" bIns="25400" rtlCol="0" anchor="t">
            <a:normAutofit/>
          </a:bodyPr>
          <a:lstStyle/>
          <a:p>
            <a:pPr algn="l" indent="0" marL="0">
              <a:buNone/>
            </a:pPr>
            <a:r>
              <a:rPr lang="en-US" sz="975" b="1" spc="30" kern="0" dirty="0">
                <a:solidFill>
                  <a:srgbClr val="5A6F8C"/>
                </a:solidFill>
                <a:latin typeface="Source Sans 3" pitchFamily="34" charset="0"/>
                <a:ea typeface="Source Sans 3" pitchFamily="34" charset="-122"/>
                <a:cs typeface="Source Sans 3" pitchFamily="34" charset="-120"/>
              </a:rPr>
              <a:t>AI &amp; MANAGED SERVICES </a:t>
            </a:r>
            <a:pPr algn="l" indent="0" marL="0">
              <a:buNone/>
            </a:pPr>
            <a:r>
              <a:rPr lang="en-US" sz="975" b="1" spc="30" kern="0" dirty="0">
                <a:solidFill>
                  <a:srgbClr val="7C8CA0"/>
                </a:solidFill>
                <a:latin typeface="Source Sans 3" pitchFamily="34" charset="0"/>
                <a:ea typeface="Source Sans 3" pitchFamily="34" charset="-122"/>
                <a:cs typeface="Source Sans 3" pitchFamily="34" charset="-120"/>
              </a:rPr>
              <a:t>· via VPC endpoints</a:t>
            </a:r>
            <a:endParaRPr lang="en-US" sz="975" dirty="0"/>
          </a:p>
        </p:txBody>
      </p:sp>
      <p:sp>
        <p:nvSpPr>
          <p:cNvPr id="100" name="Shape 86"/>
          <p:cNvSpPr/>
          <p:nvPr/>
        </p:nvSpPr>
        <p:spPr>
          <a:xfrm>
            <a:off x="9953625" y="7134225"/>
            <a:ext cx="419100" cy="419100"/>
          </a:xfrm>
          <a:prstGeom prst="roundRect">
            <a:avLst>
              <a:gd name="adj" fmla="val 18182"/>
            </a:avLst>
          </a:prstGeom>
          <a:solidFill>
            <a:srgbClr val="01A88D"/>
          </a:solidFill>
          <a:ln/>
          <a:effectLst>
            <a:outerShdw sx="100000" sy="100000" kx="0" ky="0" algn="bl" rotWithShape="0" blurRad="19050" dist="9525" dir="5400000">
              <a:srgbClr val="000000">
                <a:alpha val="20000"/>
              </a:srgbClr>
            </a:outerShdw>
          </a:effectLst>
        </p:spPr>
      </p:sp>
      <p:pic>
        <p:nvPicPr>
          <p:cNvPr id="101" name="Image 12" descr="preencoded.png">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0034588" y="7215188"/>
            <a:ext cx="257175" cy="257175"/>
          </a:xfrm>
          <a:prstGeom prst="rect">
            <a:avLst/>
          </a:prstGeom>
        </p:spPr>
      </p:pic>
      <p:sp>
        <p:nvSpPr>
          <p:cNvPr id="102" name="Text 87"/>
          <p:cNvSpPr/>
          <p:nvPr/>
        </p:nvSpPr>
        <p:spPr>
          <a:xfrm>
            <a:off x="10477500" y="7158038"/>
            <a:ext cx="1712744" cy="238125"/>
          </a:xfrm>
          <a:prstGeom prst="rect">
            <a:avLst/>
          </a:prstGeom>
          <a:noFill/>
          <a:ln/>
        </p:spPr>
        <p:txBody>
          <a:bodyPr wrap="square" lIns="25400" tIns="25400" rIns="25400" bIns="25400" rtlCol="0" anchor="t">
            <a:normAutofit/>
          </a:bodyPr>
          <a:lstStyle/>
          <a:p>
            <a:pPr algn="l" indent="0" marL="0">
              <a:buNone/>
            </a:pPr>
            <a:r>
              <a:rPr lang="en-US" sz="1088" b="1" dirty="0">
                <a:solidFill>
                  <a:srgbClr val="1D2A3A"/>
                </a:solidFill>
                <a:latin typeface="Source Sans 3" pitchFamily="34" charset="0"/>
                <a:ea typeface="Source Sans 3" pitchFamily="34" charset="-122"/>
                <a:cs typeface="Source Sans 3" pitchFamily="34" charset="-120"/>
              </a:rPr>
              <a:t>Amazon Bedrock (Nova)</a:t>
            </a:r>
            <a:endParaRPr lang="en-US" sz="1088" dirty="0"/>
          </a:p>
        </p:txBody>
      </p:sp>
      <p:sp>
        <p:nvSpPr>
          <p:cNvPr id="103" name="Text 88"/>
          <p:cNvSpPr/>
          <p:nvPr/>
        </p:nvSpPr>
        <p:spPr>
          <a:xfrm>
            <a:off x="10477500" y="7358063"/>
            <a:ext cx="1712744" cy="209550"/>
          </a:xfrm>
          <a:prstGeom prst="rect">
            <a:avLst/>
          </a:prstGeom>
          <a:noFill/>
          <a:ln/>
        </p:spPr>
        <p:txBody>
          <a:bodyPr wrap="square" lIns="25400" tIns="25400" rIns="25400" bIns="25400" rtlCol="0" anchor="t">
            <a:normAutofit/>
          </a:bodyPr>
          <a:lstStyle/>
          <a:p>
            <a:pPr algn="l" indent="0" marL="0">
              <a:buNone/>
            </a:pPr>
            <a:r>
              <a:rPr lang="en-US" sz="938" dirty="0">
                <a:solidFill>
                  <a:srgbClr val="5A6F8C"/>
                </a:solidFill>
                <a:latin typeface="Source Sans 3" pitchFamily="34" charset="0"/>
                <a:ea typeface="Source Sans 3" pitchFamily="34" charset="-122"/>
                <a:cs typeface="Source Sans 3" pitchFamily="34" charset="-120"/>
              </a:rPr>
              <a:t>GenAI — scripts, SQL, ETL assist</a:t>
            </a:r>
            <a:endParaRPr lang="en-US" sz="938" dirty="0"/>
          </a:p>
        </p:txBody>
      </p:sp>
      <p:sp>
        <p:nvSpPr>
          <p:cNvPr id="104" name="Shape 89"/>
          <p:cNvSpPr/>
          <p:nvPr/>
        </p:nvSpPr>
        <p:spPr>
          <a:xfrm>
            <a:off x="9953625" y="7648575"/>
            <a:ext cx="419100" cy="419100"/>
          </a:xfrm>
          <a:prstGeom prst="roundRect">
            <a:avLst>
              <a:gd name="adj" fmla="val 18182"/>
            </a:avLst>
          </a:prstGeom>
          <a:solidFill>
            <a:srgbClr val="DD344C"/>
          </a:solidFill>
          <a:ln/>
          <a:effectLst>
            <a:outerShdw sx="100000" sy="100000" kx="0" ky="0" algn="bl" rotWithShape="0" blurRad="19050" dist="9525" dir="5400000">
              <a:srgbClr val="000000">
                <a:alpha val="20000"/>
              </a:srgbClr>
            </a:outerShdw>
          </a:effectLst>
        </p:spPr>
      </p:sp>
      <p:pic>
        <p:nvPicPr>
          <p:cNvPr id="105" name="Image 13" descr="preencoded.png">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0034588" y="7729538"/>
            <a:ext cx="257175" cy="257175"/>
          </a:xfrm>
          <a:prstGeom prst="rect">
            <a:avLst/>
          </a:prstGeom>
        </p:spPr>
      </p:pic>
      <p:sp>
        <p:nvSpPr>
          <p:cNvPr id="106" name="Text 90"/>
          <p:cNvSpPr/>
          <p:nvPr/>
        </p:nvSpPr>
        <p:spPr>
          <a:xfrm>
            <a:off x="10477500" y="7672388"/>
            <a:ext cx="1201936" cy="238125"/>
          </a:xfrm>
          <a:prstGeom prst="rect">
            <a:avLst/>
          </a:prstGeom>
          <a:noFill/>
          <a:ln/>
        </p:spPr>
        <p:txBody>
          <a:bodyPr wrap="square" lIns="25400" tIns="25400" rIns="25400" bIns="25400" rtlCol="0" anchor="t">
            <a:normAutofit/>
          </a:bodyPr>
          <a:lstStyle/>
          <a:p>
            <a:pPr algn="l" indent="0" marL="0">
              <a:buNone/>
            </a:pPr>
            <a:r>
              <a:rPr lang="en-US" sz="1088" b="1" dirty="0">
                <a:solidFill>
                  <a:srgbClr val="1D2A3A"/>
                </a:solidFill>
                <a:latin typeface="Source Sans 3" pitchFamily="34" charset="0"/>
                <a:ea typeface="Source Sans 3" pitchFamily="34" charset="-122"/>
                <a:cs typeface="Source Sans 3" pitchFamily="34" charset="-120"/>
              </a:rPr>
              <a:t>Amazon SES</a:t>
            </a:r>
            <a:endParaRPr lang="en-US" sz="1088" dirty="0"/>
          </a:p>
        </p:txBody>
      </p:sp>
      <p:sp>
        <p:nvSpPr>
          <p:cNvPr id="107" name="Text 91"/>
          <p:cNvSpPr/>
          <p:nvPr/>
        </p:nvSpPr>
        <p:spPr>
          <a:xfrm>
            <a:off x="10477500" y="7872413"/>
            <a:ext cx="1201936" cy="209550"/>
          </a:xfrm>
          <a:prstGeom prst="rect">
            <a:avLst/>
          </a:prstGeom>
          <a:noFill/>
          <a:ln/>
        </p:spPr>
        <p:txBody>
          <a:bodyPr wrap="square" lIns="25400" tIns="25400" rIns="25400" bIns="25400" rtlCol="0" anchor="t">
            <a:normAutofit/>
          </a:bodyPr>
          <a:lstStyle/>
          <a:p>
            <a:pPr algn="l" indent="0" marL="0">
              <a:buNone/>
            </a:pPr>
            <a:r>
              <a:rPr lang="en-US" sz="938" dirty="0">
                <a:solidFill>
                  <a:srgbClr val="5A6F8C"/>
                </a:solidFill>
                <a:latin typeface="Source Sans 3" pitchFamily="34" charset="0"/>
                <a:ea typeface="Source Sans 3" pitchFamily="34" charset="-122"/>
                <a:cs typeface="Source Sans 3" pitchFamily="34" charset="-120"/>
              </a:rPr>
              <a:t>Outbound mail service</a:t>
            </a:r>
            <a:endParaRPr lang="en-US" sz="938" dirty="0"/>
          </a:p>
        </p:txBody>
      </p:sp>
      <p:sp>
        <p:nvSpPr>
          <p:cNvPr id="108" name="Shape 92"/>
          <p:cNvSpPr/>
          <p:nvPr/>
        </p:nvSpPr>
        <p:spPr>
          <a:xfrm>
            <a:off x="9953625" y="8162925"/>
            <a:ext cx="419100" cy="419100"/>
          </a:xfrm>
          <a:prstGeom prst="roundRect">
            <a:avLst>
              <a:gd name="adj" fmla="val 18182"/>
            </a:avLst>
          </a:prstGeom>
          <a:solidFill>
            <a:srgbClr val="E7157B"/>
          </a:solidFill>
          <a:ln/>
          <a:effectLst>
            <a:outerShdw sx="100000" sy="100000" kx="0" ky="0" algn="bl" rotWithShape="0" blurRad="19050" dist="9525" dir="5400000">
              <a:srgbClr val="000000">
                <a:alpha val="20000"/>
              </a:srgbClr>
            </a:outerShdw>
          </a:effectLst>
        </p:spPr>
      </p:sp>
      <p:pic>
        <p:nvPicPr>
          <p:cNvPr id="109" name="Image 14" descr="preencoded.png">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0034588" y="8243888"/>
            <a:ext cx="257175" cy="257175"/>
          </a:xfrm>
          <a:prstGeom prst="rect">
            <a:avLst/>
          </a:prstGeom>
        </p:spPr>
      </p:pic>
      <p:sp>
        <p:nvSpPr>
          <p:cNvPr id="110" name="Text 93"/>
          <p:cNvSpPr/>
          <p:nvPr/>
        </p:nvSpPr>
        <p:spPr>
          <a:xfrm>
            <a:off x="10477500" y="8186738"/>
            <a:ext cx="1369115" cy="238125"/>
          </a:xfrm>
          <a:prstGeom prst="rect">
            <a:avLst/>
          </a:prstGeom>
          <a:noFill/>
          <a:ln/>
        </p:spPr>
        <p:txBody>
          <a:bodyPr wrap="square" lIns="25400" tIns="25400" rIns="25400" bIns="25400" rtlCol="0" anchor="t">
            <a:normAutofit/>
          </a:bodyPr>
          <a:lstStyle/>
          <a:p>
            <a:pPr algn="l" indent="0" marL="0">
              <a:buNone/>
            </a:pPr>
            <a:r>
              <a:rPr lang="en-US" sz="1088" b="1" dirty="0">
                <a:solidFill>
                  <a:srgbClr val="1D2A3A"/>
                </a:solidFill>
                <a:latin typeface="Source Sans 3" pitchFamily="34" charset="0"/>
                <a:ea typeface="Source Sans 3" pitchFamily="34" charset="-122"/>
                <a:cs typeface="Source Sans 3" pitchFamily="34" charset="-120"/>
              </a:rPr>
              <a:t>Amazon CloudWatch</a:t>
            </a:r>
            <a:endParaRPr lang="en-US" sz="1088" dirty="0"/>
          </a:p>
        </p:txBody>
      </p:sp>
      <p:sp>
        <p:nvSpPr>
          <p:cNvPr id="111" name="Text 94"/>
          <p:cNvSpPr/>
          <p:nvPr/>
        </p:nvSpPr>
        <p:spPr>
          <a:xfrm>
            <a:off x="10477500" y="8386763"/>
            <a:ext cx="1369115" cy="209550"/>
          </a:xfrm>
          <a:prstGeom prst="rect">
            <a:avLst/>
          </a:prstGeom>
          <a:noFill/>
          <a:ln/>
        </p:spPr>
        <p:txBody>
          <a:bodyPr wrap="square" lIns="25400" tIns="25400" rIns="25400" bIns="25400" rtlCol="0" anchor="t">
            <a:normAutofit/>
          </a:bodyPr>
          <a:lstStyle/>
          <a:p>
            <a:pPr algn="l" indent="0" marL="0">
              <a:buNone/>
            </a:pPr>
            <a:r>
              <a:rPr lang="en-US" sz="938" dirty="0">
                <a:solidFill>
                  <a:srgbClr val="5A6F8C"/>
                </a:solidFill>
                <a:latin typeface="Source Sans 3" pitchFamily="34" charset="0"/>
                <a:ea typeface="Source Sans 3" pitchFamily="34" charset="-122"/>
                <a:cs typeface="Source Sans 3" pitchFamily="34" charset="-120"/>
              </a:rPr>
              <a:t>Logs · metrics · alarms</a:t>
            </a:r>
            <a:endParaRPr lang="en-US" sz="938" dirty="0"/>
          </a:p>
        </p:txBody>
      </p:sp>
      <p:pic>
        <p:nvPicPr>
          <p:cNvPr id="112" name="Image 15" descr="preencoded.png">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3277850" y="2481263"/>
            <a:ext cx="190500" cy="190500"/>
          </a:xfrm>
          <a:prstGeom prst="rect">
            <a:avLst/>
          </a:prstGeom>
        </p:spPr>
      </p:pic>
      <p:sp>
        <p:nvSpPr>
          <p:cNvPr id="113" name="Text 95"/>
          <p:cNvSpPr/>
          <p:nvPr/>
        </p:nvSpPr>
        <p:spPr>
          <a:xfrm>
            <a:off x="13544550" y="2476500"/>
            <a:ext cx="1768406" cy="238125"/>
          </a:xfrm>
          <a:prstGeom prst="rect">
            <a:avLst/>
          </a:prstGeom>
          <a:noFill/>
          <a:ln/>
        </p:spPr>
        <p:txBody>
          <a:bodyPr wrap="square" lIns="25400" tIns="25400" rIns="25400" bIns="25400" rtlCol="0" anchor="t">
            <a:normAutofit/>
          </a:bodyPr>
          <a:lstStyle/>
          <a:p>
            <a:pPr algn="l" indent="0" marL="0">
              <a:buNone/>
            </a:pPr>
            <a:r>
              <a:rPr lang="en-US" sz="1125" b="1" dirty="0">
                <a:solidFill>
                  <a:srgbClr val="1D2A3A"/>
                </a:solidFill>
                <a:latin typeface="Source Sans 3" pitchFamily="34" charset="0"/>
                <a:ea typeface="Source Sans 3" pitchFamily="34" charset="-122"/>
                <a:cs typeface="Source Sans 3" pitchFamily="34" charset="-120"/>
              </a:rPr>
              <a:t>Security &amp; Access Control</a:t>
            </a:r>
            <a:endParaRPr lang="en-US" sz="1125" dirty="0"/>
          </a:p>
        </p:txBody>
      </p:sp>
      <p:sp>
        <p:nvSpPr>
          <p:cNvPr id="114" name="Text 96"/>
          <p:cNvSpPr/>
          <p:nvPr/>
        </p:nvSpPr>
        <p:spPr>
          <a:xfrm>
            <a:off x="13277850" y="2714625"/>
            <a:ext cx="2409825" cy="200025"/>
          </a:xfrm>
          <a:prstGeom prst="rect">
            <a:avLst/>
          </a:prstGeom>
          <a:noFill/>
          <a:ln/>
        </p:spPr>
        <p:txBody>
          <a:bodyPr wrap="square" lIns="25400" tIns="25400" rIns="25400" bIns="25400" rtlCol="0" anchor="t">
            <a:normAutofit/>
          </a:bodyPr>
          <a:lstStyle/>
          <a:p>
            <a:pPr algn="l" indent="0" marL="0">
              <a:buNone/>
            </a:pPr>
            <a:r>
              <a:rPr lang="en-US" sz="900" dirty="0">
                <a:solidFill>
                  <a:srgbClr val="5A6F8C"/>
                </a:solidFill>
                <a:latin typeface="Source Sans 3" pitchFamily="34" charset="0"/>
                <a:ea typeface="Source Sans 3" pitchFamily="34" charset="-122"/>
                <a:cs typeface="Source Sans 3" pitchFamily="34" charset="-120"/>
              </a:rPr>
              <a:t>Applies across all components</a:t>
            </a:r>
            <a:endParaRPr lang="en-US" sz="900" dirty="0"/>
          </a:p>
        </p:txBody>
      </p:sp>
      <p:sp>
        <p:nvSpPr>
          <p:cNvPr id="115" name="Shape 97"/>
          <p:cNvSpPr/>
          <p:nvPr/>
        </p:nvSpPr>
        <p:spPr>
          <a:xfrm>
            <a:off x="13277850" y="3009900"/>
            <a:ext cx="2190750" cy="476250"/>
          </a:xfrm>
          <a:prstGeom prst="roundRect">
            <a:avLst>
              <a:gd name="adj" fmla="val 12000"/>
            </a:avLst>
          </a:prstGeom>
          <a:solidFill>
            <a:srgbClr val="FFFFFF"/>
          </a:solidFill>
          <a:ln w="9525">
            <a:solidFill>
              <a:srgbClr val="C2D4EA"/>
            </a:solidFill>
            <a:prstDash val="solid"/>
          </a:ln>
        </p:spPr>
      </p:sp>
      <p:sp>
        <p:nvSpPr>
          <p:cNvPr id="116" name="Shape 98"/>
          <p:cNvSpPr/>
          <p:nvPr/>
        </p:nvSpPr>
        <p:spPr>
          <a:xfrm>
            <a:off x="13382625" y="3086100"/>
            <a:ext cx="323850" cy="323850"/>
          </a:xfrm>
          <a:prstGeom prst="roundRect">
            <a:avLst>
              <a:gd name="adj" fmla="val 20588"/>
            </a:avLst>
          </a:prstGeom>
          <a:solidFill>
            <a:srgbClr val="DD344C"/>
          </a:solidFill>
          <a:ln/>
        </p:spPr>
      </p:sp>
      <p:pic>
        <p:nvPicPr>
          <p:cNvPr id="117" name="Image 16" descr="preencoded.png">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13444538" y="3148013"/>
            <a:ext cx="200025" cy="200025"/>
          </a:xfrm>
          <a:prstGeom prst="rect">
            <a:avLst/>
          </a:prstGeom>
        </p:spPr>
      </p:pic>
      <p:sp>
        <p:nvSpPr>
          <p:cNvPr id="118" name="Text 99"/>
          <p:cNvSpPr/>
          <p:nvPr/>
        </p:nvSpPr>
        <p:spPr>
          <a:xfrm>
            <a:off x="13801725" y="3076575"/>
            <a:ext cx="1059954" cy="219075"/>
          </a:xfrm>
          <a:prstGeom prst="rect">
            <a:avLst/>
          </a:prstGeom>
          <a:noFill/>
          <a:ln/>
        </p:spPr>
        <p:txBody>
          <a:bodyPr wrap="square" lIns="25400" tIns="25400" rIns="25400" bIns="25400" rtlCol="0" anchor="t">
            <a:normAutofit/>
          </a:bodyPr>
          <a:lstStyle/>
          <a:p>
            <a:pPr algn="l" indent="0" marL="0">
              <a:buNone/>
            </a:pPr>
            <a:r>
              <a:rPr lang="en-US" sz="1013" b="1" dirty="0">
                <a:solidFill>
                  <a:srgbClr val="2C3A4B"/>
                </a:solidFill>
                <a:latin typeface="Source Sans 3" pitchFamily="34" charset="0"/>
                <a:ea typeface="Source Sans 3" pitchFamily="34" charset="-122"/>
                <a:cs typeface="Source Sans 3" pitchFamily="34" charset="-120"/>
              </a:rPr>
              <a:t>IAM Roles</a:t>
            </a:r>
            <a:endParaRPr lang="en-US" sz="1013" dirty="0"/>
          </a:p>
        </p:txBody>
      </p:sp>
      <p:sp>
        <p:nvSpPr>
          <p:cNvPr id="119" name="Text 100"/>
          <p:cNvSpPr/>
          <p:nvPr/>
        </p:nvSpPr>
        <p:spPr>
          <a:xfrm>
            <a:off x="13801725" y="3257550"/>
            <a:ext cx="1059954" cy="200025"/>
          </a:xfrm>
          <a:prstGeom prst="rect">
            <a:avLst/>
          </a:prstGeom>
          <a:noFill/>
          <a:ln/>
        </p:spPr>
        <p:txBody>
          <a:bodyPr wrap="square" lIns="25400" tIns="25400" rIns="25400" bIns="25400" rtlCol="0" anchor="t">
            <a:normAutofit/>
          </a:bodyPr>
          <a:lstStyle/>
          <a:p>
            <a:pPr algn="l" indent="0" marL="0">
              <a:buNone/>
            </a:pPr>
            <a:r>
              <a:rPr lang="en-US" sz="863" dirty="0">
                <a:solidFill>
                  <a:srgbClr val="6B7682"/>
                </a:solidFill>
                <a:latin typeface="Source Sans 3" pitchFamily="34" charset="0"/>
                <a:ea typeface="Source Sans 3" pitchFamily="34" charset="-122"/>
                <a:cs typeface="Source Sans 3" pitchFamily="34" charset="-120"/>
              </a:rPr>
              <a:t>Least-privilege access</a:t>
            </a:r>
            <a:endParaRPr lang="en-US" sz="863" dirty="0"/>
          </a:p>
        </p:txBody>
      </p:sp>
      <p:sp>
        <p:nvSpPr>
          <p:cNvPr id="120" name="Shape 101"/>
          <p:cNvSpPr/>
          <p:nvPr/>
        </p:nvSpPr>
        <p:spPr>
          <a:xfrm>
            <a:off x="13277850" y="3562350"/>
            <a:ext cx="2190750" cy="476250"/>
          </a:xfrm>
          <a:prstGeom prst="roundRect">
            <a:avLst>
              <a:gd name="adj" fmla="val 12000"/>
            </a:avLst>
          </a:prstGeom>
          <a:solidFill>
            <a:srgbClr val="FFFFFF"/>
          </a:solidFill>
          <a:ln w="9525">
            <a:solidFill>
              <a:srgbClr val="C2D4EA"/>
            </a:solidFill>
            <a:prstDash val="solid"/>
          </a:ln>
        </p:spPr>
      </p:sp>
      <p:sp>
        <p:nvSpPr>
          <p:cNvPr id="121" name="Shape 102"/>
          <p:cNvSpPr/>
          <p:nvPr/>
        </p:nvSpPr>
        <p:spPr>
          <a:xfrm>
            <a:off x="13382625" y="3638550"/>
            <a:ext cx="323850" cy="323850"/>
          </a:xfrm>
          <a:prstGeom prst="roundRect">
            <a:avLst>
              <a:gd name="adj" fmla="val 20588"/>
            </a:avLst>
          </a:prstGeom>
          <a:solidFill>
            <a:srgbClr val="DD344C"/>
          </a:solidFill>
          <a:ln/>
        </p:spPr>
      </p:sp>
      <p:pic>
        <p:nvPicPr>
          <p:cNvPr id="122" name="Image 17" descr="preencoded.png">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13439775" y="3695700"/>
            <a:ext cx="209550" cy="209550"/>
          </a:xfrm>
          <a:prstGeom prst="rect">
            <a:avLst/>
          </a:prstGeom>
        </p:spPr>
      </p:pic>
      <p:sp>
        <p:nvSpPr>
          <p:cNvPr id="123" name="Text 103"/>
          <p:cNvSpPr/>
          <p:nvPr/>
        </p:nvSpPr>
        <p:spPr>
          <a:xfrm>
            <a:off x="13801725" y="3629025"/>
            <a:ext cx="998786" cy="219075"/>
          </a:xfrm>
          <a:prstGeom prst="rect">
            <a:avLst/>
          </a:prstGeom>
          <a:noFill/>
          <a:ln/>
        </p:spPr>
        <p:txBody>
          <a:bodyPr wrap="square" lIns="25400" tIns="25400" rIns="25400" bIns="25400" rtlCol="0" anchor="t">
            <a:normAutofit/>
          </a:bodyPr>
          <a:lstStyle/>
          <a:p>
            <a:pPr algn="l" indent="0" marL="0">
              <a:buNone/>
            </a:pPr>
            <a:r>
              <a:rPr lang="en-US" sz="1013" b="1" dirty="0">
                <a:solidFill>
                  <a:srgbClr val="2C3A4B"/>
                </a:solidFill>
                <a:latin typeface="Source Sans 3" pitchFamily="34" charset="0"/>
                <a:ea typeface="Source Sans 3" pitchFamily="34" charset="-122"/>
                <a:cs typeface="Source Sans 3" pitchFamily="34" charset="-120"/>
              </a:rPr>
              <a:t>Amazon Cognito</a:t>
            </a:r>
            <a:endParaRPr lang="en-US" sz="1013" dirty="0"/>
          </a:p>
        </p:txBody>
      </p:sp>
      <p:sp>
        <p:nvSpPr>
          <p:cNvPr id="124" name="Text 104"/>
          <p:cNvSpPr/>
          <p:nvPr/>
        </p:nvSpPr>
        <p:spPr>
          <a:xfrm>
            <a:off x="13801725" y="3810000"/>
            <a:ext cx="998786" cy="200025"/>
          </a:xfrm>
          <a:prstGeom prst="rect">
            <a:avLst/>
          </a:prstGeom>
          <a:noFill/>
          <a:ln/>
        </p:spPr>
        <p:txBody>
          <a:bodyPr wrap="square" lIns="25400" tIns="25400" rIns="25400" bIns="25400" rtlCol="0" anchor="t">
            <a:normAutofit/>
          </a:bodyPr>
          <a:lstStyle/>
          <a:p>
            <a:pPr algn="l" indent="0" marL="0">
              <a:buNone/>
            </a:pPr>
            <a:r>
              <a:rPr lang="en-US" sz="863" dirty="0">
                <a:solidFill>
                  <a:srgbClr val="6B7682"/>
                </a:solidFill>
                <a:latin typeface="Source Sans 3" pitchFamily="34" charset="0"/>
                <a:ea typeface="Source Sans 3" pitchFamily="34" charset="-122"/>
                <a:cs typeface="Source Sans 3" pitchFamily="34" charset="-120"/>
              </a:rPr>
              <a:t>AuthN / AuthZ · MFA</a:t>
            </a:r>
            <a:endParaRPr lang="en-US" sz="863" dirty="0"/>
          </a:p>
        </p:txBody>
      </p:sp>
      <p:sp>
        <p:nvSpPr>
          <p:cNvPr id="125" name="Shape 105"/>
          <p:cNvSpPr/>
          <p:nvPr/>
        </p:nvSpPr>
        <p:spPr>
          <a:xfrm>
            <a:off x="13277850" y="4114800"/>
            <a:ext cx="2190750" cy="476250"/>
          </a:xfrm>
          <a:prstGeom prst="roundRect">
            <a:avLst>
              <a:gd name="adj" fmla="val 12000"/>
            </a:avLst>
          </a:prstGeom>
          <a:solidFill>
            <a:srgbClr val="FFFFFF"/>
          </a:solidFill>
          <a:ln w="9525">
            <a:solidFill>
              <a:srgbClr val="C2D4EA"/>
            </a:solidFill>
            <a:prstDash val="solid"/>
          </a:ln>
        </p:spPr>
      </p:sp>
      <p:sp>
        <p:nvSpPr>
          <p:cNvPr id="126" name="Shape 106"/>
          <p:cNvSpPr/>
          <p:nvPr/>
        </p:nvSpPr>
        <p:spPr>
          <a:xfrm>
            <a:off x="13382625" y="4191000"/>
            <a:ext cx="323850" cy="323850"/>
          </a:xfrm>
          <a:prstGeom prst="roundRect">
            <a:avLst>
              <a:gd name="adj" fmla="val 20588"/>
            </a:avLst>
          </a:prstGeom>
          <a:solidFill>
            <a:srgbClr val="DD344C"/>
          </a:solidFill>
          <a:ln/>
        </p:spPr>
      </p:sp>
      <p:pic>
        <p:nvPicPr>
          <p:cNvPr id="127" name="Image 18" descr="preencoded.png">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13439775" y="4248150"/>
            <a:ext cx="209550" cy="209550"/>
          </a:xfrm>
          <a:prstGeom prst="rect">
            <a:avLst/>
          </a:prstGeom>
        </p:spPr>
      </p:pic>
      <p:sp>
        <p:nvSpPr>
          <p:cNvPr id="128" name="Text 107"/>
          <p:cNvSpPr/>
          <p:nvPr/>
        </p:nvSpPr>
        <p:spPr>
          <a:xfrm>
            <a:off x="13801725" y="4181475"/>
            <a:ext cx="800844" cy="219075"/>
          </a:xfrm>
          <a:prstGeom prst="rect">
            <a:avLst/>
          </a:prstGeom>
          <a:noFill/>
          <a:ln/>
        </p:spPr>
        <p:txBody>
          <a:bodyPr wrap="square" lIns="25400" tIns="25400" rIns="25400" bIns="25400" rtlCol="0" anchor="t">
            <a:normAutofit/>
          </a:bodyPr>
          <a:lstStyle/>
          <a:p>
            <a:pPr algn="l" indent="0" marL="0">
              <a:buNone/>
            </a:pPr>
            <a:r>
              <a:rPr lang="en-US" sz="1013" b="1" dirty="0">
                <a:solidFill>
                  <a:srgbClr val="2C3A4B"/>
                </a:solidFill>
                <a:latin typeface="Source Sans 3" pitchFamily="34" charset="0"/>
                <a:ea typeface="Source Sans 3" pitchFamily="34" charset="-122"/>
                <a:cs typeface="Source Sans 3" pitchFamily="34" charset="-120"/>
              </a:rPr>
              <a:t>AWS WAF</a:t>
            </a:r>
            <a:endParaRPr lang="en-US" sz="1013" dirty="0"/>
          </a:p>
        </p:txBody>
      </p:sp>
      <p:sp>
        <p:nvSpPr>
          <p:cNvPr id="129" name="Text 108"/>
          <p:cNvSpPr/>
          <p:nvPr/>
        </p:nvSpPr>
        <p:spPr>
          <a:xfrm>
            <a:off x="13801725" y="4362450"/>
            <a:ext cx="800844" cy="200025"/>
          </a:xfrm>
          <a:prstGeom prst="rect">
            <a:avLst/>
          </a:prstGeom>
          <a:noFill/>
          <a:ln/>
        </p:spPr>
        <p:txBody>
          <a:bodyPr wrap="square" lIns="25400" tIns="25400" rIns="25400" bIns="25400" rtlCol="0" anchor="t">
            <a:normAutofit/>
          </a:bodyPr>
          <a:lstStyle/>
          <a:p>
            <a:pPr algn="l" indent="0" marL="0">
              <a:buNone/>
            </a:pPr>
            <a:r>
              <a:rPr lang="en-US" sz="863" dirty="0">
                <a:solidFill>
                  <a:srgbClr val="6B7682"/>
                </a:solidFill>
                <a:latin typeface="Source Sans 3" pitchFamily="34" charset="0"/>
                <a:ea typeface="Source Sans 3" pitchFamily="34" charset="-122"/>
                <a:cs typeface="Source Sans 3" pitchFamily="34" charset="-120"/>
              </a:rPr>
              <a:t>Edge protection</a:t>
            </a:r>
            <a:endParaRPr lang="en-US" sz="863" dirty="0"/>
          </a:p>
        </p:txBody>
      </p:sp>
      <p:sp>
        <p:nvSpPr>
          <p:cNvPr id="130" name="Shape 109"/>
          <p:cNvSpPr/>
          <p:nvPr/>
        </p:nvSpPr>
        <p:spPr>
          <a:xfrm>
            <a:off x="13277850" y="4667250"/>
            <a:ext cx="2190750" cy="476250"/>
          </a:xfrm>
          <a:prstGeom prst="roundRect">
            <a:avLst>
              <a:gd name="adj" fmla="val 12000"/>
            </a:avLst>
          </a:prstGeom>
          <a:solidFill>
            <a:srgbClr val="FFFFFF"/>
          </a:solidFill>
          <a:ln w="9525">
            <a:solidFill>
              <a:srgbClr val="C2D4EA"/>
            </a:solidFill>
            <a:prstDash val="solid"/>
          </a:ln>
        </p:spPr>
      </p:sp>
      <p:sp>
        <p:nvSpPr>
          <p:cNvPr id="131" name="Shape 110"/>
          <p:cNvSpPr/>
          <p:nvPr/>
        </p:nvSpPr>
        <p:spPr>
          <a:xfrm>
            <a:off x="13382625" y="4743450"/>
            <a:ext cx="323850" cy="323850"/>
          </a:xfrm>
          <a:prstGeom prst="roundRect">
            <a:avLst>
              <a:gd name="adj" fmla="val 20588"/>
            </a:avLst>
          </a:prstGeom>
          <a:solidFill>
            <a:srgbClr val="DD344C"/>
          </a:solidFill>
          <a:ln/>
        </p:spPr>
      </p:sp>
      <p:pic>
        <p:nvPicPr>
          <p:cNvPr id="132" name="Image 19" descr="preencoded.png">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13439775" y="4800600"/>
            <a:ext cx="209550" cy="209550"/>
          </a:xfrm>
          <a:prstGeom prst="rect">
            <a:avLst/>
          </a:prstGeom>
        </p:spPr>
      </p:pic>
      <p:sp>
        <p:nvSpPr>
          <p:cNvPr id="133" name="Text 111"/>
          <p:cNvSpPr/>
          <p:nvPr/>
        </p:nvSpPr>
        <p:spPr>
          <a:xfrm>
            <a:off x="13801725" y="4733925"/>
            <a:ext cx="1231404" cy="219075"/>
          </a:xfrm>
          <a:prstGeom prst="rect">
            <a:avLst/>
          </a:prstGeom>
          <a:noFill/>
          <a:ln/>
        </p:spPr>
        <p:txBody>
          <a:bodyPr wrap="square" lIns="25400" tIns="25400" rIns="25400" bIns="25400" rtlCol="0" anchor="t">
            <a:normAutofit/>
          </a:bodyPr>
          <a:lstStyle/>
          <a:p>
            <a:pPr algn="l" indent="0" marL="0">
              <a:buNone/>
            </a:pPr>
            <a:r>
              <a:rPr lang="en-US" sz="1013" b="1" dirty="0">
                <a:solidFill>
                  <a:srgbClr val="2C3A4B"/>
                </a:solidFill>
                <a:latin typeface="Source Sans 3" pitchFamily="34" charset="0"/>
                <a:ea typeface="Source Sans 3" pitchFamily="34" charset="-122"/>
                <a:cs typeface="Source Sans 3" pitchFamily="34" charset="-120"/>
              </a:rPr>
              <a:t>VPC Security Groups</a:t>
            </a:r>
            <a:endParaRPr lang="en-US" sz="1013" dirty="0"/>
          </a:p>
        </p:txBody>
      </p:sp>
      <p:sp>
        <p:nvSpPr>
          <p:cNvPr id="134" name="Text 112"/>
          <p:cNvSpPr/>
          <p:nvPr/>
        </p:nvSpPr>
        <p:spPr>
          <a:xfrm>
            <a:off x="13801725" y="4914900"/>
            <a:ext cx="1231404" cy="200025"/>
          </a:xfrm>
          <a:prstGeom prst="rect">
            <a:avLst/>
          </a:prstGeom>
          <a:noFill/>
          <a:ln/>
        </p:spPr>
        <p:txBody>
          <a:bodyPr wrap="square" lIns="25400" tIns="25400" rIns="25400" bIns="25400" rtlCol="0" anchor="t">
            <a:normAutofit/>
          </a:bodyPr>
          <a:lstStyle/>
          <a:p>
            <a:pPr algn="l" indent="0" marL="0">
              <a:buNone/>
            </a:pPr>
            <a:r>
              <a:rPr lang="en-US" sz="863" dirty="0">
                <a:solidFill>
                  <a:srgbClr val="6B7682"/>
                </a:solidFill>
                <a:latin typeface="Source Sans 3" pitchFamily="34" charset="0"/>
                <a:ea typeface="Source Sans 3" pitchFamily="34" charset="-122"/>
                <a:cs typeface="Source Sans 3" pitchFamily="34" charset="-120"/>
              </a:rPr>
              <a:t>Network isolation</a:t>
            </a:r>
            <a:endParaRPr lang="en-US" sz="863" dirty="0"/>
          </a:p>
        </p:txBody>
      </p:sp>
      <p:sp>
        <p:nvSpPr>
          <p:cNvPr id="135" name="Shape 113"/>
          <p:cNvSpPr/>
          <p:nvPr/>
        </p:nvSpPr>
        <p:spPr>
          <a:xfrm>
            <a:off x="13277850" y="5219700"/>
            <a:ext cx="2190750" cy="476250"/>
          </a:xfrm>
          <a:prstGeom prst="roundRect">
            <a:avLst>
              <a:gd name="adj" fmla="val 12000"/>
            </a:avLst>
          </a:prstGeom>
          <a:solidFill>
            <a:srgbClr val="FFFFFF"/>
          </a:solidFill>
          <a:ln w="9525">
            <a:solidFill>
              <a:srgbClr val="C2D4EA"/>
            </a:solidFill>
            <a:prstDash val="solid"/>
          </a:ln>
        </p:spPr>
      </p:sp>
      <p:sp>
        <p:nvSpPr>
          <p:cNvPr id="136" name="Shape 114"/>
          <p:cNvSpPr/>
          <p:nvPr/>
        </p:nvSpPr>
        <p:spPr>
          <a:xfrm>
            <a:off x="13382625" y="5295900"/>
            <a:ext cx="323850" cy="323850"/>
          </a:xfrm>
          <a:prstGeom prst="roundRect">
            <a:avLst>
              <a:gd name="adj" fmla="val 20588"/>
            </a:avLst>
          </a:prstGeom>
          <a:solidFill>
            <a:srgbClr val="DD344C"/>
          </a:solidFill>
          <a:ln/>
        </p:spPr>
      </p:sp>
      <p:pic>
        <p:nvPicPr>
          <p:cNvPr id="137" name="Image 20" descr="preencoded.png">    </p:cNvPr>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13439775" y="5353050"/>
            <a:ext cx="209550" cy="209550"/>
          </a:xfrm>
          <a:prstGeom prst="rect">
            <a:avLst/>
          </a:prstGeom>
        </p:spPr>
      </p:pic>
      <p:sp>
        <p:nvSpPr>
          <p:cNvPr id="138" name="Text 115"/>
          <p:cNvSpPr/>
          <p:nvPr/>
        </p:nvSpPr>
        <p:spPr>
          <a:xfrm>
            <a:off x="13801725" y="5286375"/>
            <a:ext cx="1011585" cy="219075"/>
          </a:xfrm>
          <a:prstGeom prst="rect">
            <a:avLst/>
          </a:prstGeom>
          <a:noFill/>
          <a:ln/>
        </p:spPr>
        <p:txBody>
          <a:bodyPr wrap="square" lIns="25400" tIns="25400" rIns="25400" bIns="25400" rtlCol="0" anchor="t">
            <a:normAutofit/>
          </a:bodyPr>
          <a:lstStyle/>
          <a:p>
            <a:pPr algn="l" indent="0" marL="0">
              <a:buNone/>
            </a:pPr>
            <a:r>
              <a:rPr lang="en-US" sz="1013" b="1" dirty="0">
                <a:solidFill>
                  <a:srgbClr val="2C3A4B"/>
                </a:solidFill>
                <a:latin typeface="Source Sans 3" pitchFamily="34" charset="0"/>
                <a:ea typeface="Source Sans 3" pitchFamily="34" charset="-122"/>
                <a:cs typeface="Source Sans 3" pitchFamily="34" charset="-120"/>
              </a:rPr>
              <a:t>Secrets Manager</a:t>
            </a:r>
            <a:endParaRPr lang="en-US" sz="1013" dirty="0"/>
          </a:p>
        </p:txBody>
      </p:sp>
      <p:sp>
        <p:nvSpPr>
          <p:cNvPr id="139" name="Text 116"/>
          <p:cNvSpPr/>
          <p:nvPr/>
        </p:nvSpPr>
        <p:spPr>
          <a:xfrm>
            <a:off x="13801725" y="5467350"/>
            <a:ext cx="1011585" cy="200025"/>
          </a:xfrm>
          <a:prstGeom prst="rect">
            <a:avLst/>
          </a:prstGeom>
          <a:noFill/>
          <a:ln/>
        </p:spPr>
        <p:txBody>
          <a:bodyPr wrap="square" lIns="25400" tIns="25400" rIns="25400" bIns="25400" rtlCol="0" anchor="t">
            <a:normAutofit/>
          </a:bodyPr>
          <a:lstStyle/>
          <a:p>
            <a:pPr algn="l" indent="0" marL="0">
              <a:buNone/>
            </a:pPr>
            <a:r>
              <a:rPr lang="en-US" sz="863" dirty="0">
                <a:solidFill>
                  <a:srgbClr val="6B7682"/>
                </a:solidFill>
                <a:latin typeface="Source Sans 3" pitchFamily="34" charset="0"/>
                <a:ea typeface="Source Sans 3" pitchFamily="34" charset="-122"/>
                <a:cs typeface="Source Sans 3" pitchFamily="34" charset="-120"/>
              </a:rPr>
              <a:t>DB &amp; API credentials</a:t>
            </a:r>
            <a:endParaRPr lang="en-US" sz="863" dirty="0"/>
          </a:p>
        </p:txBody>
      </p:sp>
      <p:sp>
        <p:nvSpPr>
          <p:cNvPr id="140" name="Shape 117"/>
          <p:cNvSpPr/>
          <p:nvPr/>
        </p:nvSpPr>
        <p:spPr>
          <a:xfrm>
            <a:off x="13277850" y="5772150"/>
            <a:ext cx="2190750" cy="476250"/>
          </a:xfrm>
          <a:prstGeom prst="roundRect">
            <a:avLst>
              <a:gd name="adj" fmla="val 12000"/>
            </a:avLst>
          </a:prstGeom>
          <a:solidFill>
            <a:srgbClr val="FFFFFF"/>
          </a:solidFill>
          <a:ln w="9525">
            <a:solidFill>
              <a:srgbClr val="C2D4EA"/>
            </a:solidFill>
            <a:prstDash val="solid"/>
          </a:ln>
        </p:spPr>
      </p:sp>
      <p:sp>
        <p:nvSpPr>
          <p:cNvPr id="141" name="Shape 118"/>
          <p:cNvSpPr/>
          <p:nvPr/>
        </p:nvSpPr>
        <p:spPr>
          <a:xfrm>
            <a:off x="13382625" y="5848350"/>
            <a:ext cx="323850" cy="323850"/>
          </a:xfrm>
          <a:prstGeom prst="roundRect">
            <a:avLst>
              <a:gd name="adj" fmla="val 20588"/>
            </a:avLst>
          </a:prstGeom>
          <a:solidFill>
            <a:srgbClr val="DD344C"/>
          </a:solidFill>
          <a:ln/>
        </p:spPr>
      </p:sp>
      <p:pic>
        <p:nvPicPr>
          <p:cNvPr id="142" name="Image 21" descr="preencoded.png">    </p:cNvPr>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13439775" y="5905500"/>
            <a:ext cx="209550" cy="209550"/>
          </a:xfrm>
          <a:prstGeom prst="rect">
            <a:avLst/>
          </a:prstGeom>
        </p:spPr>
      </p:pic>
      <p:sp>
        <p:nvSpPr>
          <p:cNvPr id="143" name="Text 119"/>
          <p:cNvSpPr/>
          <p:nvPr/>
        </p:nvSpPr>
        <p:spPr>
          <a:xfrm>
            <a:off x="13801725" y="5838825"/>
            <a:ext cx="804118" cy="219075"/>
          </a:xfrm>
          <a:prstGeom prst="rect">
            <a:avLst/>
          </a:prstGeom>
          <a:noFill/>
          <a:ln/>
        </p:spPr>
        <p:txBody>
          <a:bodyPr wrap="square" lIns="25400" tIns="25400" rIns="25400" bIns="25400" rtlCol="0" anchor="t">
            <a:normAutofit/>
          </a:bodyPr>
          <a:lstStyle/>
          <a:p>
            <a:pPr algn="l" indent="0" marL="0">
              <a:buNone/>
            </a:pPr>
            <a:r>
              <a:rPr lang="en-US" sz="1013" b="1" dirty="0">
                <a:solidFill>
                  <a:srgbClr val="2C3A4B"/>
                </a:solidFill>
                <a:latin typeface="Source Sans 3" pitchFamily="34" charset="0"/>
                <a:ea typeface="Source Sans 3" pitchFamily="34" charset="-122"/>
                <a:cs typeface="Source Sans 3" pitchFamily="34" charset="-120"/>
              </a:rPr>
              <a:t>AWS KMS</a:t>
            </a:r>
            <a:endParaRPr lang="en-US" sz="1013" dirty="0"/>
          </a:p>
        </p:txBody>
      </p:sp>
      <p:sp>
        <p:nvSpPr>
          <p:cNvPr id="144" name="Text 120"/>
          <p:cNvSpPr/>
          <p:nvPr/>
        </p:nvSpPr>
        <p:spPr>
          <a:xfrm>
            <a:off x="13801725" y="6019800"/>
            <a:ext cx="804118" cy="200025"/>
          </a:xfrm>
          <a:prstGeom prst="rect">
            <a:avLst/>
          </a:prstGeom>
          <a:noFill/>
          <a:ln/>
        </p:spPr>
        <p:txBody>
          <a:bodyPr wrap="square" lIns="25400" tIns="25400" rIns="25400" bIns="25400" rtlCol="0" anchor="t">
            <a:normAutofit/>
          </a:bodyPr>
          <a:lstStyle/>
          <a:p>
            <a:pPr algn="l" indent="0" marL="0">
              <a:buNone/>
            </a:pPr>
            <a:r>
              <a:rPr lang="en-US" sz="863" dirty="0">
                <a:solidFill>
                  <a:srgbClr val="6B7682"/>
                </a:solidFill>
                <a:latin typeface="Source Sans 3" pitchFamily="34" charset="0"/>
                <a:ea typeface="Source Sans 3" pitchFamily="34" charset="-122"/>
                <a:cs typeface="Source Sans 3" pitchFamily="34" charset="-120"/>
              </a:rPr>
              <a:t>Encryption keys</a:t>
            </a:r>
            <a:endParaRPr lang="en-US" sz="863" dirty="0"/>
          </a:p>
        </p:txBody>
      </p:sp>
      <p:sp>
        <p:nvSpPr>
          <p:cNvPr id="145" name="Text 121"/>
          <p:cNvSpPr/>
          <p:nvPr/>
        </p:nvSpPr>
        <p:spPr>
          <a:xfrm>
            <a:off x="13168313" y="6343650"/>
            <a:ext cx="2409825" cy="180380"/>
          </a:xfrm>
          <a:prstGeom prst="rect">
            <a:avLst/>
          </a:prstGeom>
          <a:noFill/>
          <a:ln/>
        </p:spPr>
        <p:txBody>
          <a:bodyPr wrap="square" lIns="25400" tIns="25400" rIns="25400" bIns="25400" rtlCol="0" anchor="t">
            <a:normAutofit/>
          </a:bodyPr>
          <a:lstStyle/>
          <a:p>
            <a:pPr algn="ctr" indent="0" marL="0">
              <a:lnSpc>
                <a:spcPct val="130000"/>
              </a:lnSpc>
              <a:buNone/>
            </a:pPr>
            <a:r>
              <a:rPr lang="en-US" sz="863" b="1" dirty="0">
                <a:solidFill>
                  <a:srgbClr val="4B6280"/>
                </a:solidFill>
                <a:latin typeface="Source Sans 3" pitchFamily="34" charset="0"/>
                <a:ea typeface="Source Sans 3" pitchFamily="34" charset="-122"/>
                <a:cs typeface="Source Sans 3" pitchFamily="34" charset="-120"/>
              </a:rPr>
              <a:t>TLS 1.3 in-transit · AES-256 at-rest</a:t>
            </a:r>
            <a:endParaRPr lang="en-US" sz="863" dirty="0"/>
          </a:p>
        </p:txBody>
      </p:sp>
      <p:sp>
        <p:nvSpPr>
          <p:cNvPr id="146" name="Shape 122"/>
          <p:cNvSpPr/>
          <p:nvPr/>
        </p:nvSpPr>
        <p:spPr>
          <a:xfrm>
            <a:off x="16059150" y="2857500"/>
            <a:ext cx="1962150" cy="1428750"/>
          </a:xfrm>
          <a:prstGeom prst="roundRect">
            <a:avLst>
              <a:gd name="adj" fmla="val 4000"/>
            </a:avLst>
          </a:prstGeom>
          <a:solidFill>
            <a:srgbClr val="FCE4E2"/>
          </a:solidFill>
          <a:ln w="9525">
            <a:solidFill>
              <a:srgbClr val="C0392B"/>
            </a:solidFill>
            <a:prstDash val="solid"/>
          </a:ln>
        </p:spPr>
      </p:sp>
      <p:sp>
        <p:nvSpPr>
          <p:cNvPr id="147" name="Shape 123"/>
          <p:cNvSpPr/>
          <p:nvPr/>
        </p:nvSpPr>
        <p:spPr>
          <a:xfrm>
            <a:off x="16811625" y="3147120"/>
            <a:ext cx="457200" cy="457200"/>
          </a:xfrm>
          <a:prstGeom prst="roundRect">
            <a:avLst>
              <a:gd name="adj" fmla="val 18750"/>
            </a:avLst>
          </a:prstGeom>
          <a:solidFill>
            <a:srgbClr val="24292E"/>
          </a:solidFill>
          <a:ln/>
          <a:effectLst>
            <a:outerShdw sx="100000" sy="100000" kx="0" ky="0" algn="bl" rotWithShape="0" blurRad="19050" dist="9525" dir="5400000">
              <a:srgbClr val="000000">
                <a:alpha val="20000"/>
              </a:srgbClr>
            </a:outerShdw>
          </a:effectLst>
        </p:spPr>
      </p:sp>
      <p:pic>
        <p:nvPicPr>
          <p:cNvPr id="148" name="Image 22" descr="preencoded.png">    </p:cNvPr>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16902113" y="3237607"/>
            <a:ext cx="276225" cy="276225"/>
          </a:xfrm>
          <a:prstGeom prst="rect">
            <a:avLst/>
          </a:prstGeom>
        </p:spPr>
      </p:pic>
      <p:sp>
        <p:nvSpPr>
          <p:cNvPr id="149" name="Text 124"/>
          <p:cNvSpPr/>
          <p:nvPr/>
        </p:nvSpPr>
        <p:spPr>
          <a:xfrm>
            <a:off x="16476018" y="3690045"/>
            <a:ext cx="1128266" cy="344686"/>
          </a:xfrm>
          <a:prstGeom prst="rect">
            <a:avLst/>
          </a:prstGeom>
          <a:noFill/>
          <a:ln/>
        </p:spPr>
        <p:txBody>
          <a:bodyPr wrap="square" lIns="25400" tIns="25400" rIns="25400" bIns="25400" rtlCol="0" anchor="t">
            <a:normAutofit/>
          </a:bodyPr>
          <a:lstStyle/>
          <a:p>
            <a:pPr algn="ctr" indent="0" marL="0">
              <a:lnSpc>
                <a:spcPct val="115000"/>
              </a:lnSpc>
              <a:buNone/>
            </a:pPr>
            <a:r>
              <a:rPr lang="en-US" sz="1050" b="1" dirty="0">
                <a:solidFill>
                  <a:srgbClr val="7A2B22"/>
                </a:solidFill>
                <a:latin typeface="Source Sans 3" pitchFamily="34" charset="0"/>
                <a:ea typeface="Source Sans 3" pitchFamily="34" charset="-122"/>
                <a:cs typeface="Source Sans 3" pitchFamily="34" charset="-120"/>
              </a:rPr>
              <a:t>GitHub </a:t>
            </a:r>
            <a:pPr algn="ctr" indent="0" marL="0">
              <a:lnSpc>
                <a:spcPct val="115000"/>
              </a:lnSpc>
              <a:buNone/>
            </a:pPr>
            <a:r>
              <a:rPr lang="en-US" sz="900" dirty="0">
                <a:solidFill>
                  <a:srgbClr val="9A5048"/>
                </a:solidFill>
                <a:latin typeface="Source Sans 3" pitchFamily="34" charset="0"/>
                <a:ea typeface="Source Sans 3" pitchFamily="34" charset="-122"/>
                <a:cs typeface="Source Sans 3" pitchFamily="34" charset="-120"/>
              </a:rPr>
              <a:t>Source control · CI/CD</a:t>
            </a:r>
            <a:endParaRPr lang="en-US" sz="1050" dirty="0"/>
          </a:p>
        </p:txBody>
      </p:sp>
      <p:sp>
        <p:nvSpPr>
          <p:cNvPr id="150" name="Text 125"/>
          <p:cNvSpPr/>
          <p:nvPr/>
        </p:nvSpPr>
        <p:spPr>
          <a:xfrm>
            <a:off x="16059150" y="2495550"/>
            <a:ext cx="628948" cy="200025"/>
          </a:xfrm>
          <a:prstGeom prst="rect">
            <a:avLst/>
          </a:prstGeom>
          <a:noFill/>
          <a:ln/>
        </p:spPr>
        <p:txBody>
          <a:bodyPr wrap="square" lIns="25400" tIns="25400" rIns="25400" bIns="25400" rtlCol="0" anchor="t">
            <a:normAutofit/>
          </a:bodyPr>
          <a:lstStyle/>
          <a:p>
            <a:pPr algn="l" indent="0" marL="0">
              <a:buNone/>
            </a:pPr>
            <a:r>
              <a:rPr lang="en-US" sz="900" b="1" spc="30" kern="0" dirty="0">
                <a:solidFill>
                  <a:srgbClr val="9A5048"/>
                </a:solidFill>
                <a:latin typeface="Source Sans 3" pitchFamily="34" charset="0"/>
                <a:ea typeface="Source Sans 3" pitchFamily="34" charset="-122"/>
                <a:cs typeface="Source Sans 3" pitchFamily="34" charset="-120"/>
              </a:rPr>
              <a:t>EXTERNAL</a:t>
            </a:r>
            <a:endParaRPr lang="en-US" sz="900" dirty="0"/>
          </a:p>
        </p:txBody>
      </p:sp>
      <p:sp>
        <p:nvSpPr>
          <p:cNvPr id="151" name="Shape 126"/>
          <p:cNvSpPr/>
          <p:nvPr/>
        </p:nvSpPr>
        <p:spPr>
          <a:xfrm>
            <a:off x="14106525" y="7315200"/>
            <a:ext cx="476250" cy="476250"/>
          </a:xfrm>
          <a:prstGeom prst="roundRect">
            <a:avLst>
              <a:gd name="adj" fmla="val 18000"/>
            </a:avLst>
          </a:prstGeom>
          <a:solidFill>
            <a:srgbClr val="01A88D"/>
          </a:solidFill>
          <a:ln/>
          <a:effectLst>
            <a:outerShdw sx="100000" sy="100000" kx="0" ky="0" algn="bl" rotWithShape="0" blurRad="19050" dist="9525" dir="5400000">
              <a:srgbClr val="000000">
                <a:alpha val="20000"/>
              </a:srgbClr>
            </a:outerShdw>
          </a:effectLst>
        </p:spPr>
      </p:sp>
      <p:pic>
        <p:nvPicPr>
          <p:cNvPr id="152" name="Image 23" descr="preencoded.png">    </p:cNvPr>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14206538" y="7415213"/>
            <a:ext cx="276225" cy="276225"/>
          </a:xfrm>
          <a:prstGeom prst="rect">
            <a:avLst/>
          </a:prstGeom>
        </p:spPr>
      </p:pic>
      <p:sp>
        <p:nvSpPr>
          <p:cNvPr id="153" name="Text 127"/>
          <p:cNvSpPr/>
          <p:nvPr/>
        </p:nvSpPr>
        <p:spPr>
          <a:xfrm>
            <a:off x="13974217" y="7848600"/>
            <a:ext cx="740718" cy="289322"/>
          </a:xfrm>
          <a:prstGeom prst="rect">
            <a:avLst/>
          </a:prstGeom>
          <a:noFill/>
          <a:ln/>
        </p:spPr>
        <p:txBody>
          <a:bodyPr wrap="square" lIns="25400" tIns="25400" rIns="25400" bIns="25400" rtlCol="0" anchor="t">
            <a:normAutofit/>
          </a:bodyPr>
          <a:lstStyle/>
          <a:p>
            <a:pPr algn="ctr" indent="0" marL="0">
              <a:lnSpc>
                <a:spcPct val="110000"/>
              </a:lnSpc>
              <a:buNone/>
            </a:pPr>
            <a:r>
              <a:rPr lang="en-US" sz="900" b="1" dirty="0">
                <a:solidFill>
                  <a:srgbClr val="374151"/>
                </a:solidFill>
                <a:latin typeface="Source Sans 3" pitchFamily="34" charset="0"/>
                <a:ea typeface="Source Sans 3" pitchFamily="34" charset="-122"/>
                <a:cs typeface="Source Sans 3" pitchFamily="34" charset="-120"/>
              </a:rPr>
              <a:t>AWS Transfer for SFTP</a:t>
            </a:r>
            <a:endParaRPr lang="en-US" sz="900" dirty="0"/>
          </a:p>
        </p:txBody>
      </p:sp>
      <p:sp>
        <p:nvSpPr>
          <p:cNvPr id="154" name="Shape 128"/>
          <p:cNvSpPr/>
          <p:nvPr/>
        </p:nvSpPr>
        <p:spPr>
          <a:xfrm>
            <a:off x="16059150" y="7410450"/>
            <a:ext cx="1962150" cy="1143000"/>
          </a:xfrm>
          <a:prstGeom prst="roundRect">
            <a:avLst>
              <a:gd name="adj" fmla="val 5000"/>
            </a:avLst>
          </a:prstGeom>
          <a:solidFill>
            <a:srgbClr val="FCE4E2"/>
          </a:solidFill>
          <a:ln w="9525">
            <a:solidFill>
              <a:srgbClr val="C0392B"/>
            </a:solidFill>
            <a:prstDash val="solid"/>
          </a:ln>
        </p:spPr>
      </p:sp>
      <p:sp>
        <p:nvSpPr>
          <p:cNvPr id="155" name="Shape 129"/>
          <p:cNvSpPr/>
          <p:nvPr/>
        </p:nvSpPr>
        <p:spPr>
          <a:xfrm>
            <a:off x="16821150" y="7572226"/>
            <a:ext cx="438150" cy="438150"/>
          </a:xfrm>
          <a:prstGeom prst="roundRect">
            <a:avLst>
              <a:gd name="adj" fmla="val 19565"/>
            </a:avLst>
          </a:prstGeom>
          <a:solidFill>
            <a:srgbClr val="232F3E"/>
          </a:solidFill>
          <a:ln/>
          <a:effectLst>
            <a:outerShdw sx="100000" sy="100000" kx="0" ky="0" algn="bl" rotWithShape="0" blurRad="19050" dist="9525" dir="5400000">
              <a:srgbClr val="000000">
                <a:alpha val="20000"/>
              </a:srgbClr>
            </a:outerShdw>
          </a:effectLst>
        </p:spPr>
      </p:sp>
      <p:pic>
        <p:nvPicPr>
          <p:cNvPr id="156" name="Image 24" descr="preencoded.png">    </p:cNvPr>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16911638" y="7662714"/>
            <a:ext cx="257175" cy="257175"/>
          </a:xfrm>
          <a:prstGeom prst="rect">
            <a:avLst/>
          </a:prstGeom>
        </p:spPr>
      </p:pic>
      <p:sp>
        <p:nvSpPr>
          <p:cNvPr id="157" name="Text 130"/>
          <p:cNvSpPr/>
          <p:nvPr/>
        </p:nvSpPr>
        <p:spPr>
          <a:xfrm>
            <a:off x="16373475" y="8096101"/>
            <a:ext cx="1333500" cy="333673"/>
          </a:xfrm>
          <a:prstGeom prst="rect">
            <a:avLst/>
          </a:prstGeom>
          <a:noFill/>
          <a:ln/>
        </p:spPr>
        <p:txBody>
          <a:bodyPr wrap="square" lIns="25400" tIns="25400" rIns="25400" bIns="25400" rtlCol="0" anchor="t">
            <a:normAutofit/>
          </a:bodyPr>
          <a:lstStyle/>
          <a:p>
            <a:pPr algn="ctr" indent="0" marL="0">
              <a:lnSpc>
                <a:spcPct val="115000"/>
              </a:lnSpc>
              <a:buNone/>
            </a:pPr>
            <a:r>
              <a:rPr lang="en-US" sz="1013" b="1" dirty="0">
                <a:solidFill>
                  <a:srgbClr val="7A2B22"/>
                </a:solidFill>
                <a:latin typeface="Source Sans 3" pitchFamily="34" charset="0"/>
                <a:ea typeface="Source Sans 3" pitchFamily="34" charset="-122"/>
                <a:cs typeface="Source Sans 3" pitchFamily="34" charset="-120"/>
              </a:rPr>
              <a:t>Upstream Data Source </a:t>
            </a:r>
            <a:pPr algn="ctr" indent="0" marL="0">
              <a:lnSpc>
                <a:spcPct val="115000"/>
              </a:lnSpc>
              <a:buNone/>
            </a:pPr>
            <a:r>
              <a:rPr lang="en-US" sz="863" dirty="0">
                <a:solidFill>
                  <a:srgbClr val="9A5048"/>
                </a:solidFill>
                <a:latin typeface="Source Sans 3" pitchFamily="34" charset="0"/>
                <a:ea typeface="Source Sans 3" pitchFamily="34" charset="-122"/>
                <a:cs typeface="Source Sans 3" pitchFamily="34" charset="-120"/>
              </a:rPr>
              <a:t>Vendor SFTP files</a:t>
            </a:r>
            <a:endParaRPr lang="en-US" sz="1013" dirty="0"/>
          </a:p>
        </p:txBody>
      </p:sp>
      <p:sp>
        <p:nvSpPr>
          <p:cNvPr id="158" name="Text 131"/>
          <p:cNvSpPr/>
          <p:nvPr/>
        </p:nvSpPr>
        <p:spPr>
          <a:xfrm>
            <a:off x="16059150" y="7086600"/>
            <a:ext cx="628948" cy="200025"/>
          </a:xfrm>
          <a:prstGeom prst="rect">
            <a:avLst/>
          </a:prstGeom>
          <a:noFill/>
          <a:ln/>
        </p:spPr>
        <p:txBody>
          <a:bodyPr wrap="square" lIns="25400" tIns="25400" rIns="25400" bIns="25400" rtlCol="0" anchor="t">
            <a:normAutofit/>
          </a:bodyPr>
          <a:lstStyle/>
          <a:p>
            <a:pPr algn="l" indent="0" marL="0">
              <a:buNone/>
            </a:pPr>
            <a:r>
              <a:rPr lang="en-US" sz="900" b="1" spc="30" kern="0" dirty="0">
                <a:solidFill>
                  <a:srgbClr val="9A5048"/>
                </a:solidFill>
                <a:latin typeface="Source Sans 3" pitchFamily="34" charset="0"/>
                <a:ea typeface="Source Sans 3" pitchFamily="34" charset="-122"/>
                <a:cs typeface="Source Sans 3" pitchFamily="34" charset="-120"/>
              </a:rPr>
              <a:t>EXTERNAL</a:t>
            </a:r>
            <a:endParaRPr lang="en-US" sz="900" dirty="0"/>
          </a:p>
        </p:txBody>
      </p:sp>
      <p:sp>
        <p:nvSpPr>
          <p:cNvPr id="159" name="Text 132"/>
          <p:cNvSpPr/>
          <p:nvPr/>
        </p:nvSpPr>
        <p:spPr>
          <a:xfrm>
            <a:off x="457200" y="9944100"/>
            <a:ext cx="1369606" cy="209550"/>
          </a:xfrm>
          <a:prstGeom prst="rect">
            <a:avLst/>
          </a:prstGeom>
          <a:noFill/>
          <a:ln/>
        </p:spPr>
        <p:txBody>
          <a:bodyPr wrap="square" lIns="25400" tIns="25400" rIns="25400" bIns="25400" rtlCol="0" anchor="t">
            <a:normAutofit/>
          </a:bodyPr>
          <a:lstStyle/>
          <a:p>
            <a:pPr algn="l" indent="0" marL="0">
              <a:buNone/>
            </a:pPr>
            <a:r>
              <a:rPr lang="en-US" sz="975" b="1" spc="30" kern="0" dirty="0">
                <a:solidFill>
                  <a:srgbClr val="9AA6B2"/>
                </a:solidFill>
                <a:latin typeface="Source Sans 3" pitchFamily="34" charset="0"/>
                <a:ea typeface="Source Sans 3" pitchFamily="34" charset="-122"/>
                <a:cs typeface="Source Sans 3" pitchFamily="34" charset="-120"/>
              </a:rPr>
              <a:t>INTERNAL DOCUMENT</a:t>
            </a:r>
            <a:endParaRPr lang="en-US" sz="975" dirty="0"/>
          </a:p>
        </p:txBody>
      </p:sp>
      <p:sp>
        <p:nvSpPr>
          <p:cNvPr id="160" name="Text 133"/>
          <p:cNvSpPr/>
          <p:nvPr/>
        </p:nvSpPr>
        <p:spPr>
          <a:xfrm>
            <a:off x="7799487" y="9944100"/>
            <a:ext cx="2957929" cy="209550"/>
          </a:xfrm>
          <a:prstGeom prst="rect">
            <a:avLst/>
          </a:prstGeom>
          <a:noFill/>
          <a:ln/>
        </p:spPr>
        <p:txBody>
          <a:bodyPr wrap="square" lIns="25400" tIns="25400" rIns="25400" bIns="25400" rtlCol="0" anchor="t">
            <a:normAutofit/>
          </a:bodyPr>
          <a:lstStyle/>
          <a:p>
            <a:pPr algn="l" indent="0" marL="0">
              <a:buNone/>
            </a:pPr>
            <a:r>
              <a:rPr lang="en-US" sz="975" dirty="0">
                <a:solidFill>
                  <a:srgbClr val="9AA6B2"/>
                </a:solidFill>
                <a:latin typeface="Source Sans 3" pitchFamily="34" charset="0"/>
                <a:ea typeface="Source Sans 3" pitchFamily="34" charset="-122"/>
                <a:cs typeface="Source Sans 3" pitchFamily="34" charset="-120"/>
              </a:rPr>
              <a:t>© 2025 EXL Service Holdings, Inc. All rights reserved.</a:t>
            </a:r>
            <a:endParaRPr lang="en-US" sz="975" dirty="0"/>
          </a:p>
        </p:txBody>
      </p:sp>
      <p:sp>
        <p:nvSpPr>
          <p:cNvPr id="161" name="Text 134"/>
          <p:cNvSpPr/>
          <p:nvPr/>
        </p:nvSpPr>
        <p:spPr>
          <a:xfrm>
            <a:off x="17515582" y="9886950"/>
            <a:ext cx="391418" cy="304800"/>
          </a:xfrm>
          <a:prstGeom prst="rect">
            <a:avLst/>
          </a:prstGeom>
          <a:noFill/>
          <a:ln/>
        </p:spPr>
        <p:txBody>
          <a:bodyPr wrap="square" lIns="25400" tIns="25400" rIns="25400" bIns="25400" rtlCol="0" anchor="t">
            <a:normAutofit/>
          </a:bodyPr>
          <a:lstStyle/>
          <a:p>
            <a:pPr algn="l" indent="0" marL="0">
              <a:buNone/>
            </a:pPr>
            <a:r>
              <a:rPr lang="en-US" sz="1500" b="1" dirty="0">
                <a:solidFill>
                  <a:srgbClr val="ED7100"/>
                </a:solidFill>
                <a:latin typeface="Source Sans 3" pitchFamily="34" charset="0"/>
                <a:ea typeface="Source Sans 3" pitchFamily="34" charset="-122"/>
                <a:cs typeface="Source Sans 3" pitchFamily="34" charset="-120"/>
              </a:rPr>
              <a:t>EXL</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85750"/>
            <a:ext cx="19110960" cy="419100"/>
          </a:xfrm>
          <a:prstGeom prst="rect">
            <a:avLst/>
          </a:prstGeom>
          <a:noFill/>
          <a:ln/>
        </p:spPr>
        <p:txBody>
          <a:bodyPr wrap="square" lIns="25400" tIns="25400" rIns="25400" bIns="25400" rtlCol="0" anchor="t">
            <a:normAutofit/>
          </a:bodyPr>
          <a:lstStyle/>
          <a:p>
            <a:pPr algn="l" indent="0" marL="0">
              <a:buNone/>
            </a:pPr>
            <a:r>
              <a:rPr lang="en-US" sz="2100" b="1" dirty="0">
                <a:solidFill>
                  <a:srgbClr val="1D2A3A"/>
                </a:solidFill>
                <a:latin typeface="Source Sans 3" pitchFamily="34" charset="0"/>
                <a:ea typeface="Source Sans 3" pitchFamily="34" charset="-122"/>
                <a:cs typeface="Source Sans 3" pitchFamily="34" charset="-120"/>
              </a:rPr>
              <a:t>Workflow — Chronological Order</a:t>
            </a:r>
            <a:endParaRPr lang="en-US" sz="2100" dirty="0"/>
          </a:p>
        </p:txBody>
      </p:sp>
      <p:sp>
        <p:nvSpPr>
          <p:cNvPr id="3" name="Text 1"/>
          <p:cNvSpPr/>
          <p:nvPr/>
        </p:nvSpPr>
        <p:spPr>
          <a:xfrm>
            <a:off x="457200" y="685800"/>
            <a:ext cx="19110960" cy="247650"/>
          </a:xfrm>
          <a:prstGeom prst="rect">
            <a:avLst/>
          </a:prstGeom>
          <a:noFill/>
          <a:ln/>
        </p:spPr>
        <p:txBody>
          <a:bodyPr wrap="square" lIns="25400" tIns="25400" rIns="25400" bIns="25400" rtlCol="0" anchor="t">
            <a:normAutofit/>
          </a:bodyPr>
          <a:lstStyle/>
          <a:p>
            <a:pPr algn="l" indent="0" marL="0">
              <a:buNone/>
            </a:pPr>
            <a:r>
              <a:rPr lang="en-US" sz="1200" dirty="0">
                <a:solidFill>
                  <a:srgbClr val="6B7682"/>
                </a:solidFill>
                <a:latin typeface="Source Sans 3" pitchFamily="34" charset="0"/>
                <a:ea typeface="Source Sans 3" pitchFamily="34" charset="-122"/>
                <a:cs typeface="Source Sans 3" pitchFamily="34" charset="-120"/>
              </a:rPr>
              <a:t>How a SPARTA valuation run flows through the platform, step by step</a:t>
            </a:r>
            <a:endParaRPr lang="en-US" sz="1200" dirty="0"/>
          </a:p>
        </p:txBody>
      </p:sp>
      <p:sp>
        <p:nvSpPr>
          <p:cNvPr id="4" name="Shape 2"/>
          <p:cNvSpPr/>
          <p:nvPr/>
        </p:nvSpPr>
        <p:spPr>
          <a:xfrm>
            <a:off x="457200" y="1028700"/>
            <a:ext cx="17373600" cy="19050"/>
          </a:xfrm>
          <a:prstGeom prst="rect">
            <a:avLst/>
          </a:prstGeom>
          <a:solidFill>
            <a:srgbClr val="E2E6EA"/>
          </a:solidFill>
          <a:ln/>
        </p:spPr>
      </p:sp>
      <p:sp>
        <p:nvSpPr>
          <p:cNvPr id="5" name="Shape 3"/>
          <p:cNvSpPr/>
          <p:nvPr/>
        </p:nvSpPr>
        <p:spPr>
          <a:xfrm>
            <a:off x="461963" y="1204913"/>
            <a:ext cx="17364075" cy="466725"/>
          </a:xfrm>
          <a:prstGeom prst="rect">
            <a:avLst/>
          </a:prstGeom>
          <a:solidFill>
            <a:srgbClr val="1F3864"/>
          </a:solidFill>
          <a:ln/>
        </p:spPr>
      </p:sp>
      <p:sp>
        <p:nvSpPr>
          <p:cNvPr id="6" name="Shape 4"/>
          <p:cNvSpPr/>
          <p:nvPr/>
        </p:nvSpPr>
        <p:spPr>
          <a:xfrm>
            <a:off x="461963" y="1204913"/>
            <a:ext cx="2893963" cy="466725"/>
          </a:xfrm>
          <a:prstGeom prst="rect">
            <a:avLst/>
          </a:prstGeom>
          <a:ln w="9525">
            <a:solidFill>
              <a:srgbClr val="2C4A7A"/>
            </a:solidFill>
            <a:prstDash val="solid"/>
          </a:ln>
        </p:spPr>
      </p:sp>
      <p:sp>
        <p:nvSpPr>
          <p:cNvPr id="7" name="Text 5"/>
          <p:cNvSpPr/>
          <p:nvPr/>
        </p:nvSpPr>
        <p:spPr>
          <a:xfrm>
            <a:off x="504278" y="1338262"/>
            <a:ext cx="2809332" cy="238125"/>
          </a:xfrm>
          <a:prstGeom prst="rect">
            <a:avLst/>
          </a:prstGeom>
          <a:noFill/>
          <a:ln/>
        </p:spPr>
        <p:txBody>
          <a:bodyPr wrap="square" lIns="25400" tIns="25400" rIns="25400" bIns="25400" rtlCol="0" anchor="ctr">
            <a:normAutofit/>
          </a:bodyPr>
          <a:lstStyle/>
          <a:p>
            <a:pPr algn="ctr" indent="0" marL="0">
              <a:buNone/>
            </a:pPr>
            <a:r>
              <a:rPr lang="en-US" sz="1200" b="1" dirty="0">
                <a:solidFill>
                  <a:srgbClr val="FFFFFF"/>
                </a:solidFill>
                <a:latin typeface="Source Sans 3" pitchFamily="34" charset="0"/>
                <a:ea typeface="Source Sans 3" pitchFamily="34" charset="-122"/>
                <a:cs typeface="Source Sans 3" pitchFamily="34" charset="-120"/>
              </a:rPr>
              <a:t>Step #</a:t>
            </a:r>
            <a:endParaRPr lang="en-US" sz="1200" dirty="0"/>
          </a:p>
        </p:txBody>
      </p:sp>
      <p:sp>
        <p:nvSpPr>
          <p:cNvPr id="8" name="Shape 6"/>
          <p:cNvSpPr/>
          <p:nvPr/>
        </p:nvSpPr>
        <p:spPr>
          <a:xfrm>
            <a:off x="3355925" y="1204913"/>
            <a:ext cx="2893963" cy="466725"/>
          </a:xfrm>
          <a:prstGeom prst="rect">
            <a:avLst/>
          </a:prstGeom>
          <a:ln w="9525">
            <a:solidFill>
              <a:srgbClr val="2C4A7A"/>
            </a:solidFill>
            <a:prstDash val="solid"/>
          </a:ln>
        </p:spPr>
      </p:sp>
      <p:sp>
        <p:nvSpPr>
          <p:cNvPr id="9" name="Text 7"/>
          <p:cNvSpPr/>
          <p:nvPr/>
        </p:nvSpPr>
        <p:spPr>
          <a:xfrm>
            <a:off x="3479750" y="1338262"/>
            <a:ext cx="2733132" cy="238125"/>
          </a:xfrm>
          <a:prstGeom prst="rect">
            <a:avLst/>
          </a:prstGeom>
          <a:noFill/>
          <a:ln/>
        </p:spPr>
        <p:txBody>
          <a:bodyPr wrap="square" lIns="25400" tIns="25400" rIns="25400" bIns="25400" rtlCol="0" anchor="ctr">
            <a:normAutofit/>
          </a:bodyPr>
          <a:lstStyle/>
          <a:p>
            <a:pPr algn="l" indent="0" marL="0">
              <a:buNone/>
            </a:pPr>
            <a:r>
              <a:rPr lang="en-US" sz="1200" b="1" dirty="0">
                <a:solidFill>
                  <a:srgbClr val="FFFFFF"/>
                </a:solidFill>
                <a:latin typeface="Source Sans 3" pitchFamily="34" charset="0"/>
                <a:ea typeface="Source Sans 3" pitchFamily="34" charset="-122"/>
                <a:cs typeface="Source Sans 3" pitchFamily="34" charset="-120"/>
              </a:rPr>
              <a:t>Step Name</a:t>
            </a:r>
            <a:endParaRPr lang="en-US" sz="1200" dirty="0"/>
          </a:p>
        </p:txBody>
      </p:sp>
      <p:sp>
        <p:nvSpPr>
          <p:cNvPr id="10" name="Shape 8"/>
          <p:cNvSpPr/>
          <p:nvPr/>
        </p:nvSpPr>
        <p:spPr>
          <a:xfrm>
            <a:off x="6249888" y="1204913"/>
            <a:ext cx="2893963" cy="466725"/>
          </a:xfrm>
          <a:prstGeom prst="rect">
            <a:avLst/>
          </a:prstGeom>
          <a:ln w="9525">
            <a:solidFill>
              <a:srgbClr val="2C4A7A"/>
            </a:solidFill>
            <a:prstDash val="solid"/>
          </a:ln>
        </p:spPr>
      </p:sp>
      <p:sp>
        <p:nvSpPr>
          <p:cNvPr id="11" name="Text 9"/>
          <p:cNvSpPr/>
          <p:nvPr/>
        </p:nvSpPr>
        <p:spPr>
          <a:xfrm>
            <a:off x="6373713" y="1338262"/>
            <a:ext cx="2733132" cy="238125"/>
          </a:xfrm>
          <a:prstGeom prst="rect">
            <a:avLst/>
          </a:prstGeom>
          <a:noFill/>
          <a:ln/>
        </p:spPr>
        <p:txBody>
          <a:bodyPr wrap="square" lIns="25400" tIns="25400" rIns="25400" bIns="25400" rtlCol="0" anchor="ctr">
            <a:normAutofit/>
          </a:bodyPr>
          <a:lstStyle/>
          <a:p>
            <a:pPr algn="l" indent="0" marL="0">
              <a:buNone/>
            </a:pPr>
            <a:r>
              <a:rPr lang="en-US" sz="1200" b="1" dirty="0">
                <a:solidFill>
                  <a:srgbClr val="FFFFFF"/>
                </a:solidFill>
                <a:latin typeface="Source Sans 3" pitchFamily="34" charset="0"/>
                <a:ea typeface="Source Sans 3" pitchFamily="34" charset="-122"/>
                <a:cs typeface="Source Sans 3" pitchFamily="34" charset="-120"/>
              </a:rPr>
              <a:t>Description</a:t>
            </a:r>
            <a:endParaRPr lang="en-US" sz="1200" dirty="0"/>
          </a:p>
        </p:txBody>
      </p:sp>
      <p:sp>
        <p:nvSpPr>
          <p:cNvPr id="12" name="Shape 10"/>
          <p:cNvSpPr/>
          <p:nvPr/>
        </p:nvSpPr>
        <p:spPr>
          <a:xfrm>
            <a:off x="9143851" y="1204913"/>
            <a:ext cx="2893963" cy="466725"/>
          </a:xfrm>
          <a:prstGeom prst="rect">
            <a:avLst/>
          </a:prstGeom>
          <a:ln w="9525">
            <a:solidFill>
              <a:srgbClr val="2C4A7A"/>
            </a:solidFill>
            <a:prstDash val="solid"/>
          </a:ln>
        </p:spPr>
      </p:sp>
      <p:sp>
        <p:nvSpPr>
          <p:cNvPr id="13" name="Text 11"/>
          <p:cNvSpPr/>
          <p:nvPr/>
        </p:nvSpPr>
        <p:spPr>
          <a:xfrm>
            <a:off x="9267676" y="1338262"/>
            <a:ext cx="2733132" cy="238125"/>
          </a:xfrm>
          <a:prstGeom prst="rect">
            <a:avLst/>
          </a:prstGeom>
          <a:noFill/>
          <a:ln/>
        </p:spPr>
        <p:txBody>
          <a:bodyPr wrap="square" lIns="25400" tIns="25400" rIns="25400" bIns="25400" rtlCol="0" anchor="ctr">
            <a:normAutofit/>
          </a:bodyPr>
          <a:lstStyle/>
          <a:p>
            <a:pPr algn="l" indent="0" marL="0">
              <a:buNone/>
            </a:pPr>
            <a:r>
              <a:rPr lang="en-US" sz="1200" b="1" dirty="0">
                <a:solidFill>
                  <a:srgbClr val="FFFFFF"/>
                </a:solidFill>
                <a:latin typeface="Source Sans 3" pitchFamily="34" charset="0"/>
                <a:ea typeface="Source Sans 3" pitchFamily="34" charset="-122"/>
                <a:cs typeface="Source Sans 3" pitchFamily="34" charset="-120"/>
              </a:rPr>
              <a:t>From</a:t>
            </a:r>
            <a:endParaRPr lang="en-US" sz="1200" dirty="0"/>
          </a:p>
        </p:txBody>
      </p:sp>
      <p:sp>
        <p:nvSpPr>
          <p:cNvPr id="14" name="Shape 12"/>
          <p:cNvSpPr/>
          <p:nvPr/>
        </p:nvSpPr>
        <p:spPr>
          <a:xfrm>
            <a:off x="12037814" y="1204913"/>
            <a:ext cx="2893963" cy="466725"/>
          </a:xfrm>
          <a:prstGeom prst="rect">
            <a:avLst/>
          </a:prstGeom>
          <a:ln w="9525">
            <a:solidFill>
              <a:srgbClr val="2C4A7A"/>
            </a:solidFill>
            <a:prstDash val="solid"/>
          </a:ln>
        </p:spPr>
      </p:sp>
      <p:sp>
        <p:nvSpPr>
          <p:cNvPr id="15" name="Text 13"/>
          <p:cNvSpPr/>
          <p:nvPr/>
        </p:nvSpPr>
        <p:spPr>
          <a:xfrm>
            <a:off x="12161639" y="1338262"/>
            <a:ext cx="2733132" cy="238125"/>
          </a:xfrm>
          <a:prstGeom prst="rect">
            <a:avLst/>
          </a:prstGeom>
          <a:noFill/>
          <a:ln/>
        </p:spPr>
        <p:txBody>
          <a:bodyPr wrap="square" lIns="25400" tIns="25400" rIns="25400" bIns="25400" rtlCol="0" anchor="ctr">
            <a:normAutofit/>
          </a:bodyPr>
          <a:lstStyle/>
          <a:p>
            <a:pPr algn="l" indent="0" marL="0">
              <a:buNone/>
            </a:pPr>
            <a:r>
              <a:rPr lang="en-US" sz="1200" b="1" dirty="0">
                <a:solidFill>
                  <a:srgbClr val="FFFFFF"/>
                </a:solidFill>
                <a:latin typeface="Source Sans 3" pitchFamily="34" charset="0"/>
                <a:ea typeface="Source Sans 3" pitchFamily="34" charset="-122"/>
                <a:cs typeface="Source Sans 3" pitchFamily="34" charset="-120"/>
              </a:rPr>
              <a:t>To</a:t>
            </a:r>
            <a:endParaRPr lang="en-US" sz="1200" dirty="0"/>
          </a:p>
        </p:txBody>
      </p:sp>
      <p:sp>
        <p:nvSpPr>
          <p:cNvPr id="16" name="Shape 14"/>
          <p:cNvSpPr/>
          <p:nvPr/>
        </p:nvSpPr>
        <p:spPr>
          <a:xfrm>
            <a:off x="14931777" y="1204913"/>
            <a:ext cx="2894261" cy="466725"/>
          </a:xfrm>
          <a:prstGeom prst="rect">
            <a:avLst/>
          </a:prstGeom>
          <a:ln w="9525">
            <a:solidFill>
              <a:srgbClr val="2C4A7A"/>
            </a:solidFill>
            <a:prstDash val="solid"/>
          </a:ln>
        </p:spPr>
      </p:sp>
      <p:sp>
        <p:nvSpPr>
          <p:cNvPr id="17" name="Text 15"/>
          <p:cNvSpPr/>
          <p:nvPr/>
        </p:nvSpPr>
        <p:spPr>
          <a:xfrm>
            <a:off x="15055602" y="1338262"/>
            <a:ext cx="2733438" cy="238125"/>
          </a:xfrm>
          <a:prstGeom prst="rect">
            <a:avLst/>
          </a:prstGeom>
          <a:noFill/>
          <a:ln/>
        </p:spPr>
        <p:txBody>
          <a:bodyPr wrap="square" lIns="25400" tIns="25400" rIns="25400" bIns="25400" rtlCol="0" anchor="ctr">
            <a:normAutofit/>
          </a:bodyPr>
          <a:lstStyle/>
          <a:p>
            <a:pPr algn="l" indent="0" marL="0">
              <a:buNone/>
            </a:pPr>
            <a:r>
              <a:rPr lang="en-US" sz="1200" b="1" dirty="0">
                <a:solidFill>
                  <a:srgbClr val="FFFFFF"/>
                </a:solidFill>
                <a:latin typeface="Source Sans 3" pitchFamily="34" charset="0"/>
                <a:ea typeface="Source Sans 3" pitchFamily="34" charset="-122"/>
                <a:cs typeface="Source Sans 3" pitchFamily="34" charset="-120"/>
              </a:rPr>
              <a:t>Sample Fields</a:t>
            </a:r>
            <a:endParaRPr lang="en-US" sz="1200" dirty="0"/>
          </a:p>
        </p:txBody>
      </p:sp>
      <p:sp>
        <p:nvSpPr>
          <p:cNvPr id="18" name="Shape 16"/>
          <p:cNvSpPr/>
          <p:nvPr/>
        </p:nvSpPr>
        <p:spPr>
          <a:xfrm>
            <a:off x="461963" y="1671638"/>
            <a:ext cx="17364075" cy="775246"/>
          </a:xfrm>
          <a:prstGeom prst="rect">
            <a:avLst/>
          </a:prstGeom>
          <a:solidFill>
            <a:srgbClr val="FFFFFF"/>
          </a:solidFill>
          <a:ln/>
        </p:spPr>
      </p:sp>
      <p:sp>
        <p:nvSpPr>
          <p:cNvPr id="19" name="Shape 17"/>
          <p:cNvSpPr/>
          <p:nvPr/>
        </p:nvSpPr>
        <p:spPr>
          <a:xfrm>
            <a:off x="461963" y="1671638"/>
            <a:ext cx="2893963" cy="775246"/>
          </a:xfrm>
          <a:prstGeom prst="rect">
            <a:avLst/>
          </a:prstGeom>
          <a:ln w="9525">
            <a:solidFill>
              <a:srgbClr val="CDD8E6"/>
            </a:solidFill>
            <a:prstDash val="solid"/>
          </a:ln>
        </p:spPr>
      </p:sp>
      <p:sp>
        <p:nvSpPr>
          <p:cNvPr id="20" name="Text 18"/>
          <p:cNvSpPr/>
          <p:nvPr/>
        </p:nvSpPr>
        <p:spPr>
          <a:xfrm>
            <a:off x="504278" y="1766888"/>
            <a:ext cx="2809332" cy="622846"/>
          </a:xfrm>
          <a:prstGeom prst="rect">
            <a:avLst/>
          </a:prstGeom>
          <a:noFill/>
          <a:ln/>
        </p:spPr>
        <p:txBody>
          <a:bodyPr wrap="square" lIns="25400" tIns="25400" rIns="25400" bIns="25400" rtlCol="0" anchor="ctr">
            <a:normAutofit/>
          </a:bodyPr>
          <a:lstStyle/>
          <a:p>
            <a:pPr algn="ctr" indent="0" marL="0">
              <a:buNone/>
            </a:pPr>
            <a:r>
              <a:rPr lang="en-US" sz="1200" b="1" dirty="0">
                <a:solidFill>
                  <a:srgbClr val="1F3864"/>
                </a:solidFill>
                <a:latin typeface="Source Sans 3" pitchFamily="34" charset="0"/>
                <a:ea typeface="Source Sans 3" pitchFamily="34" charset="-122"/>
                <a:cs typeface="Source Sans 3" pitchFamily="34" charset="-120"/>
              </a:rPr>
              <a:t>1</a:t>
            </a:r>
            <a:endParaRPr lang="en-US" sz="1200" dirty="0"/>
          </a:p>
        </p:txBody>
      </p:sp>
      <p:sp>
        <p:nvSpPr>
          <p:cNvPr id="21" name="Shape 19"/>
          <p:cNvSpPr/>
          <p:nvPr/>
        </p:nvSpPr>
        <p:spPr>
          <a:xfrm>
            <a:off x="3355925" y="1671638"/>
            <a:ext cx="2893963" cy="775246"/>
          </a:xfrm>
          <a:prstGeom prst="rect">
            <a:avLst/>
          </a:prstGeom>
          <a:ln w="9525">
            <a:solidFill>
              <a:srgbClr val="CDD8E6"/>
            </a:solidFill>
            <a:prstDash val="solid"/>
          </a:ln>
        </p:spPr>
      </p:sp>
      <p:sp>
        <p:nvSpPr>
          <p:cNvPr id="22" name="Text 20"/>
          <p:cNvSpPr/>
          <p:nvPr/>
        </p:nvSpPr>
        <p:spPr>
          <a:xfrm>
            <a:off x="3479750" y="1766888"/>
            <a:ext cx="2733132" cy="622846"/>
          </a:xfrm>
          <a:prstGeom prst="rect">
            <a:avLst/>
          </a:prstGeom>
          <a:noFill/>
          <a:ln/>
        </p:spPr>
        <p:txBody>
          <a:bodyPr wrap="square" lIns="25400" tIns="25400" rIns="25400" bIns="25400" rtlCol="0" anchor="ctr">
            <a:normAutofit/>
          </a:bodyPr>
          <a:lstStyle/>
          <a:p>
            <a:pPr algn="l" indent="0" marL="0">
              <a:buNone/>
            </a:pPr>
            <a:r>
              <a:rPr lang="en-US" sz="1200" b="1" dirty="0">
                <a:solidFill>
                  <a:srgbClr val="243447"/>
                </a:solidFill>
                <a:latin typeface="Source Sans 3" pitchFamily="34" charset="0"/>
                <a:ea typeface="Source Sans 3" pitchFamily="34" charset="-122"/>
                <a:cs typeface="Source Sans 3" pitchFamily="34" charset="-120"/>
              </a:rPr>
              <a:t>DeployRelease</a:t>
            </a:r>
            <a:endParaRPr lang="en-US" sz="1200" dirty="0"/>
          </a:p>
        </p:txBody>
      </p:sp>
      <p:sp>
        <p:nvSpPr>
          <p:cNvPr id="23" name="Shape 21"/>
          <p:cNvSpPr/>
          <p:nvPr/>
        </p:nvSpPr>
        <p:spPr>
          <a:xfrm>
            <a:off x="6249888" y="1671638"/>
            <a:ext cx="2893963" cy="775246"/>
          </a:xfrm>
          <a:prstGeom prst="rect">
            <a:avLst/>
          </a:prstGeom>
          <a:ln w="9525">
            <a:solidFill>
              <a:srgbClr val="CDD8E6"/>
            </a:solidFill>
            <a:prstDash val="solid"/>
          </a:ln>
        </p:spPr>
      </p:sp>
      <p:sp>
        <p:nvSpPr>
          <p:cNvPr id="24" name="Text 22"/>
          <p:cNvSpPr/>
          <p:nvPr/>
        </p:nvSpPr>
        <p:spPr>
          <a:xfrm>
            <a:off x="6373713" y="1766888"/>
            <a:ext cx="2733132" cy="622846"/>
          </a:xfrm>
          <a:prstGeom prst="rect">
            <a:avLst/>
          </a:prstGeom>
          <a:noFill/>
          <a:ln/>
        </p:spPr>
        <p:txBody>
          <a:bodyPr wrap="square" lIns="25400" tIns="25400" rIns="25400" bIns="25400" rtlCol="0" anchor="ctr">
            <a:normAutofit/>
          </a:bodyPr>
          <a:lstStyle/>
          <a:p>
            <a:pPr algn="l" indent="0" marL="0">
              <a:lnSpc>
                <a:spcPct val="130000"/>
              </a:lnSpc>
              <a:buNone/>
            </a:pPr>
            <a:r>
              <a:rPr lang="en-US" sz="1200" dirty="0">
                <a:solidFill>
                  <a:srgbClr val="374151"/>
                </a:solidFill>
                <a:latin typeface="Source Sans 3" pitchFamily="34" charset="0"/>
                <a:ea typeface="Source Sans 3" pitchFamily="34" charset="-122"/>
                <a:cs typeface="Source Sans 3" pitchFamily="34" charset="-120"/>
              </a:rPr>
              <a:t>CI/CD pipeline builds the SPARTA app and deploys the release to the Windows EC2 host.</a:t>
            </a:r>
            <a:endParaRPr lang="en-US" sz="1200" dirty="0"/>
          </a:p>
        </p:txBody>
      </p:sp>
      <p:sp>
        <p:nvSpPr>
          <p:cNvPr id="25" name="Shape 23"/>
          <p:cNvSpPr/>
          <p:nvPr/>
        </p:nvSpPr>
        <p:spPr>
          <a:xfrm>
            <a:off x="9143851" y="1671638"/>
            <a:ext cx="2893963" cy="775246"/>
          </a:xfrm>
          <a:prstGeom prst="rect">
            <a:avLst/>
          </a:prstGeom>
          <a:ln w="9525">
            <a:solidFill>
              <a:srgbClr val="CDD8E6"/>
            </a:solidFill>
            <a:prstDash val="solid"/>
          </a:ln>
        </p:spPr>
      </p:sp>
      <p:sp>
        <p:nvSpPr>
          <p:cNvPr id="26" name="Text 24"/>
          <p:cNvSpPr/>
          <p:nvPr/>
        </p:nvSpPr>
        <p:spPr>
          <a:xfrm>
            <a:off x="9267676" y="1766888"/>
            <a:ext cx="2733132" cy="622846"/>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GitHub</a:t>
            </a:r>
            <a:endParaRPr lang="en-US" sz="1200" dirty="0"/>
          </a:p>
        </p:txBody>
      </p:sp>
      <p:sp>
        <p:nvSpPr>
          <p:cNvPr id="27" name="Shape 25"/>
          <p:cNvSpPr/>
          <p:nvPr/>
        </p:nvSpPr>
        <p:spPr>
          <a:xfrm>
            <a:off x="12037814" y="1671638"/>
            <a:ext cx="2893963" cy="775246"/>
          </a:xfrm>
          <a:prstGeom prst="rect">
            <a:avLst/>
          </a:prstGeom>
          <a:ln w="9525">
            <a:solidFill>
              <a:srgbClr val="CDD8E6"/>
            </a:solidFill>
            <a:prstDash val="solid"/>
          </a:ln>
        </p:spPr>
      </p:sp>
      <p:sp>
        <p:nvSpPr>
          <p:cNvPr id="28" name="Text 26"/>
          <p:cNvSpPr/>
          <p:nvPr/>
        </p:nvSpPr>
        <p:spPr>
          <a:xfrm>
            <a:off x="12161639" y="1766888"/>
            <a:ext cx="2733132" cy="622846"/>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Windows EC2</a:t>
            </a:r>
            <a:endParaRPr lang="en-US" sz="1200" dirty="0"/>
          </a:p>
        </p:txBody>
      </p:sp>
      <p:sp>
        <p:nvSpPr>
          <p:cNvPr id="29" name="Shape 27"/>
          <p:cNvSpPr/>
          <p:nvPr/>
        </p:nvSpPr>
        <p:spPr>
          <a:xfrm>
            <a:off x="14931777" y="1671638"/>
            <a:ext cx="2894261" cy="775246"/>
          </a:xfrm>
          <a:prstGeom prst="rect">
            <a:avLst/>
          </a:prstGeom>
          <a:ln w="9525">
            <a:solidFill>
              <a:srgbClr val="CDD8E6"/>
            </a:solidFill>
            <a:prstDash val="solid"/>
          </a:ln>
        </p:spPr>
      </p:sp>
      <p:sp>
        <p:nvSpPr>
          <p:cNvPr id="30" name="Text 28"/>
          <p:cNvSpPr/>
          <p:nvPr/>
        </p:nvSpPr>
        <p:spPr>
          <a:xfrm>
            <a:off x="15055602" y="1766888"/>
            <a:ext cx="2733438" cy="622846"/>
          </a:xfrm>
          <a:prstGeom prst="rect">
            <a:avLst/>
          </a:prstGeom>
          <a:noFill/>
          <a:ln/>
        </p:spPr>
        <p:txBody>
          <a:bodyPr wrap="square" lIns="25400" tIns="25400" rIns="25400" bIns="25400" rtlCol="0" anchor="ctr">
            <a:normAutofit/>
          </a:bodyPr>
          <a:lstStyle/>
          <a:p>
            <a:pPr algn="l" indent="0" marL="0">
              <a:lnSpc>
                <a:spcPct val="130000"/>
              </a:lnSpc>
              <a:buNone/>
            </a:pPr>
            <a:r>
              <a:rPr lang="en-US" sz="1088" dirty="0">
                <a:solidFill>
                  <a:srgbClr val="4B5563"/>
                </a:solidFill>
                <a:latin typeface="Source Sans 3" pitchFamily="34" charset="0"/>
                <a:ea typeface="Source Sans 3" pitchFamily="34" charset="-122"/>
                <a:cs typeface="Source Sans 3" pitchFamily="34" charset="-120"/>
              </a:rPr>
              <a:t>build artifact, release tag, commit SHA</a:t>
            </a:r>
            <a:endParaRPr lang="en-US" sz="1088" dirty="0"/>
          </a:p>
        </p:txBody>
      </p:sp>
      <p:sp>
        <p:nvSpPr>
          <p:cNvPr id="31" name="Shape 29"/>
          <p:cNvSpPr/>
          <p:nvPr/>
        </p:nvSpPr>
        <p:spPr>
          <a:xfrm>
            <a:off x="461963" y="2446883"/>
            <a:ext cx="17364075" cy="775246"/>
          </a:xfrm>
          <a:prstGeom prst="rect">
            <a:avLst/>
          </a:prstGeom>
          <a:solidFill>
            <a:srgbClr val="DDE7F3"/>
          </a:solidFill>
          <a:ln/>
        </p:spPr>
      </p:sp>
      <p:sp>
        <p:nvSpPr>
          <p:cNvPr id="32" name="Shape 30"/>
          <p:cNvSpPr/>
          <p:nvPr/>
        </p:nvSpPr>
        <p:spPr>
          <a:xfrm>
            <a:off x="461963" y="2446883"/>
            <a:ext cx="2893963" cy="775246"/>
          </a:xfrm>
          <a:prstGeom prst="rect">
            <a:avLst/>
          </a:prstGeom>
          <a:ln w="9525">
            <a:solidFill>
              <a:srgbClr val="CDD8E6"/>
            </a:solidFill>
            <a:prstDash val="solid"/>
          </a:ln>
        </p:spPr>
      </p:sp>
      <p:sp>
        <p:nvSpPr>
          <p:cNvPr id="33" name="Text 31"/>
          <p:cNvSpPr/>
          <p:nvPr/>
        </p:nvSpPr>
        <p:spPr>
          <a:xfrm>
            <a:off x="504278" y="2542133"/>
            <a:ext cx="2809332" cy="622846"/>
          </a:xfrm>
          <a:prstGeom prst="rect">
            <a:avLst/>
          </a:prstGeom>
          <a:noFill/>
          <a:ln/>
        </p:spPr>
        <p:txBody>
          <a:bodyPr wrap="square" lIns="25400" tIns="25400" rIns="25400" bIns="25400" rtlCol="0" anchor="ctr">
            <a:normAutofit/>
          </a:bodyPr>
          <a:lstStyle/>
          <a:p>
            <a:pPr algn="ctr" indent="0" marL="0">
              <a:buNone/>
            </a:pPr>
            <a:r>
              <a:rPr lang="en-US" sz="1200" b="1" dirty="0">
                <a:solidFill>
                  <a:srgbClr val="1F3864"/>
                </a:solidFill>
                <a:latin typeface="Source Sans 3" pitchFamily="34" charset="0"/>
                <a:ea typeface="Source Sans 3" pitchFamily="34" charset="-122"/>
                <a:cs typeface="Source Sans 3" pitchFamily="34" charset="-120"/>
              </a:rPr>
              <a:t>2</a:t>
            </a:r>
            <a:endParaRPr lang="en-US" sz="1200" dirty="0"/>
          </a:p>
        </p:txBody>
      </p:sp>
      <p:sp>
        <p:nvSpPr>
          <p:cNvPr id="34" name="Shape 32"/>
          <p:cNvSpPr/>
          <p:nvPr/>
        </p:nvSpPr>
        <p:spPr>
          <a:xfrm>
            <a:off x="3355925" y="2446883"/>
            <a:ext cx="2893963" cy="775246"/>
          </a:xfrm>
          <a:prstGeom prst="rect">
            <a:avLst/>
          </a:prstGeom>
          <a:ln w="9525">
            <a:solidFill>
              <a:srgbClr val="CDD8E6"/>
            </a:solidFill>
            <a:prstDash val="solid"/>
          </a:ln>
        </p:spPr>
      </p:sp>
      <p:sp>
        <p:nvSpPr>
          <p:cNvPr id="35" name="Text 33"/>
          <p:cNvSpPr/>
          <p:nvPr/>
        </p:nvSpPr>
        <p:spPr>
          <a:xfrm>
            <a:off x="3479750" y="2542133"/>
            <a:ext cx="2733132" cy="622846"/>
          </a:xfrm>
          <a:prstGeom prst="rect">
            <a:avLst/>
          </a:prstGeom>
          <a:noFill/>
          <a:ln/>
        </p:spPr>
        <p:txBody>
          <a:bodyPr wrap="square" lIns="25400" tIns="25400" rIns="25400" bIns="25400" rtlCol="0" anchor="ctr">
            <a:normAutofit/>
          </a:bodyPr>
          <a:lstStyle/>
          <a:p>
            <a:pPr algn="l" indent="0" marL="0">
              <a:buNone/>
            </a:pPr>
            <a:r>
              <a:rPr lang="en-US" sz="1200" b="1" dirty="0">
                <a:solidFill>
                  <a:srgbClr val="243447"/>
                </a:solidFill>
                <a:latin typeface="Source Sans 3" pitchFamily="34" charset="0"/>
                <a:ea typeface="Source Sans 3" pitchFamily="34" charset="-122"/>
                <a:cs typeface="Source Sans 3" pitchFamily="34" charset="-120"/>
              </a:rPr>
              <a:t>IngestData</a:t>
            </a:r>
            <a:endParaRPr lang="en-US" sz="1200" dirty="0"/>
          </a:p>
        </p:txBody>
      </p:sp>
      <p:sp>
        <p:nvSpPr>
          <p:cNvPr id="36" name="Shape 34"/>
          <p:cNvSpPr/>
          <p:nvPr/>
        </p:nvSpPr>
        <p:spPr>
          <a:xfrm>
            <a:off x="6249888" y="2446883"/>
            <a:ext cx="2893963" cy="775246"/>
          </a:xfrm>
          <a:prstGeom prst="rect">
            <a:avLst/>
          </a:prstGeom>
          <a:ln w="9525">
            <a:solidFill>
              <a:srgbClr val="CDD8E6"/>
            </a:solidFill>
            <a:prstDash val="solid"/>
          </a:ln>
        </p:spPr>
      </p:sp>
      <p:sp>
        <p:nvSpPr>
          <p:cNvPr id="37" name="Text 35"/>
          <p:cNvSpPr/>
          <p:nvPr/>
        </p:nvSpPr>
        <p:spPr>
          <a:xfrm>
            <a:off x="6373713" y="2542133"/>
            <a:ext cx="2733132" cy="622846"/>
          </a:xfrm>
          <a:prstGeom prst="rect">
            <a:avLst/>
          </a:prstGeom>
          <a:noFill/>
          <a:ln/>
        </p:spPr>
        <p:txBody>
          <a:bodyPr wrap="square" lIns="25400" tIns="25400" rIns="25400" bIns="25400" rtlCol="0" anchor="ctr">
            <a:normAutofit/>
          </a:bodyPr>
          <a:lstStyle/>
          <a:p>
            <a:pPr algn="l" indent="0" marL="0">
              <a:lnSpc>
                <a:spcPct val="130000"/>
              </a:lnSpc>
              <a:buNone/>
            </a:pPr>
            <a:r>
              <a:rPr lang="en-US" sz="1200" dirty="0">
                <a:solidFill>
                  <a:srgbClr val="374151"/>
                </a:solidFill>
                <a:latin typeface="Source Sans 3" pitchFamily="34" charset="0"/>
                <a:ea typeface="Source Sans 3" pitchFamily="34" charset="-122"/>
                <a:cs typeface="Source Sans 3" pitchFamily="34" charset="-120"/>
              </a:rPr>
              <a:t>Upstream vendor files arrive over SFTP via AWS Transfer and land in S3 for processing.</a:t>
            </a:r>
            <a:endParaRPr lang="en-US" sz="1200" dirty="0"/>
          </a:p>
        </p:txBody>
      </p:sp>
      <p:sp>
        <p:nvSpPr>
          <p:cNvPr id="38" name="Shape 36"/>
          <p:cNvSpPr/>
          <p:nvPr/>
        </p:nvSpPr>
        <p:spPr>
          <a:xfrm>
            <a:off x="9143851" y="2446883"/>
            <a:ext cx="2893963" cy="775246"/>
          </a:xfrm>
          <a:prstGeom prst="rect">
            <a:avLst/>
          </a:prstGeom>
          <a:ln w="9525">
            <a:solidFill>
              <a:srgbClr val="CDD8E6"/>
            </a:solidFill>
            <a:prstDash val="solid"/>
          </a:ln>
        </p:spPr>
      </p:sp>
      <p:sp>
        <p:nvSpPr>
          <p:cNvPr id="39" name="Text 37"/>
          <p:cNvSpPr/>
          <p:nvPr/>
        </p:nvSpPr>
        <p:spPr>
          <a:xfrm>
            <a:off x="9267676" y="2542133"/>
            <a:ext cx="2733132" cy="622846"/>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Upstream Data Source</a:t>
            </a:r>
            <a:endParaRPr lang="en-US" sz="1200" dirty="0"/>
          </a:p>
        </p:txBody>
      </p:sp>
      <p:sp>
        <p:nvSpPr>
          <p:cNvPr id="40" name="Shape 38"/>
          <p:cNvSpPr/>
          <p:nvPr/>
        </p:nvSpPr>
        <p:spPr>
          <a:xfrm>
            <a:off x="12037814" y="2446883"/>
            <a:ext cx="2893963" cy="775246"/>
          </a:xfrm>
          <a:prstGeom prst="rect">
            <a:avLst/>
          </a:prstGeom>
          <a:ln w="9525">
            <a:solidFill>
              <a:srgbClr val="CDD8E6"/>
            </a:solidFill>
            <a:prstDash val="solid"/>
          </a:ln>
        </p:spPr>
      </p:sp>
      <p:sp>
        <p:nvSpPr>
          <p:cNvPr id="41" name="Text 39"/>
          <p:cNvSpPr/>
          <p:nvPr/>
        </p:nvSpPr>
        <p:spPr>
          <a:xfrm>
            <a:off x="12161639" y="2542133"/>
            <a:ext cx="2733132" cy="622846"/>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AWS Transfer (SFTP) → S3</a:t>
            </a:r>
            <a:endParaRPr lang="en-US" sz="1200" dirty="0"/>
          </a:p>
        </p:txBody>
      </p:sp>
      <p:sp>
        <p:nvSpPr>
          <p:cNvPr id="42" name="Shape 40"/>
          <p:cNvSpPr/>
          <p:nvPr/>
        </p:nvSpPr>
        <p:spPr>
          <a:xfrm>
            <a:off x="14931777" y="2446883"/>
            <a:ext cx="2894261" cy="775246"/>
          </a:xfrm>
          <a:prstGeom prst="rect">
            <a:avLst/>
          </a:prstGeom>
          <a:ln w="9525">
            <a:solidFill>
              <a:srgbClr val="CDD8E6"/>
            </a:solidFill>
            <a:prstDash val="solid"/>
          </a:ln>
        </p:spPr>
      </p:sp>
      <p:sp>
        <p:nvSpPr>
          <p:cNvPr id="43" name="Text 41"/>
          <p:cNvSpPr/>
          <p:nvPr/>
        </p:nvSpPr>
        <p:spPr>
          <a:xfrm>
            <a:off x="15055602" y="2542133"/>
            <a:ext cx="2733438" cy="622846"/>
          </a:xfrm>
          <a:prstGeom prst="rect">
            <a:avLst/>
          </a:prstGeom>
          <a:noFill/>
          <a:ln/>
        </p:spPr>
        <p:txBody>
          <a:bodyPr wrap="square" lIns="25400" tIns="25400" rIns="25400" bIns="25400" rtlCol="0" anchor="ctr">
            <a:normAutofit/>
          </a:bodyPr>
          <a:lstStyle/>
          <a:p>
            <a:pPr algn="l" indent="0" marL="0">
              <a:lnSpc>
                <a:spcPct val="130000"/>
              </a:lnSpc>
              <a:buNone/>
            </a:pPr>
            <a:r>
              <a:rPr lang="en-US" sz="1088" dirty="0">
                <a:solidFill>
                  <a:srgbClr val="4B5563"/>
                </a:solidFill>
                <a:latin typeface="Source Sans 3" pitchFamily="34" charset="0"/>
                <a:ea typeface="Source Sans 3" pitchFamily="34" charset="-122"/>
                <a:cs typeface="Source Sans 3" pitchFamily="34" charset="-120"/>
              </a:rPr>
              <a:t>vendor_extract.txt, PGP-encrypted</a:t>
            </a:r>
            <a:endParaRPr lang="en-US" sz="1088" dirty="0"/>
          </a:p>
        </p:txBody>
      </p:sp>
      <p:sp>
        <p:nvSpPr>
          <p:cNvPr id="44" name="Shape 42"/>
          <p:cNvSpPr/>
          <p:nvPr/>
        </p:nvSpPr>
        <p:spPr>
          <a:xfrm>
            <a:off x="461963" y="3222129"/>
            <a:ext cx="17364075" cy="577155"/>
          </a:xfrm>
          <a:prstGeom prst="rect">
            <a:avLst/>
          </a:prstGeom>
          <a:solidFill>
            <a:srgbClr val="FFFFFF"/>
          </a:solidFill>
          <a:ln/>
        </p:spPr>
      </p:sp>
      <p:sp>
        <p:nvSpPr>
          <p:cNvPr id="45" name="Shape 43"/>
          <p:cNvSpPr/>
          <p:nvPr/>
        </p:nvSpPr>
        <p:spPr>
          <a:xfrm>
            <a:off x="461963" y="3222129"/>
            <a:ext cx="2893963" cy="577155"/>
          </a:xfrm>
          <a:prstGeom prst="rect">
            <a:avLst/>
          </a:prstGeom>
          <a:ln w="9525">
            <a:solidFill>
              <a:srgbClr val="CDD8E6"/>
            </a:solidFill>
            <a:prstDash val="solid"/>
          </a:ln>
        </p:spPr>
      </p:sp>
      <p:sp>
        <p:nvSpPr>
          <p:cNvPr id="46" name="Text 44"/>
          <p:cNvSpPr/>
          <p:nvPr/>
        </p:nvSpPr>
        <p:spPr>
          <a:xfrm>
            <a:off x="504278" y="3317379"/>
            <a:ext cx="2809332" cy="424755"/>
          </a:xfrm>
          <a:prstGeom prst="rect">
            <a:avLst/>
          </a:prstGeom>
          <a:noFill/>
          <a:ln/>
        </p:spPr>
        <p:txBody>
          <a:bodyPr wrap="square" lIns="25400" tIns="25400" rIns="25400" bIns="25400" rtlCol="0" anchor="ctr">
            <a:normAutofit/>
          </a:bodyPr>
          <a:lstStyle/>
          <a:p>
            <a:pPr algn="ctr" indent="0" marL="0">
              <a:buNone/>
            </a:pPr>
            <a:r>
              <a:rPr lang="en-US" sz="1200" b="1" dirty="0">
                <a:solidFill>
                  <a:srgbClr val="1F3864"/>
                </a:solidFill>
                <a:latin typeface="Source Sans 3" pitchFamily="34" charset="0"/>
                <a:ea typeface="Source Sans 3" pitchFamily="34" charset="-122"/>
                <a:cs typeface="Source Sans 3" pitchFamily="34" charset="-120"/>
              </a:rPr>
              <a:t>3</a:t>
            </a:r>
            <a:endParaRPr lang="en-US" sz="1200" dirty="0"/>
          </a:p>
        </p:txBody>
      </p:sp>
      <p:sp>
        <p:nvSpPr>
          <p:cNvPr id="47" name="Shape 45"/>
          <p:cNvSpPr/>
          <p:nvPr/>
        </p:nvSpPr>
        <p:spPr>
          <a:xfrm>
            <a:off x="3355925" y="3222129"/>
            <a:ext cx="2893963" cy="577155"/>
          </a:xfrm>
          <a:prstGeom prst="rect">
            <a:avLst/>
          </a:prstGeom>
          <a:ln w="9525">
            <a:solidFill>
              <a:srgbClr val="CDD8E6"/>
            </a:solidFill>
            <a:prstDash val="solid"/>
          </a:ln>
        </p:spPr>
      </p:sp>
      <p:sp>
        <p:nvSpPr>
          <p:cNvPr id="48" name="Text 46"/>
          <p:cNvSpPr/>
          <p:nvPr/>
        </p:nvSpPr>
        <p:spPr>
          <a:xfrm>
            <a:off x="3479750" y="3317379"/>
            <a:ext cx="2733132" cy="424755"/>
          </a:xfrm>
          <a:prstGeom prst="rect">
            <a:avLst/>
          </a:prstGeom>
          <a:noFill/>
          <a:ln/>
        </p:spPr>
        <p:txBody>
          <a:bodyPr wrap="square" lIns="25400" tIns="25400" rIns="25400" bIns="25400" rtlCol="0" anchor="ctr">
            <a:normAutofit/>
          </a:bodyPr>
          <a:lstStyle/>
          <a:p>
            <a:pPr algn="l" indent="0" marL="0">
              <a:buNone/>
            </a:pPr>
            <a:r>
              <a:rPr lang="en-US" sz="1200" b="1" dirty="0">
                <a:solidFill>
                  <a:srgbClr val="243447"/>
                </a:solidFill>
                <a:latin typeface="Source Sans 3" pitchFamily="34" charset="0"/>
                <a:ea typeface="Source Sans 3" pitchFamily="34" charset="-122"/>
                <a:cs typeface="Source Sans 3" pitchFamily="34" charset="-120"/>
              </a:rPr>
              <a:t>UserLogin</a:t>
            </a:r>
            <a:endParaRPr lang="en-US" sz="1200" dirty="0"/>
          </a:p>
        </p:txBody>
      </p:sp>
      <p:sp>
        <p:nvSpPr>
          <p:cNvPr id="49" name="Shape 47"/>
          <p:cNvSpPr/>
          <p:nvPr/>
        </p:nvSpPr>
        <p:spPr>
          <a:xfrm>
            <a:off x="6249888" y="3222129"/>
            <a:ext cx="2893963" cy="577155"/>
          </a:xfrm>
          <a:prstGeom prst="rect">
            <a:avLst/>
          </a:prstGeom>
          <a:ln w="9525">
            <a:solidFill>
              <a:srgbClr val="CDD8E6"/>
            </a:solidFill>
            <a:prstDash val="solid"/>
          </a:ln>
        </p:spPr>
      </p:sp>
      <p:sp>
        <p:nvSpPr>
          <p:cNvPr id="50" name="Text 48"/>
          <p:cNvSpPr/>
          <p:nvPr/>
        </p:nvSpPr>
        <p:spPr>
          <a:xfrm>
            <a:off x="6373713" y="3317379"/>
            <a:ext cx="2733132" cy="424755"/>
          </a:xfrm>
          <a:prstGeom prst="rect">
            <a:avLst/>
          </a:prstGeom>
          <a:noFill/>
          <a:ln/>
        </p:spPr>
        <p:txBody>
          <a:bodyPr wrap="square" lIns="25400" tIns="25400" rIns="25400" bIns="25400" rtlCol="0" anchor="ctr">
            <a:normAutofit/>
          </a:bodyPr>
          <a:lstStyle/>
          <a:p>
            <a:pPr algn="l" indent="0" marL="0">
              <a:lnSpc>
                <a:spcPct val="130000"/>
              </a:lnSpc>
              <a:buNone/>
            </a:pPr>
            <a:r>
              <a:rPr lang="en-US" sz="1200" dirty="0">
                <a:solidFill>
                  <a:srgbClr val="374151"/>
                </a:solidFill>
                <a:latin typeface="Source Sans 3" pitchFamily="34" charset="0"/>
                <a:ea typeface="Source Sans 3" pitchFamily="34" charset="-122"/>
                <a:cs typeface="Source Sans 3" pitchFamily="34" charset="-120"/>
              </a:rPr>
              <a:t>User opens the SPARTA React app and authenticates with MFA.</a:t>
            </a:r>
            <a:endParaRPr lang="en-US" sz="1200" dirty="0"/>
          </a:p>
        </p:txBody>
      </p:sp>
      <p:sp>
        <p:nvSpPr>
          <p:cNvPr id="51" name="Shape 49"/>
          <p:cNvSpPr/>
          <p:nvPr/>
        </p:nvSpPr>
        <p:spPr>
          <a:xfrm>
            <a:off x="9143851" y="3222129"/>
            <a:ext cx="2893963" cy="577155"/>
          </a:xfrm>
          <a:prstGeom prst="rect">
            <a:avLst/>
          </a:prstGeom>
          <a:ln w="9525">
            <a:solidFill>
              <a:srgbClr val="CDD8E6"/>
            </a:solidFill>
            <a:prstDash val="solid"/>
          </a:ln>
        </p:spPr>
      </p:sp>
      <p:sp>
        <p:nvSpPr>
          <p:cNvPr id="52" name="Text 50"/>
          <p:cNvSpPr/>
          <p:nvPr/>
        </p:nvSpPr>
        <p:spPr>
          <a:xfrm>
            <a:off x="9267676" y="3317379"/>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User Browser</a:t>
            </a:r>
            <a:endParaRPr lang="en-US" sz="1200" dirty="0"/>
          </a:p>
        </p:txBody>
      </p:sp>
      <p:sp>
        <p:nvSpPr>
          <p:cNvPr id="53" name="Shape 51"/>
          <p:cNvSpPr/>
          <p:nvPr/>
        </p:nvSpPr>
        <p:spPr>
          <a:xfrm>
            <a:off x="12037814" y="3222129"/>
            <a:ext cx="2893963" cy="577155"/>
          </a:xfrm>
          <a:prstGeom prst="rect">
            <a:avLst/>
          </a:prstGeom>
          <a:ln w="9525">
            <a:solidFill>
              <a:srgbClr val="CDD8E6"/>
            </a:solidFill>
            <a:prstDash val="solid"/>
          </a:ln>
        </p:spPr>
      </p:sp>
      <p:sp>
        <p:nvSpPr>
          <p:cNvPr id="54" name="Text 52"/>
          <p:cNvSpPr/>
          <p:nvPr/>
        </p:nvSpPr>
        <p:spPr>
          <a:xfrm>
            <a:off x="12161639" y="3317379"/>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Amazon Cognito</a:t>
            </a:r>
            <a:endParaRPr lang="en-US" sz="1200" dirty="0"/>
          </a:p>
        </p:txBody>
      </p:sp>
      <p:sp>
        <p:nvSpPr>
          <p:cNvPr id="55" name="Shape 53"/>
          <p:cNvSpPr/>
          <p:nvPr/>
        </p:nvSpPr>
        <p:spPr>
          <a:xfrm>
            <a:off x="14931777" y="3222129"/>
            <a:ext cx="2894261" cy="577155"/>
          </a:xfrm>
          <a:prstGeom prst="rect">
            <a:avLst/>
          </a:prstGeom>
          <a:ln w="9525">
            <a:solidFill>
              <a:srgbClr val="CDD8E6"/>
            </a:solidFill>
            <a:prstDash val="solid"/>
          </a:ln>
        </p:spPr>
      </p:sp>
      <p:sp>
        <p:nvSpPr>
          <p:cNvPr id="56" name="Text 54"/>
          <p:cNvSpPr/>
          <p:nvPr/>
        </p:nvSpPr>
        <p:spPr>
          <a:xfrm>
            <a:off x="15055602" y="3317379"/>
            <a:ext cx="2733438" cy="424755"/>
          </a:xfrm>
          <a:prstGeom prst="rect">
            <a:avLst/>
          </a:prstGeom>
          <a:noFill/>
          <a:ln/>
        </p:spPr>
        <p:txBody>
          <a:bodyPr wrap="square" lIns="25400" tIns="25400" rIns="25400" bIns="25400" rtlCol="0" anchor="ctr">
            <a:normAutofit/>
          </a:bodyPr>
          <a:lstStyle/>
          <a:p>
            <a:pPr algn="l" indent="0" marL="0">
              <a:lnSpc>
                <a:spcPct val="130000"/>
              </a:lnSpc>
              <a:buNone/>
            </a:pPr>
            <a:r>
              <a:rPr lang="en-US" sz="1088" dirty="0">
                <a:solidFill>
                  <a:srgbClr val="4B5563"/>
                </a:solidFill>
                <a:latin typeface="Source Sans 3" pitchFamily="34" charset="0"/>
                <a:ea typeface="Source Sans 3" pitchFamily="34" charset="-122"/>
                <a:cs typeface="Source Sans 3" pitchFamily="34" charset="-120"/>
              </a:rPr>
              <a:t>username, MFA token, JWT</a:t>
            </a:r>
            <a:endParaRPr lang="en-US" sz="1088" dirty="0"/>
          </a:p>
        </p:txBody>
      </p:sp>
      <p:sp>
        <p:nvSpPr>
          <p:cNvPr id="57" name="Shape 55"/>
          <p:cNvSpPr/>
          <p:nvPr/>
        </p:nvSpPr>
        <p:spPr>
          <a:xfrm>
            <a:off x="461963" y="3799284"/>
            <a:ext cx="17364075" cy="577155"/>
          </a:xfrm>
          <a:prstGeom prst="rect">
            <a:avLst/>
          </a:prstGeom>
          <a:solidFill>
            <a:srgbClr val="DDE7F3"/>
          </a:solidFill>
          <a:ln/>
        </p:spPr>
      </p:sp>
      <p:sp>
        <p:nvSpPr>
          <p:cNvPr id="58" name="Shape 56"/>
          <p:cNvSpPr/>
          <p:nvPr/>
        </p:nvSpPr>
        <p:spPr>
          <a:xfrm>
            <a:off x="461963" y="3799284"/>
            <a:ext cx="2893963" cy="577155"/>
          </a:xfrm>
          <a:prstGeom prst="rect">
            <a:avLst/>
          </a:prstGeom>
          <a:ln w="9525">
            <a:solidFill>
              <a:srgbClr val="CDD8E6"/>
            </a:solidFill>
            <a:prstDash val="solid"/>
          </a:ln>
        </p:spPr>
      </p:sp>
      <p:sp>
        <p:nvSpPr>
          <p:cNvPr id="59" name="Text 57"/>
          <p:cNvSpPr/>
          <p:nvPr/>
        </p:nvSpPr>
        <p:spPr>
          <a:xfrm>
            <a:off x="504278" y="3894534"/>
            <a:ext cx="2809332" cy="424755"/>
          </a:xfrm>
          <a:prstGeom prst="rect">
            <a:avLst/>
          </a:prstGeom>
          <a:noFill/>
          <a:ln/>
        </p:spPr>
        <p:txBody>
          <a:bodyPr wrap="square" lIns="25400" tIns="25400" rIns="25400" bIns="25400" rtlCol="0" anchor="ctr">
            <a:normAutofit/>
          </a:bodyPr>
          <a:lstStyle/>
          <a:p>
            <a:pPr algn="ctr" indent="0" marL="0">
              <a:buNone/>
            </a:pPr>
            <a:r>
              <a:rPr lang="en-US" sz="1200" b="1" dirty="0">
                <a:solidFill>
                  <a:srgbClr val="1F3864"/>
                </a:solidFill>
                <a:latin typeface="Source Sans 3" pitchFamily="34" charset="0"/>
                <a:ea typeface="Source Sans 3" pitchFamily="34" charset="-122"/>
                <a:cs typeface="Source Sans 3" pitchFamily="34" charset="-120"/>
              </a:rPr>
              <a:t>4</a:t>
            </a:r>
            <a:endParaRPr lang="en-US" sz="1200" dirty="0"/>
          </a:p>
        </p:txBody>
      </p:sp>
      <p:sp>
        <p:nvSpPr>
          <p:cNvPr id="60" name="Shape 58"/>
          <p:cNvSpPr/>
          <p:nvPr/>
        </p:nvSpPr>
        <p:spPr>
          <a:xfrm>
            <a:off x="3355925" y="3799284"/>
            <a:ext cx="2893963" cy="577155"/>
          </a:xfrm>
          <a:prstGeom prst="rect">
            <a:avLst/>
          </a:prstGeom>
          <a:ln w="9525">
            <a:solidFill>
              <a:srgbClr val="CDD8E6"/>
            </a:solidFill>
            <a:prstDash val="solid"/>
          </a:ln>
        </p:spPr>
      </p:sp>
      <p:sp>
        <p:nvSpPr>
          <p:cNvPr id="61" name="Text 59"/>
          <p:cNvSpPr/>
          <p:nvPr/>
        </p:nvSpPr>
        <p:spPr>
          <a:xfrm>
            <a:off x="3479750" y="3894534"/>
            <a:ext cx="2733132" cy="424755"/>
          </a:xfrm>
          <a:prstGeom prst="rect">
            <a:avLst/>
          </a:prstGeom>
          <a:noFill/>
          <a:ln/>
        </p:spPr>
        <p:txBody>
          <a:bodyPr wrap="square" lIns="25400" tIns="25400" rIns="25400" bIns="25400" rtlCol="0" anchor="ctr">
            <a:normAutofit/>
          </a:bodyPr>
          <a:lstStyle/>
          <a:p>
            <a:pPr algn="l" indent="0" marL="0">
              <a:buNone/>
            </a:pPr>
            <a:r>
              <a:rPr lang="en-US" sz="1200" b="1" dirty="0">
                <a:solidFill>
                  <a:srgbClr val="243447"/>
                </a:solidFill>
                <a:latin typeface="Source Sans 3" pitchFamily="34" charset="0"/>
                <a:ea typeface="Source Sans 3" pitchFamily="34" charset="-122"/>
                <a:cs typeface="Source Sans 3" pitchFamily="34" charset="-120"/>
              </a:rPr>
              <a:t>SubmitRun</a:t>
            </a:r>
            <a:endParaRPr lang="en-US" sz="1200" dirty="0"/>
          </a:p>
        </p:txBody>
      </p:sp>
      <p:sp>
        <p:nvSpPr>
          <p:cNvPr id="62" name="Shape 60"/>
          <p:cNvSpPr/>
          <p:nvPr/>
        </p:nvSpPr>
        <p:spPr>
          <a:xfrm>
            <a:off x="6249888" y="3799284"/>
            <a:ext cx="2893963" cy="577155"/>
          </a:xfrm>
          <a:prstGeom prst="rect">
            <a:avLst/>
          </a:prstGeom>
          <a:ln w="9525">
            <a:solidFill>
              <a:srgbClr val="CDD8E6"/>
            </a:solidFill>
            <a:prstDash val="solid"/>
          </a:ln>
        </p:spPr>
      </p:sp>
      <p:sp>
        <p:nvSpPr>
          <p:cNvPr id="63" name="Text 61"/>
          <p:cNvSpPr/>
          <p:nvPr/>
        </p:nvSpPr>
        <p:spPr>
          <a:xfrm>
            <a:off x="6373713" y="3894534"/>
            <a:ext cx="2733132" cy="424755"/>
          </a:xfrm>
          <a:prstGeom prst="rect">
            <a:avLst/>
          </a:prstGeom>
          <a:noFill/>
          <a:ln/>
        </p:spPr>
        <p:txBody>
          <a:bodyPr wrap="square" lIns="25400" tIns="25400" rIns="25400" bIns="25400" rtlCol="0" anchor="ctr">
            <a:normAutofit/>
          </a:bodyPr>
          <a:lstStyle/>
          <a:p>
            <a:pPr algn="l" indent="0" marL="0">
              <a:lnSpc>
                <a:spcPct val="130000"/>
              </a:lnSpc>
              <a:buNone/>
            </a:pPr>
            <a:r>
              <a:rPr lang="en-US" sz="1200" dirty="0">
                <a:solidFill>
                  <a:srgbClr val="374151"/>
                </a:solidFill>
                <a:latin typeface="Source Sans 3" pitchFamily="34" charset="0"/>
                <a:ea typeface="Source Sans 3" pitchFamily="34" charset="-122"/>
                <a:cs typeface="Source Sans 3" pitchFamily="34" charset="-120"/>
              </a:rPr>
              <a:t>Authenticated user submits a valuation run (product + assumptions).</a:t>
            </a:r>
            <a:endParaRPr lang="en-US" sz="1200" dirty="0"/>
          </a:p>
        </p:txBody>
      </p:sp>
      <p:sp>
        <p:nvSpPr>
          <p:cNvPr id="64" name="Shape 62"/>
          <p:cNvSpPr/>
          <p:nvPr/>
        </p:nvSpPr>
        <p:spPr>
          <a:xfrm>
            <a:off x="9143851" y="3799284"/>
            <a:ext cx="2893963" cy="577155"/>
          </a:xfrm>
          <a:prstGeom prst="rect">
            <a:avLst/>
          </a:prstGeom>
          <a:ln w="9525">
            <a:solidFill>
              <a:srgbClr val="CDD8E6"/>
            </a:solidFill>
            <a:prstDash val="solid"/>
          </a:ln>
        </p:spPr>
      </p:sp>
      <p:sp>
        <p:nvSpPr>
          <p:cNvPr id="65" name="Text 63"/>
          <p:cNvSpPr/>
          <p:nvPr/>
        </p:nvSpPr>
        <p:spPr>
          <a:xfrm>
            <a:off x="9267676" y="3894534"/>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User Browser</a:t>
            </a:r>
            <a:endParaRPr lang="en-US" sz="1200" dirty="0"/>
          </a:p>
        </p:txBody>
      </p:sp>
      <p:sp>
        <p:nvSpPr>
          <p:cNvPr id="66" name="Shape 64"/>
          <p:cNvSpPr/>
          <p:nvPr/>
        </p:nvSpPr>
        <p:spPr>
          <a:xfrm>
            <a:off x="12037814" y="3799284"/>
            <a:ext cx="2893963" cy="577155"/>
          </a:xfrm>
          <a:prstGeom prst="rect">
            <a:avLst/>
          </a:prstGeom>
          <a:ln w="9525">
            <a:solidFill>
              <a:srgbClr val="CDD8E6"/>
            </a:solidFill>
            <a:prstDash val="solid"/>
          </a:ln>
        </p:spPr>
      </p:sp>
      <p:sp>
        <p:nvSpPr>
          <p:cNvPr id="67" name="Text 65"/>
          <p:cNvSpPr/>
          <p:nvPr/>
        </p:nvSpPr>
        <p:spPr>
          <a:xfrm>
            <a:off x="12161639" y="3894534"/>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SPARTA App (EC2)</a:t>
            </a:r>
            <a:endParaRPr lang="en-US" sz="1200" dirty="0"/>
          </a:p>
        </p:txBody>
      </p:sp>
      <p:sp>
        <p:nvSpPr>
          <p:cNvPr id="68" name="Shape 66"/>
          <p:cNvSpPr/>
          <p:nvPr/>
        </p:nvSpPr>
        <p:spPr>
          <a:xfrm>
            <a:off x="14931777" y="3799284"/>
            <a:ext cx="2894261" cy="577155"/>
          </a:xfrm>
          <a:prstGeom prst="rect">
            <a:avLst/>
          </a:prstGeom>
          <a:ln w="9525">
            <a:solidFill>
              <a:srgbClr val="CDD8E6"/>
            </a:solidFill>
            <a:prstDash val="solid"/>
          </a:ln>
        </p:spPr>
      </p:sp>
      <p:sp>
        <p:nvSpPr>
          <p:cNvPr id="69" name="Text 67"/>
          <p:cNvSpPr/>
          <p:nvPr/>
        </p:nvSpPr>
        <p:spPr>
          <a:xfrm>
            <a:off x="15055602" y="3894534"/>
            <a:ext cx="2733438" cy="424755"/>
          </a:xfrm>
          <a:prstGeom prst="rect">
            <a:avLst/>
          </a:prstGeom>
          <a:noFill/>
          <a:ln/>
        </p:spPr>
        <p:txBody>
          <a:bodyPr wrap="square" lIns="25400" tIns="25400" rIns="25400" bIns="25400" rtlCol="0" anchor="ctr">
            <a:normAutofit/>
          </a:bodyPr>
          <a:lstStyle/>
          <a:p>
            <a:pPr algn="l" indent="0" marL="0">
              <a:lnSpc>
                <a:spcPct val="130000"/>
              </a:lnSpc>
              <a:buNone/>
            </a:pPr>
            <a:r>
              <a:rPr lang="en-US" sz="1088" dirty="0">
                <a:solidFill>
                  <a:srgbClr val="4B5563"/>
                </a:solidFill>
                <a:latin typeface="Source Sans 3" pitchFamily="34" charset="0"/>
                <a:ea typeface="Source Sans 3" pitchFamily="34" charset="-122"/>
                <a:cs typeface="Source Sans 3" pitchFamily="34" charset="-120"/>
              </a:rPr>
              <a:t>product_id, assumption_set, val_date</a:t>
            </a:r>
            <a:endParaRPr lang="en-US" sz="1088" dirty="0"/>
          </a:p>
        </p:txBody>
      </p:sp>
      <p:sp>
        <p:nvSpPr>
          <p:cNvPr id="70" name="Shape 68"/>
          <p:cNvSpPr/>
          <p:nvPr/>
        </p:nvSpPr>
        <p:spPr>
          <a:xfrm>
            <a:off x="461963" y="4376440"/>
            <a:ext cx="17364075" cy="577155"/>
          </a:xfrm>
          <a:prstGeom prst="rect">
            <a:avLst/>
          </a:prstGeom>
          <a:solidFill>
            <a:srgbClr val="FFFFFF"/>
          </a:solidFill>
          <a:ln/>
        </p:spPr>
      </p:sp>
      <p:sp>
        <p:nvSpPr>
          <p:cNvPr id="71" name="Shape 69"/>
          <p:cNvSpPr/>
          <p:nvPr/>
        </p:nvSpPr>
        <p:spPr>
          <a:xfrm>
            <a:off x="461963" y="4376440"/>
            <a:ext cx="2893963" cy="577155"/>
          </a:xfrm>
          <a:prstGeom prst="rect">
            <a:avLst/>
          </a:prstGeom>
          <a:ln w="9525">
            <a:solidFill>
              <a:srgbClr val="CDD8E6"/>
            </a:solidFill>
            <a:prstDash val="solid"/>
          </a:ln>
        </p:spPr>
      </p:sp>
      <p:sp>
        <p:nvSpPr>
          <p:cNvPr id="72" name="Text 70"/>
          <p:cNvSpPr/>
          <p:nvPr/>
        </p:nvSpPr>
        <p:spPr>
          <a:xfrm>
            <a:off x="504278" y="4471690"/>
            <a:ext cx="2809332" cy="424755"/>
          </a:xfrm>
          <a:prstGeom prst="rect">
            <a:avLst/>
          </a:prstGeom>
          <a:noFill/>
          <a:ln/>
        </p:spPr>
        <p:txBody>
          <a:bodyPr wrap="square" lIns="25400" tIns="25400" rIns="25400" bIns="25400" rtlCol="0" anchor="ctr">
            <a:normAutofit/>
          </a:bodyPr>
          <a:lstStyle/>
          <a:p>
            <a:pPr algn="ctr" indent="0" marL="0">
              <a:buNone/>
            </a:pPr>
            <a:r>
              <a:rPr lang="en-US" sz="1200" b="1" dirty="0">
                <a:solidFill>
                  <a:srgbClr val="1F3864"/>
                </a:solidFill>
                <a:latin typeface="Source Sans 3" pitchFamily="34" charset="0"/>
                <a:ea typeface="Source Sans 3" pitchFamily="34" charset="-122"/>
                <a:cs typeface="Source Sans 3" pitchFamily="34" charset="-120"/>
              </a:rPr>
              <a:t>5</a:t>
            </a:r>
            <a:endParaRPr lang="en-US" sz="1200" dirty="0"/>
          </a:p>
        </p:txBody>
      </p:sp>
      <p:sp>
        <p:nvSpPr>
          <p:cNvPr id="73" name="Shape 71"/>
          <p:cNvSpPr/>
          <p:nvPr/>
        </p:nvSpPr>
        <p:spPr>
          <a:xfrm>
            <a:off x="3355925" y="4376440"/>
            <a:ext cx="2893963" cy="577155"/>
          </a:xfrm>
          <a:prstGeom prst="rect">
            <a:avLst/>
          </a:prstGeom>
          <a:ln w="9525">
            <a:solidFill>
              <a:srgbClr val="CDD8E6"/>
            </a:solidFill>
            <a:prstDash val="solid"/>
          </a:ln>
        </p:spPr>
      </p:sp>
      <p:sp>
        <p:nvSpPr>
          <p:cNvPr id="74" name="Text 72"/>
          <p:cNvSpPr/>
          <p:nvPr/>
        </p:nvSpPr>
        <p:spPr>
          <a:xfrm>
            <a:off x="3479750" y="4471690"/>
            <a:ext cx="2733132" cy="424755"/>
          </a:xfrm>
          <a:prstGeom prst="rect">
            <a:avLst/>
          </a:prstGeom>
          <a:noFill/>
          <a:ln/>
        </p:spPr>
        <p:txBody>
          <a:bodyPr wrap="square" lIns="25400" tIns="25400" rIns="25400" bIns="25400" rtlCol="0" anchor="ctr">
            <a:normAutofit/>
          </a:bodyPr>
          <a:lstStyle/>
          <a:p>
            <a:pPr algn="l" indent="0" marL="0">
              <a:buNone/>
            </a:pPr>
            <a:r>
              <a:rPr lang="en-US" sz="1200" b="1" dirty="0">
                <a:solidFill>
                  <a:srgbClr val="243447"/>
                </a:solidFill>
                <a:latin typeface="Source Sans 3" pitchFamily="34" charset="0"/>
                <a:ea typeface="Source Sans 3" pitchFamily="34" charset="-122"/>
                <a:cs typeface="Source Sans 3" pitchFamily="34" charset="-120"/>
              </a:rPr>
              <a:t>LoadSourceData</a:t>
            </a:r>
            <a:endParaRPr lang="en-US" sz="1200" dirty="0"/>
          </a:p>
        </p:txBody>
      </p:sp>
      <p:sp>
        <p:nvSpPr>
          <p:cNvPr id="75" name="Shape 73"/>
          <p:cNvSpPr/>
          <p:nvPr/>
        </p:nvSpPr>
        <p:spPr>
          <a:xfrm>
            <a:off x="6249888" y="4376440"/>
            <a:ext cx="2893963" cy="577155"/>
          </a:xfrm>
          <a:prstGeom prst="rect">
            <a:avLst/>
          </a:prstGeom>
          <a:ln w="9525">
            <a:solidFill>
              <a:srgbClr val="CDD8E6"/>
            </a:solidFill>
            <a:prstDash val="solid"/>
          </a:ln>
        </p:spPr>
      </p:sp>
      <p:sp>
        <p:nvSpPr>
          <p:cNvPr id="76" name="Text 74"/>
          <p:cNvSpPr/>
          <p:nvPr/>
        </p:nvSpPr>
        <p:spPr>
          <a:xfrm>
            <a:off x="6373713" y="4471690"/>
            <a:ext cx="2733132" cy="424755"/>
          </a:xfrm>
          <a:prstGeom prst="rect">
            <a:avLst/>
          </a:prstGeom>
          <a:noFill/>
          <a:ln/>
        </p:spPr>
        <p:txBody>
          <a:bodyPr wrap="square" lIns="25400" tIns="25400" rIns="25400" bIns="25400" rtlCol="0" anchor="ctr">
            <a:normAutofit/>
          </a:bodyPr>
          <a:lstStyle/>
          <a:p>
            <a:pPr algn="l" indent="0" marL="0">
              <a:lnSpc>
                <a:spcPct val="130000"/>
              </a:lnSpc>
              <a:buNone/>
            </a:pPr>
            <a:r>
              <a:rPr lang="en-US" sz="1200" dirty="0">
                <a:solidFill>
                  <a:srgbClr val="374151"/>
                </a:solidFill>
                <a:latin typeface="Source Sans 3" pitchFamily="34" charset="0"/>
                <a:ea typeface="Source Sans 3" pitchFamily="34" charset="-122"/>
                <a:cs typeface="Source Sans 3" pitchFamily="34" charset="-120"/>
              </a:rPr>
              <a:t>App loads policy &amp; assumption files from S3 and reference data from RDS.</a:t>
            </a:r>
            <a:endParaRPr lang="en-US" sz="1200" dirty="0"/>
          </a:p>
        </p:txBody>
      </p:sp>
      <p:sp>
        <p:nvSpPr>
          <p:cNvPr id="77" name="Shape 75"/>
          <p:cNvSpPr/>
          <p:nvPr/>
        </p:nvSpPr>
        <p:spPr>
          <a:xfrm>
            <a:off x="9143851" y="4376440"/>
            <a:ext cx="2893963" cy="577155"/>
          </a:xfrm>
          <a:prstGeom prst="rect">
            <a:avLst/>
          </a:prstGeom>
          <a:ln w="9525">
            <a:solidFill>
              <a:srgbClr val="CDD8E6"/>
            </a:solidFill>
            <a:prstDash val="solid"/>
          </a:ln>
        </p:spPr>
      </p:sp>
      <p:sp>
        <p:nvSpPr>
          <p:cNvPr id="78" name="Text 76"/>
          <p:cNvSpPr/>
          <p:nvPr/>
        </p:nvSpPr>
        <p:spPr>
          <a:xfrm>
            <a:off x="9267676" y="4471690"/>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SPARTA App (EC2)</a:t>
            </a:r>
            <a:endParaRPr lang="en-US" sz="1200" dirty="0"/>
          </a:p>
        </p:txBody>
      </p:sp>
      <p:sp>
        <p:nvSpPr>
          <p:cNvPr id="79" name="Shape 77"/>
          <p:cNvSpPr/>
          <p:nvPr/>
        </p:nvSpPr>
        <p:spPr>
          <a:xfrm>
            <a:off x="12037814" y="4376440"/>
            <a:ext cx="2893963" cy="577155"/>
          </a:xfrm>
          <a:prstGeom prst="rect">
            <a:avLst/>
          </a:prstGeom>
          <a:ln w="9525">
            <a:solidFill>
              <a:srgbClr val="CDD8E6"/>
            </a:solidFill>
            <a:prstDash val="solid"/>
          </a:ln>
        </p:spPr>
      </p:sp>
      <p:sp>
        <p:nvSpPr>
          <p:cNvPr id="80" name="Text 78"/>
          <p:cNvSpPr/>
          <p:nvPr/>
        </p:nvSpPr>
        <p:spPr>
          <a:xfrm>
            <a:off x="12161639" y="4471690"/>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Amazon S3 · RDS MySQL</a:t>
            </a:r>
            <a:endParaRPr lang="en-US" sz="1200" dirty="0"/>
          </a:p>
        </p:txBody>
      </p:sp>
      <p:sp>
        <p:nvSpPr>
          <p:cNvPr id="81" name="Shape 79"/>
          <p:cNvSpPr/>
          <p:nvPr/>
        </p:nvSpPr>
        <p:spPr>
          <a:xfrm>
            <a:off x="14931777" y="4376440"/>
            <a:ext cx="2894261" cy="577155"/>
          </a:xfrm>
          <a:prstGeom prst="rect">
            <a:avLst/>
          </a:prstGeom>
          <a:ln w="9525">
            <a:solidFill>
              <a:srgbClr val="CDD8E6"/>
            </a:solidFill>
            <a:prstDash val="solid"/>
          </a:ln>
        </p:spPr>
      </p:sp>
      <p:sp>
        <p:nvSpPr>
          <p:cNvPr id="82" name="Text 80"/>
          <p:cNvSpPr/>
          <p:nvPr/>
        </p:nvSpPr>
        <p:spPr>
          <a:xfrm>
            <a:off x="15055602" y="4471690"/>
            <a:ext cx="2733438" cy="424755"/>
          </a:xfrm>
          <a:prstGeom prst="rect">
            <a:avLst/>
          </a:prstGeom>
          <a:noFill/>
          <a:ln/>
        </p:spPr>
        <p:txBody>
          <a:bodyPr wrap="square" lIns="25400" tIns="25400" rIns="25400" bIns="25400" rtlCol="0" anchor="ctr">
            <a:normAutofit/>
          </a:bodyPr>
          <a:lstStyle/>
          <a:p>
            <a:pPr algn="l" indent="0" marL="0">
              <a:lnSpc>
                <a:spcPct val="130000"/>
              </a:lnSpc>
              <a:buNone/>
            </a:pPr>
            <a:r>
              <a:rPr lang="en-US" sz="1088" dirty="0">
                <a:solidFill>
                  <a:srgbClr val="4B5563"/>
                </a:solidFill>
                <a:latin typeface="Source Sans 3" pitchFamily="34" charset="0"/>
                <a:ea typeface="Source Sans 3" pitchFamily="34" charset="-122"/>
                <a:cs typeface="Source Sans 3" pitchFamily="34" charset="-120"/>
              </a:rPr>
              <a:t>policy_extract.csv, assumptions.json</a:t>
            </a:r>
            <a:endParaRPr lang="en-US" sz="1088" dirty="0"/>
          </a:p>
        </p:txBody>
      </p:sp>
      <p:sp>
        <p:nvSpPr>
          <p:cNvPr id="83" name="Shape 81"/>
          <p:cNvSpPr/>
          <p:nvPr/>
        </p:nvSpPr>
        <p:spPr>
          <a:xfrm>
            <a:off x="461963" y="4953595"/>
            <a:ext cx="17364075" cy="577155"/>
          </a:xfrm>
          <a:prstGeom prst="rect">
            <a:avLst/>
          </a:prstGeom>
          <a:solidFill>
            <a:srgbClr val="DDE7F3"/>
          </a:solidFill>
          <a:ln/>
        </p:spPr>
      </p:sp>
      <p:sp>
        <p:nvSpPr>
          <p:cNvPr id="84" name="Shape 82"/>
          <p:cNvSpPr/>
          <p:nvPr/>
        </p:nvSpPr>
        <p:spPr>
          <a:xfrm>
            <a:off x="461963" y="4953595"/>
            <a:ext cx="2893963" cy="577155"/>
          </a:xfrm>
          <a:prstGeom prst="rect">
            <a:avLst/>
          </a:prstGeom>
          <a:ln w="9525">
            <a:solidFill>
              <a:srgbClr val="CDD8E6"/>
            </a:solidFill>
            <a:prstDash val="solid"/>
          </a:ln>
        </p:spPr>
      </p:sp>
      <p:sp>
        <p:nvSpPr>
          <p:cNvPr id="85" name="Text 83"/>
          <p:cNvSpPr/>
          <p:nvPr/>
        </p:nvSpPr>
        <p:spPr>
          <a:xfrm>
            <a:off x="504278" y="5048845"/>
            <a:ext cx="2809332" cy="424755"/>
          </a:xfrm>
          <a:prstGeom prst="rect">
            <a:avLst/>
          </a:prstGeom>
          <a:noFill/>
          <a:ln/>
        </p:spPr>
        <p:txBody>
          <a:bodyPr wrap="square" lIns="25400" tIns="25400" rIns="25400" bIns="25400" rtlCol="0" anchor="ctr">
            <a:normAutofit/>
          </a:bodyPr>
          <a:lstStyle/>
          <a:p>
            <a:pPr algn="ctr" indent="0" marL="0">
              <a:buNone/>
            </a:pPr>
            <a:r>
              <a:rPr lang="en-US" sz="1200" b="1" dirty="0">
                <a:solidFill>
                  <a:srgbClr val="1F3864"/>
                </a:solidFill>
                <a:latin typeface="Source Sans 3" pitchFamily="34" charset="0"/>
                <a:ea typeface="Source Sans 3" pitchFamily="34" charset="-122"/>
                <a:cs typeface="Source Sans 3" pitchFamily="34" charset="-120"/>
              </a:rPr>
              <a:t>6</a:t>
            </a:r>
            <a:endParaRPr lang="en-US" sz="1200" dirty="0"/>
          </a:p>
        </p:txBody>
      </p:sp>
      <p:sp>
        <p:nvSpPr>
          <p:cNvPr id="86" name="Shape 84"/>
          <p:cNvSpPr/>
          <p:nvPr/>
        </p:nvSpPr>
        <p:spPr>
          <a:xfrm>
            <a:off x="3355925" y="4953595"/>
            <a:ext cx="2893963" cy="577155"/>
          </a:xfrm>
          <a:prstGeom prst="rect">
            <a:avLst/>
          </a:prstGeom>
          <a:ln w="9525">
            <a:solidFill>
              <a:srgbClr val="CDD8E6"/>
            </a:solidFill>
            <a:prstDash val="solid"/>
          </a:ln>
        </p:spPr>
      </p:sp>
      <p:sp>
        <p:nvSpPr>
          <p:cNvPr id="87" name="Text 85"/>
          <p:cNvSpPr/>
          <p:nvPr/>
        </p:nvSpPr>
        <p:spPr>
          <a:xfrm>
            <a:off x="3479750" y="5048845"/>
            <a:ext cx="2733132" cy="424755"/>
          </a:xfrm>
          <a:prstGeom prst="rect">
            <a:avLst/>
          </a:prstGeom>
          <a:noFill/>
          <a:ln/>
        </p:spPr>
        <p:txBody>
          <a:bodyPr wrap="square" lIns="25400" tIns="25400" rIns="25400" bIns="25400" rtlCol="0" anchor="ctr">
            <a:normAutofit/>
          </a:bodyPr>
          <a:lstStyle/>
          <a:p>
            <a:pPr algn="l" indent="0" marL="0">
              <a:buNone/>
            </a:pPr>
            <a:r>
              <a:rPr lang="en-US" sz="1200" b="1" dirty="0">
                <a:solidFill>
                  <a:srgbClr val="243447"/>
                </a:solidFill>
                <a:latin typeface="Source Sans 3" pitchFamily="34" charset="0"/>
                <a:ea typeface="Source Sans 3" pitchFamily="34" charset="-122"/>
                <a:cs typeface="Source Sans 3" pitchFamily="34" charset="-120"/>
              </a:rPr>
              <a:t>ValidateInputs</a:t>
            </a:r>
            <a:endParaRPr lang="en-US" sz="1200" dirty="0"/>
          </a:p>
        </p:txBody>
      </p:sp>
      <p:sp>
        <p:nvSpPr>
          <p:cNvPr id="88" name="Shape 86"/>
          <p:cNvSpPr/>
          <p:nvPr/>
        </p:nvSpPr>
        <p:spPr>
          <a:xfrm>
            <a:off x="6249888" y="4953595"/>
            <a:ext cx="2893963" cy="577155"/>
          </a:xfrm>
          <a:prstGeom prst="rect">
            <a:avLst/>
          </a:prstGeom>
          <a:ln w="9525">
            <a:solidFill>
              <a:srgbClr val="CDD8E6"/>
            </a:solidFill>
            <a:prstDash val="solid"/>
          </a:ln>
        </p:spPr>
      </p:sp>
      <p:sp>
        <p:nvSpPr>
          <p:cNvPr id="89" name="Text 87"/>
          <p:cNvSpPr/>
          <p:nvPr/>
        </p:nvSpPr>
        <p:spPr>
          <a:xfrm>
            <a:off x="6373713" y="5048845"/>
            <a:ext cx="2733132" cy="424755"/>
          </a:xfrm>
          <a:prstGeom prst="rect">
            <a:avLst/>
          </a:prstGeom>
          <a:noFill/>
          <a:ln/>
        </p:spPr>
        <p:txBody>
          <a:bodyPr wrap="square" lIns="25400" tIns="25400" rIns="25400" bIns="25400" rtlCol="0" anchor="ctr">
            <a:normAutofit/>
          </a:bodyPr>
          <a:lstStyle/>
          <a:p>
            <a:pPr algn="l" indent="0" marL="0">
              <a:lnSpc>
                <a:spcPct val="130000"/>
              </a:lnSpc>
              <a:buNone/>
            </a:pPr>
            <a:r>
              <a:rPr lang="en-US" sz="1200" dirty="0">
                <a:solidFill>
                  <a:srgbClr val="374151"/>
                </a:solidFill>
                <a:latin typeface="Source Sans 3" pitchFamily="34" charset="0"/>
                <a:ea typeface="Source Sans 3" pitchFamily="34" charset="-122"/>
                <a:cs typeface="Source Sans 3" pitchFamily="34" charset="-120"/>
              </a:rPr>
              <a:t>App validates product config, assumptions and data completeness.</a:t>
            </a:r>
            <a:endParaRPr lang="en-US" sz="1200" dirty="0"/>
          </a:p>
        </p:txBody>
      </p:sp>
      <p:sp>
        <p:nvSpPr>
          <p:cNvPr id="90" name="Shape 88"/>
          <p:cNvSpPr/>
          <p:nvPr/>
        </p:nvSpPr>
        <p:spPr>
          <a:xfrm>
            <a:off x="9143851" y="4953595"/>
            <a:ext cx="2893963" cy="577155"/>
          </a:xfrm>
          <a:prstGeom prst="rect">
            <a:avLst/>
          </a:prstGeom>
          <a:ln w="9525">
            <a:solidFill>
              <a:srgbClr val="CDD8E6"/>
            </a:solidFill>
            <a:prstDash val="solid"/>
          </a:ln>
        </p:spPr>
      </p:sp>
      <p:sp>
        <p:nvSpPr>
          <p:cNvPr id="91" name="Text 89"/>
          <p:cNvSpPr/>
          <p:nvPr/>
        </p:nvSpPr>
        <p:spPr>
          <a:xfrm>
            <a:off x="9267676" y="5048845"/>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SPARTA App (EC2)</a:t>
            </a:r>
            <a:endParaRPr lang="en-US" sz="1200" dirty="0"/>
          </a:p>
        </p:txBody>
      </p:sp>
      <p:sp>
        <p:nvSpPr>
          <p:cNvPr id="92" name="Shape 90"/>
          <p:cNvSpPr/>
          <p:nvPr/>
        </p:nvSpPr>
        <p:spPr>
          <a:xfrm>
            <a:off x="12037814" y="4953595"/>
            <a:ext cx="2893963" cy="577155"/>
          </a:xfrm>
          <a:prstGeom prst="rect">
            <a:avLst/>
          </a:prstGeom>
          <a:ln w="9525">
            <a:solidFill>
              <a:srgbClr val="CDD8E6"/>
            </a:solidFill>
            <a:prstDash val="solid"/>
          </a:ln>
        </p:spPr>
      </p:sp>
      <p:sp>
        <p:nvSpPr>
          <p:cNvPr id="93" name="Text 91"/>
          <p:cNvSpPr/>
          <p:nvPr/>
        </p:nvSpPr>
        <p:spPr>
          <a:xfrm>
            <a:off x="12161639" y="5048845"/>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SPARTA App (EC2)</a:t>
            </a:r>
            <a:endParaRPr lang="en-US" sz="1200" dirty="0"/>
          </a:p>
        </p:txBody>
      </p:sp>
      <p:sp>
        <p:nvSpPr>
          <p:cNvPr id="94" name="Shape 92"/>
          <p:cNvSpPr/>
          <p:nvPr/>
        </p:nvSpPr>
        <p:spPr>
          <a:xfrm>
            <a:off x="14931777" y="4953595"/>
            <a:ext cx="2894261" cy="577155"/>
          </a:xfrm>
          <a:prstGeom prst="rect">
            <a:avLst/>
          </a:prstGeom>
          <a:ln w="9525">
            <a:solidFill>
              <a:srgbClr val="CDD8E6"/>
            </a:solidFill>
            <a:prstDash val="solid"/>
          </a:ln>
        </p:spPr>
      </p:sp>
      <p:sp>
        <p:nvSpPr>
          <p:cNvPr id="95" name="Text 93"/>
          <p:cNvSpPr/>
          <p:nvPr/>
        </p:nvSpPr>
        <p:spPr>
          <a:xfrm>
            <a:off x="15055602" y="5048845"/>
            <a:ext cx="2733438" cy="424755"/>
          </a:xfrm>
          <a:prstGeom prst="rect">
            <a:avLst/>
          </a:prstGeom>
          <a:noFill/>
          <a:ln/>
        </p:spPr>
        <p:txBody>
          <a:bodyPr wrap="square" lIns="25400" tIns="25400" rIns="25400" bIns="25400" rtlCol="0" anchor="ctr">
            <a:normAutofit/>
          </a:bodyPr>
          <a:lstStyle/>
          <a:p>
            <a:pPr algn="l" indent="0" marL="0">
              <a:lnSpc>
                <a:spcPct val="130000"/>
              </a:lnSpc>
              <a:buNone/>
            </a:pPr>
            <a:r>
              <a:rPr lang="en-US" sz="1088" dirty="0">
                <a:solidFill>
                  <a:srgbClr val="4B5563"/>
                </a:solidFill>
                <a:latin typeface="Source Sans 3" pitchFamily="34" charset="0"/>
                <a:ea typeface="Source Sans 3" pitchFamily="34" charset="-122"/>
                <a:cs typeface="Source Sans 3" pitchFamily="34" charset="-120"/>
              </a:rPr>
              <a:t>validation rules, error_log</a:t>
            </a:r>
            <a:endParaRPr lang="en-US" sz="1088" dirty="0"/>
          </a:p>
        </p:txBody>
      </p:sp>
      <p:sp>
        <p:nvSpPr>
          <p:cNvPr id="96" name="Shape 94"/>
          <p:cNvSpPr/>
          <p:nvPr/>
        </p:nvSpPr>
        <p:spPr>
          <a:xfrm>
            <a:off x="461963" y="5530751"/>
            <a:ext cx="17364075" cy="577155"/>
          </a:xfrm>
          <a:prstGeom prst="rect">
            <a:avLst/>
          </a:prstGeom>
          <a:solidFill>
            <a:srgbClr val="FFFFFF"/>
          </a:solidFill>
          <a:ln/>
        </p:spPr>
      </p:sp>
      <p:sp>
        <p:nvSpPr>
          <p:cNvPr id="97" name="Shape 95"/>
          <p:cNvSpPr/>
          <p:nvPr/>
        </p:nvSpPr>
        <p:spPr>
          <a:xfrm>
            <a:off x="461963" y="5530751"/>
            <a:ext cx="2893963" cy="577155"/>
          </a:xfrm>
          <a:prstGeom prst="rect">
            <a:avLst/>
          </a:prstGeom>
          <a:ln w="9525">
            <a:solidFill>
              <a:srgbClr val="CDD8E6"/>
            </a:solidFill>
            <a:prstDash val="solid"/>
          </a:ln>
        </p:spPr>
      </p:sp>
      <p:sp>
        <p:nvSpPr>
          <p:cNvPr id="98" name="Text 96"/>
          <p:cNvSpPr/>
          <p:nvPr/>
        </p:nvSpPr>
        <p:spPr>
          <a:xfrm>
            <a:off x="504278" y="5626001"/>
            <a:ext cx="2809332" cy="424755"/>
          </a:xfrm>
          <a:prstGeom prst="rect">
            <a:avLst/>
          </a:prstGeom>
          <a:noFill/>
          <a:ln/>
        </p:spPr>
        <p:txBody>
          <a:bodyPr wrap="square" lIns="25400" tIns="25400" rIns="25400" bIns="25400" rtlCol="0" anchor="ctr">
            <a:normAutofit/>
          </a:bodyPr>
          <a:lstStyle/>
          <a:p>
            <a:pPr algn="ctr" indent="0" marL="0">
              <a:buNone/>
            </a:pPr>
            <a:r>
              <a:rPr lang="en-US" sz="1200" b="1" dirty="0">
                <a:solidFill>
                  <a:srgbClr val="1F3864"/>
                </a:solidFill>
                <a:latin typeface="Source Sans 3" pitchFamily="34" charset="0"/>
                <a:ea typeface="Source Sans 3" pitchFamily="34" charset="-122"/>
                <a:cs typeface="Source Sans 3" pitchFamily="34" charset="-120"/>
              </a:rPr>
              <a:t>7</a:t>
            </a:r>
            <a:endParaRPr lang="en-US" sz="1200" dirty="0"/>
          </a:p>
        </p:txBody>
      </p:sp>
      <p:sp>
        <p:nvSpPr>
          <p:cNvPr id="99" name="Shape 97"/>
          <p:cNvSpPr/>
          <p:nvPr/>
        </p:nvSpPr>
        <p:spPr>
          <a:xfrm>
            <a:off x="3355925" y="5530751"/>
            <a:ext cx="2893963" cy="577155"/>
          </a:xfrm>
          <a:prstGeom prst="rect">
            <a:avLst/>
          </a:prstGeom>
          <a:ln w="9525">
            <a:solidFill>
              <a:srgbClr val="CDD8E6"/>
            </a:solidFill>
            <a:prstDash val="solid"/>
          </a:ln>
        </p:spPr>
      </p:sp>
      <p:sp>
        <p:nvSpPr>
          <p:cNvPr id="100" name="Text 98"/>
          <p:cNvSpPr/>
          <p:nvPr/>
        </p:nvSpPr>
        <p:spPr>
          <a:xfrm>
            <a:off x="3479750" y="5626001"/>
            <a:ext cx="2733132" cy="424755"/>
          </a:xfrm>
          <a:prstGeom prst="rect">
            <a:avLst/>
          </a:prstGeom>
          <a:noFill/>
          <a:ln/>
        </p:spPr>
        <p:txBody>
          <a:bodyPr wrap="square" lIns="25400" tIns="25400" rIns="25400" bIns="25400" rtlCol="0" anchor="ctr">
            <a:normAutofit/>
          </a:bodyPr>
          <a:lstStyle/>
          <a:p>
            <a:pPr algn="l" indent="0" marL="0">
              <a:buNone/>
            </a:pPr>
            <a:r>
              <a:rPr lang="en-US" sz="1200" b="1" dirty="0">
                <a:solidFill>
                  <a:srgbClr val="243447"/>
                </a:solidFill>
                <a:latin typeface="Source Sans 3" pitchFamily="34" charset="0"/>
                <a:ea typeface="Source Sans 3" pitchFamily="34" charset="-122"/>
                <a:cs typeface="Source Sans 3" pitchFamily="34" charset="-120"/>
              </a:rPr>
              <a:t>GenerateScripts</a:t>
            </a:r>
            <a:endParaRPr lang="en-US" sz="1200" dirty="0"/>
          </a:p>
        </p:txBody>
      </p:sp>
      <p:sp>
        <p:nvSpPr>
          <p:cNvPr id="101" name="Shape 99"/>
          <p:cNvSpPr/>
          <p:nvPr/>
        </p:nvSpPr>
        <p:spPr>
          <a:xfrm>
            <a:off x="6249888" y="5530751"/>
            <a:ext cx="2893963" cy="577155"/>
          </a:xfrm>
          <a:prstGeom prst="rect">
            <a:avLst/>
          </a:prstGeom>
          <a:ln w="9525">
            <a:solidFill>
              <a:srgbClr val="CDD8E6"/>
            </a:solidFill>
            <a:prstDash val="solid"/>
          </a:ln>
        </p:spPr>
      </p:sp>
      <p:sp>
        <p:nvSpPr>
          <p:cNvPr id="102" name="Text 100"/>
          <p:cNvSpPr/>
          <p:nvPr/>
        </p:nvSpPr>
        <p:spPr>
          <a:xfrm>
            <a:off x="6373713" y="5626001"/>
            <a:ext cx="2733132" cy="424755"/>
          </a:xfrm>
          <a:prstGeom prst="rect">
            <a:avLst/>
          </a:prstGeom>
          <a:noFill/>
          <a:ln/>
        </p:spPr>
        <p:txBody>
          <a:bodyPr wrap="square" lIns="25400" tIns="25400" rIns="25400" bIns="25400" rtlCol="0" anchor="ctr">
            <a:normAutofit/>
          </a:bodyPr>
          <a:lstStyle/>
          <a:p>
            <a:pPr algn="l" indent="0" marL="0">
              <a:lnSpc>
                <a:spcPct val="130000"/>
              </a:lnSpc>
              <a:buNone/>
            </a:pPr>
            <a:r>
              <a:rPr lang="en-US" sz="1200" dirty="0">
                <a:solidFill>
                  <a:srgbClr val="374151"/>
                </a:solidFill>
                <a:latin typeface="Source Sans 3" pitchFamily="34" charset="0"/>
                <a:ea typeface="Source Sans 3" pitchFamily="34" charset="-122"/>
                <a:cs typeface="Source Sans 3" pitchFamily="34" charset="-120"/>
              </a:rPr>
              <a:t>Engine calls Bedrock (Nova) to generate actuarial scripts &amp; SQL queries.</a:t>
            </a:r>
            <a:endParaRPr lang="en-US" sz="1200" dirty="0"/>
          </a:p>
        </p:txBody>
      </p:sp>
      <p:sp>
        <p:nvSpPr>
          <p:cNvPr id="103" name="Shape 101"/>
          <p:cNvSpPr/>
          <p:nvPr/>
        </p:nvSpPr>
        <p:spPr>
          <a:xfrm>
            <a:off x="9143851" y="5530751"/>
            <a:ext cx="2893963" cy="577155"/>
          </a:xfrm>
          <a:prstGeom prst="rect">
            <a:avLst/>
          </a:prstGeom>
          <a:ln w="9525">
            <a:solidFill>
              <a:srgbClr val="CDD8E6"/>
            </a:solidFill>
            <a:prstDash val="solid"/>
          </a:ln>
        </p:spPr>
      </p:sp>
      <p:sp>
        <p:nvSpPr>
          <p:cNvPr id="104" name="Text 102"/>
          <p:cNvSpPr/>
          <p:nvPr/>
        </p:nvSpPr>
        <p:spPr>
          <a:xfrm>
            <a:off x="9267676" y="5626001"/>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SPARTA App (EC2)</a:t>
            </a:r>
            <a:endParaRPr lang="en-US" sz="1200" dirty="0"/>
          </a:p>
        </p:txBody>
      </p:sp>
      <p:sp>
        <p:nvSpPr>
          <p:cNvPr id="105" name="Shape 103"/>
          <p:cNvSpPr/>
          <p:nvPr/>
        </p:nvSpPr>
        <p:spPr>
          <a:xfrm>
            <a:off x="12037814" y="5530751"/>
            <a:ext cx="2893963" cy="577155"/>
          </a:xfrm>
          <a:prstGeom prst="rect">
            <a:avLst/>
          </a:prstGeom>
          <a:ln w="9525">
            <a:solidFill>
              <a:srgbClr val="CDD8E6"/>
            </a:solidFill>
            <a:prstDash val="solid"/>
          </a:ln>
        </p:spPr>
      </p:sp>
      <p:sp>
        <p:nvSpPr>
          <p:cNvPr id="106" name="Text 104"/>
          <p:cNvSpPr/>
          <p:nvPr/>
        </p:nvSpPr>
        <p:spPr>
          <a:xfrm>
            <a:off x="12161639" y="5626001"/>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Amazon Bedrock (Nova)</a:t>
            </a:r>
            <a:endParaRPr lang="en-US" sz="1200" dirty="0"/>
          </a:p>
        </p:txBody>
      </p:sp>
      <p:sp>
        <p:nvSpPr>
          <p:cNvPr id="107" name="Shape 105"/>
          <p:cNvSpPr/>
          <p:nvPr/>
        </p:nvSpPr>
        <p:spPr>
          <a:xfrm>
            <a:off x="14931777" y="5530751"/>
            <a:ext cx="2894261" cy="577155"/>
          </a:xfrm>
          <a:prstGeom prst="rect">
            <a:avLst/>
          </a:prstGeom>
          <a:ln w="9525">
            <a:solidFill>
              <a:srgbClr val="CDD8E6"/>
            </a:solidFill>
            <a:prstDash val="solid"/>
          </a:ln>
        </p:spPr>
      </p:sp>
      <p:sp>
        <p:nvSpPr>
          <p:cNvPr id="108" name="Text 106"/>
          <p:cNvSpPr/>
          <p:nvPr/>
        </p:nvSpPr>
        <p:spPr>
          <a:xfrm>
            <a:off x="15055602" y="5626001"/>
            <a:ext cx="2733438" cy="424755"/>
          </a:xfrm>
          <a:prstGeom prst="rect">
            <a:avLst/>
          </a:prstGeom>
          <a:noFill/>
          <a:ln/>
        </p:spPr>
        <p:txBody>
          <a:bodyPr wrap="square" lIns="25400" tIns="25400" rIns="25400" bIns="25400" rtlCol="0" anchor="ctr">
            <a:normAutofit/>
          </a:bodyPr>
          <a:lstStyle/>
          <a:p>
            <a:pPr algn="l" indent="0" marL="0">
              <a:lnSpc>
                <a:spcPct val="130000"/>
              </a:lnSpc>
              <a:buNone/>
            </a:pPr>
            <a:r>
              <a:rPr lang="en-US" sz="1088" dirty="0">
                <a:solidFill>
                  <a:srgbClr val="4B5563"/>
                </a:solidFill>
                <a:latin typeface="Source Sans 3" pitchFamily="34" charset="0"/>
                <a:ea typeface="Source Sans 3" pitchFamily="34" charset="-122"/>
                <a:cs typeface="Source Sans 3" pitchFamily="34" charset="-120"/>
              </a:rPr>
              <a:t>model=amazon.nova, script.py, query.sql</a:t>
            </a:r>
            <a:endParaRPr lang="en-US" sz="1088" dirty="0"/>
          </a:p>
        </p:txBody>
      </p:sp>
      <p:sp>
        <p:nvSpPr>
          <p:cNvPr id="109" name="Shape 107"/>
          <p:cNvSpPr/>
          <p:nvPr/>
        </p:nvSpPr>
        <p:spPr>
          <a:xfrm>
            <a:off x="461963" y="6107906"/>
            <a:ext cx="17364075" cy="577155"/>
          </a:xfrm>
          <a:prstGeom prst="rect">
            <a:avLst/>
          </a:prstGeom>
          <a:solidFill>
            <a:srgbClr val="DDE7F3"/>
          </a:solidFill>
          <a:ln/>
        </p:spPr>
      </p:sp>
      <p:sp>
        <p:nvSpPr>
          <p:cNvPr id="110" name="Shape 108"/>
          <p:cNvSpPr/>
          <p:nvPr/>
        </p:nvSpPr>
        <p:spPr>
          <a:xfrm>
            <a:off x="461963" y="6107906"/>
            <a:ext cx="2893963" cy="577155"/>
          </a:xfrm>
          <a:prstGeom prst="rect">
            <a:avLst/>
          </a:prstGeom>
          <a:ln w="9525">
            <a:solidFill>
              <a:srgbClr val="CDD8E6"/>
            </a:solidFill>
            <a:prstDash val="solid"/>
          </a:ln>
        </p:spPr>
      </p:sp>
      <p:sp>
        <p:nvSpPr>
          <p:cNvPr id="111" name="Text 109"/>
          <p:cNvSpPr/>
          <p:nvPr/>
        </p:nvSpPr>
        <p:spPr>
          <a:xfrm>
            <a:off x="504278" y="6203156"/>
            <a:ext cx="2809332" cy="424755"/>
          </a:xfrm>
          <a:prstGeom prst="rect">
            <a:avLst/>
          </a:prstGeom>
          <a:noFill/>
          <a:ln/>
        </p:spPr>
        <p:txBody>
          <a:bodyPr wrap="square" lIns="25400" tIns="25400" rIns="25400" bIns="25400" rtlCol="0" anchor="ctr">
            <a:normAutofit/>
          </a:bodyPr>
          <a:lstStyle/>
          <a:p>
            <a:pPr algn="ctr" indent="0" marL="0">
              <a:buNone/>
            </a:pPr>
            <a:r>
              <a:rPr lang="en-US" sz="1200" b="1" dirty="0">
                <a:solidFill>
                  <a:srgbClr val="1F3864"/>
                </a:solidFill>
                <a:latin typeface="Source Sans 3" pitchFamily="34" charset="0"/>
                <a:ea typeface="Source Sans 3" pitchFamily="34" charset="-122"/>
                <a:cs typeface="Source Sans 3" pitchFamily="34" charset="-120"/>
              </a:rPr>
              <a:t>8</a:t>
            </a:r>
            <a:endParaRPr lang="en-US" sz="1200" dirty="0"/>
          </a:p>
        </p:txBody>
      </p:sp>
      <p:sp>
        <p:nvSpPr>
          <p:cNvPr id="112" name="Shape 110"/>
          <p:cNvSpPr/>
          <p:nvPr/>
        </p:nvSpPr>
        <p:spPr>
          <a:xfrm>
            <a:off x="3355925" y="6107906"/>
            <a:ext cx="2893963" cy="577155"/>
          </a:xfrm>
          <a:prstGeom prst="rect">
            <a:avLst/>
          </a:prstGeom>
          <a:ln w="9525">
            <a:solidFill>
              <a:srgbClr val="CDD8E6"/>
            </a:solidFill>
            <a:prstDash val="solid"/>
          </a:ln>
        </p:spPr>
      </p:sp>
      <p:sp>
        <p:nvSpPr>
          <p:cNvPr id="113" name="Text 111"/>
          <p:cNvSpPr/>
          <p:nvPr/>
        </p:nvSpPr>
        <p:spPr>
          <a:xfrm>
            <a:off x="3479750" y="6203156"/>
            <a:ext cx="2733132" cy="424755"/>
          </a:xfrm>
          <a:prstGeom prst="rect">
            <a:avLst/>
          </a:prstGeom>
          <a:noFill/>
          <a:ln/>
        </p:spPr>
        <p:txBody>
          <a:bodyPr wrap="square" lIns="25400" tIns="25400" rIns="25400" bIns="25400" rtlCol="0" anchor="ctr">
            <a:normAutofit/>
          </a:bodyPr>
          <a:lstStyle/>
          <a:p>
            <a:pPr algn="l" indent="0" marL="0">
              <a:buNone/>
            </a:pPr>
            <a:r>
              <a:rPr lang="en-US" sz="1200" b="1" dirty="0">
                <a:solidFill>
                  <a:srgbClr val="243447"/>
                </a:solidFill>
                <a:latin typeface="Source Sans 3" pitchFamily="34" charset="0"/>
                <a:ea typeface="Source Sans 3" pitchFamily="34" charset="-122"/>
                <a:cs typeface="Source Sans 3" pitchFamily="34" charset="-120"/>
              </a:rPr>
              <a:t>RunCalculation</a:t>
            </a:r>
            <a:endParaRPr lang="en-US" sz="1200" dirty="0"/>
          </a:p>
        </p:txBody>
      </p:sp>
      <p:sp>
        <p:nvSpPr>
          <p:cNvPr id="114" name="Shape 112"/>
          <p:cNvSpPr/>
          <p:nvPr/>
        </p:nvSpPr>
        <p:spPr>
          <a:xfrm>
            <a:off x="6249888" y="6107906"/>
            <a:ext cx="2893963" cy="577155"/>
          </a:xfrm>
          <a:prstGeom prst="rect">
            <a:avLst/>
          </a:prstGeom>
          <a:ln w="9525">
            <a:solidFill>
              <a:srgbClr val="CDD8E6"/>
            </a:solidFill>
            <a:prstDash val="solid"/>
          </a:ln>
        </p:spPr>
      </p:sp>
      <p:sp>
        <p:nvSpPr>
          <p:cNvPr id="115" name="Text 113"/>
          <p:cNvSpPr/>
          <p:nvPr/>
        </p:nvSpPr>
        <p:spPr>
          <a:xfrm>
            <a:off x="6373713" y="6203156"/>
            <a:ext cx="2733132" cy="424755"/>
          </a:xfrm>
          <a:prstGeom prst="rect">
            <a:avLst/>
          </a:prstGeom>
          <a:noFill/>
          <a:ln/>
        </p:spPr>
        <p:txBody>
          <a:bodyPr wrap="square" lIns="25400" tIns="25400" rIns="25400" bIns="25400" rtlCol="0" anchor="ctr">
            <a:normAutofit/>
          </a:bodyPr>
          <a:lstStyle/>
          <a:p>
            <a:pPr algn="l" indent="0" marL="0">
              <a:lnSpc>
                <a:spcPct val="130000"/>
              </a:lnSpc>
              <a:buNone/>
            </a:pPr>
            <a:r>
              <a:rPr lang="en-US" sz="1200" dirty="0">
                <a:solidFill>
                  <a:srgbClr val="374151"/>
                </a:solidFill>
                <a:latin typeface="Source Sans 3" pitchFamily="34" charset="0"/>
                <a:ea typeface="Source Sans 3" pitchFamily="34" charset="-122"/>
                <a:cs typeface="Source Sans 3" pitchFamily="34" charset="-120"/>
              </a:rPr>
              <a:t>Calculation Engine runs valuation models in-process on the EC2.</a:t>
            </a:r>
            <a:endParaRPr lang="en-US" sz="1200" dirty="0"/>
          </a:p>
        </p:txBody>
      </p:sp>
      <p:sp>
        <p:nvSpPr>
          <p:cNvPr id="116" name="Shape 114"/>
          <p:cNvSpPr/>
          <p:nvPr/>
        </p:nvSpPr>
        <p:spPr>
          <a:xfrm>
            <a:off x="9143851" y="6107906"/>
            <a:ext cx="2893963" cy="577155"/>
          </a:xfrm>
          <a:prstGeom prst="rect">
            <a:avLst/>
          </a:prstGeom>
          <a:ln w="9525">
            <a:solidFill>
              <a:srgbClr val="CDD8E6"/>
            </a:solidFill>
            <a:prstDash val="solid"/>
          </a:ln>
        </p:spPr>
      </p:sp>
      <p:sp>
        <p:nvSpPr>
          <p:cNvPr id="117" name="Text 115"/>
          <p:cNvSpPr/>
          <p:nvPr/>
        </p:nvSpPr>
        <p:spPr>
          <a:xfrm>
            <a:off x="9267676" y="6203156"/>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SPARTA App (EC2)</a:t>
            </a:r>
            <a:endParaRPr lang="en-US" sz="1200" dirty="0"/>
          </a:p>
        </p:txBody>
      </p:sp>
      <p:sp>
        <p:nvSpPr>
          <p:cNvPr id="118" name="Shape 116"/>
          <p:cNvSpPr/>
          <p:nvPr/>
        </p:nvSpPr>
        <p:spPr>
          <a:xfrm>
            <a:off x="12037814" y="6107906"/>
            <a:ext cx="2893963" cy="577155"/>
          </a:xfrm>
          <a:prstGeom prst="rect">
            <a:avLst/>
          </a:prstGeom>
          <a:ln w="9525">
            <a:solidFill>
              <a:srgbClr val="CDD8E6"/>
            </a:solidFill>
            <a:prstDash val="solid"/>
          </a:ln>
        </p:spPr>
      </p:sp>
      <p:sp>
        <p:nvSpPr>
          <p:cNvPr id="119" name="Text 117"/>
          <p:cNvSpPr/>
          <p:nvPr/>
        </p:nvSpPr>
        <p:spPr>
          <a:xfrm>
            <a:off x="12161639" y="6203156"/>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SPARTA App (EC2)</a:t>
            </a:r>
            <a:endParaRPr lang="en-US" sz="1200" dirty="0"/>
          </a:p>
        </p:txBody>
      </p:sp>
      <p:sp>
        <p:nvSpPr>
          <p:cNvPr id="120" name="Shape 118"/>
          <p:cNvSpPr/>
          <p:nvPr/>
        </p:nvSpPr>
        <p:spPr>
          <a:xfrm>
            <a:off x="14931777" y="6107906"/>
            <a:ext cx="2894261" cy="577155"/>
          </a:xfrm>
          <a:prstGeom prst="rect">
            <a:avLst/>
          </a:prstGeom>
          <a:ln w="9525">
            <a:solidFill>
              <a:srgbClr val="CDD8E6"/>
            </a:solidFill>
            <a:prstDash val="solid"/>
          </a:ln>
        </p:spPr>
      </p:sp>
      <p:sp>
        <p:nvSpPr>
          <p:cNvPr id="121" name="Text 119"/>
          <p:cNvSpPr/>
          <p:nvPr/>
        </p:nvSpPr>
        <p:spPr>
          <a:xfrm>
            <a:off x="15055602" y="6203156"/>
            <a:ext cx="2733438" cy="424755"/>
          </a:xfrm>
          <a:prstGeom prst="rect">
            <a:avLst/>
          </a:prstGeom>
          <a:noFill/>
          <a:ln/>
        </p:spPr>
        <p:txBody>
          <a:bodyPr wrap="square" lIns="25400" tIns="25400" rIns="25400" bIns="25400" rtlCol="0" anchor="ctr">
            <a:normAutofit/>
          </a:bodyPr>
          <a:lstStyle/>
          <a:p>
            <a:pPr algn="l" indent="0" marL="0">
              <a:lnSpc>
                <a:spcPct val="130000"/>
              </a:lnSpc>
              <a:buNone/>
            </a:pPr>
            <a:r>
              <a:rPr lang="en-US" sz="1088" dirty="0">
                <a:solidFill>
                  <a:srgbClr val="4B5563"/>
                </a:solidFill>
                <a:latin typeface="Source Sans 3" pitchFamily="34" charset="0"/>
                <a:ea typeface="Source Sans 3" pitchFamily="34" charset="-122"/>
                <a:cs typeface="Source Sans 3" pitchFamily="34" charset="-120"/>
              </a:rPr>
              <a:t>run_id, model A / B / N</a:t>
            </a:r>
            <a:endParaRPr lang="en-US" sz="1088" dirty="0"/>
          </a:p>
        </p:txBody>
      </p:sp>
      <p:sp>
        <p:nvSpPr>
          <p:cNvPr id="122" name="Shape 120"/>
          <p:cNvSpPr/>
          <p:nvPr/>
        </p:nvSpPr>
        <p:spPr>
          <a:xfrm>
            <a:off x="461963" y="6685062"/>
            <a:ext cx="17364075" cy="577155"/>
          </a:xfrm>
          <a:prstGeom prst="rect">
            <a:avLst/>
          </a:prstGeom>
          <a:solidFill>
            <a:srgbClr val="FFFFFF"/>
          </a:solidFill>
          <a:ln/>
        </p:spPr>
      </p:sp>
      <p:sp>
        <p:nvSpPr>
          <p:cNvPr id="123" name="Shape 121"/>
          <p:cNvSpPr/>
          <p:nvPr/>
        </p:nvSpPr>
        <p:spPr>
          <a:xfrm>
            <a:off x="461963" y="6685062"/>
            <a:ext cx="2893963" cy="577155"/>
          </a:xfrm>
          <a:prstGeom prst="rect">
            <a:avLst/>
          </a:prstGeom>
          <a:ln w="9525">
            <a:solidFill>
              <a:srgbClr val="CDD8E6"/>
            </a:solidFill>
            <a:prstDash val="solid"/>
          </a:ln>
        </p:spPr>
      </p:sp>
      <p:sp>
        <p:nvSpPr>
          <p:cNvPr id="124" name="Text 122"/>
          <p:cNvSpPr/>
          <p:nvPr/>
        </p:nvSpPr>
        <p:spPr>
          <a:xfrm>
            <a:off x="504278" y="6780312"/>
            <a:ext cx="2809332" cy="424755"/>
          </a:xfrm>
          <a:prstGeom prst="rect">
            <a:avLst/>
          </a:prstGeom>
          <a:noFill/>
          <a:ln/>
        </p:spPr>
        <p:txBody>
          <a:bodyPr wrap="square" lIns="25400" tIns="25400" rIns="25400" bIns="25400" rtlCol="0" anchor="ctr">
            <a:normAutofit/>
          </a:bodyPr>
          <a:lstStyle/>
          <a:p>
            <a:pPr algn="ctr" indent="0" marL="0">
              <a:buNone/>
            </a:pPr>
            <a:r>
              <a:rPr lang="en-US" sz="1200" b="1" dirty="0">
                <a:solidFill>
                  <a:srgbClr val="1F3864"/>
                </a:solidFill>
                <a:latin typeface="Source Sans 3" pitchFamily="34" charset="0"/>
                <a:ea typeface="Source Sans 3" pitchFamily="34" charset="-122"/>
                <a:cs typeface="Source Sans 3" pitchFamily="34" charset="-120"/>
              </a:rPr>
              <a:t>9</a:t>
            </a:r>
            <a:endParaRPr lang="en-US" sz="1200" dirty="0"/>
          </a:p>
        </p:txBody>
      </p:sp>
      <p:sp>
        <p:nvSpPr>
          <p:cNvPr id="125" name="Shape 123"/>
          <p:cNvSpPr/>
          <p:nvPr/>
        </p:nvSpPr>
        <p:spPr>
          <a:xfrm>
            <a:off x="3355925" y="6685062"/>
            <a:ext cx="2893963" cy="577155"/>
          </a:xfrm>
          <a:prstGeom prst="rect">
            <a:avLst/>
          </a:prstGeom>
          <a:ln w="9525">
            <a:solidFill>
              <a:srgbClr val="CDD8E6"/>
            </a:solidFill>
            <a:prstDash val="solid"/>
          </a:ln>
        </p:spPr>
      </p:sp>
      <p:sp>
        <p:nvSpPr>
          <p:cNvPr id="126" name="Text 124"/>
          <p:cNvSpPr/>
          <p:nvPr/>
        </p:nvSpPr>
        <p:spPr>
          <a:xfrm>
            <a:off x="3479750" y="6780312"/>
            <a:ext cx="2733132" cy="424755"/>
          </a:xfrm>
          <a:prstGeom prst="rect">
            <a:avLst/>
          </a:prstGeom>
          <a:noFill/>
          <a:ln/>
        </p:spPr>
        <p:txBody>
          <a:bodyPr wrap="square" lIns="25400" tIns="25400" rIns="25400" bIns="25400" rtlCol="0" anchor="ctr">
            <a:normAutofit/>
          </a:bodyPr>
          <a:lstStyle/>
          <a:p>
            <a:pPr algn="l" indent="0" marL="0">
              <a:buNone/>
            </a:pPr>
            <a:r>
              <a:rPr lang="en-US" sz="1200" b="1" dirty="0">
                <a:solidFill>
                  <a:srgbClr val="243447"/>
                </a:solidFill>
                <a:latin typeface="Source Sans 3" pitchFamily="34" charset="0"/>
                <a:ea typeface="Source Sans 3" pitchFamily="34" charset="-122"/>
                <a:cs typeface="Source Sans 3" pitchFamily="34" charset="-120"/>
              </a:rPr>
              <a:t>PersistResults</a:t>
            </a:r>
            <a:endParaRPr lang="en-US" sz="1200" dirty="0"/>
          </a:p>
        </p:txBody>
      </p:sp>
      <p:sp>
        <p:nvSpPr>
          <p:cNvPr id="127" name="Shape 125"/>
          <p:cNvSpPr/>
          <p:nvPr/>
        </p:nvSpPr>
        <p:spPr>
          <a:xfrm>
            <a:off x="6249888" y="6685062"/>
            <a:ext cx="2893963" cy="577155"/>
          </a:xfrm>
          <a:prstGeom prst="rect">
            <a:avLst/>
          </a:prstGeom>
          <a:ln w="9525">
            <a:solidFill>
              <a:srgbClr val="CDD8E6"/>
            </a:solidFill>
            <a:prstDash val="solid"/>
          </a:ln>
        </p:spPr>
      </p:sp>
      <p:sp>
        <p:nvSpPr>
          <p:cNvPr id="128" name="Text 126"/>
          <p:cNvSpPr/>
          <p:nvPr/>
        </p:nvSpPr>
        <p:spPr>
          <a:xfrm>
            <a:off x="6373713" y="6780312"/>
            <a:ext cx="2733132" cy="424755"/>
          </a:xfrm>
          <a:prstGeom prst="rect">
            <a:avLst/>
          </a:prstGeom>
          <a:noFill/>
          <a:ln/>
        </p:spPr>
        <p:txBody>
          <a:bodyPr wrap="square" lIns="25400" tIns="25400" rIns="25400" bIns="25400" rtlCol="0" anchor="ctr">
            <a:normAutofit/>
          </a:bodyPr>
          <a:lstStyle/>
          <a:p>
            <a:pPr algn="l" indent="0" marL="0">
              <a:lnSpc>
                <a:spcPct val="130000"/>
              </a:lnSpc>
              <a:buNone/>
            </a:pPr>
            <a:r>
              <a:rPr lang="en-US" sz="1200" dirty="0">
                <a:solidFill>
                  <a:srgbClr val="374151"/>
                </a:solidFill>
                <a:latin typeface="Source Sans 3" pitchFamily="34" charset="0"/>
                <a:ea typeface="Source Sans 3" pitchFamily="34" charset="-122"/>
                <a:cs typeface="Source Sans 3" pitchFamily="34" charset="-120"/>
              </a:rPr>
              <a:t>Structured results written to RDS; output extracts written to S3.</a:t>
            </a:r>
            <a:endParaRPr lang="en-US" sz="1200" dirty="0"/>
          </a:p>
        </p:txBody>
      </p:sp>
      <p:sp>
        <p:nvSpPr>
          <p:cNvPr id="129" name="Shape 127"/>
          <p:cNvSpPr/>
          <p:nvPr/>
        </p:nvSpPr>
        <p:spPr>
          <a:xfrm>
            <a:off x="9143851" y="6685062"/>
            <a:ext cx="2893963" cy="577155"/>
          </a:xfrm>
          <a:prstGeom prst="rect">
            <a:avLst/>
          </a:prstGeom>
          <a:ln w="9525">
            <a:solidFill>
              <a:srgbClr val="CDD8E6"/>
            </a:solidFill>
            <a:prstDash val="solid"/>
          </a:ln>
        </p:spPr>
      </p:sp>
      <p:sp>
        <p:nvSpPr>
          <p:cNvPr id="130" name="Text 128"/>
          <p:cNvSpPr/>
          <p:nvPr/>
        </p:nvSpPr>
        <p:spPr>
          <a:xfrm>
            <a:off x="9267676" y="6780312"/>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SPARTA App (EC2)</a:t>
            </a:r>
            <a:endParaRPr lang="en-US" sz="1200" dirty="0"/>
          </a:p>
        </p:txBody>
      </p:sp>
      <p:sp>
        <p:nvSpPr>
          <p:cNvPr id="131" name="Shape 129"/>
          <p:cNvSpPr/>
          <p:nvPr/>
        </p:nvSpPr>
        <p:spPr>
          <a:xfrm>
            <a:off x="12037814" y="6685062"/>
            <a:ext cx="2893963" cy="577155"/>
          </a:xfrm>
          <a:prstGeom prst="rect">
            <a:avLst/>
          </a:prstGeom>
          <a:ln w="9525">
            <a:solidFill>
              <a:srgbClr val="CDD8E6"/>
            </a:solidFill>
            <a:prstDash val="solid"/>
          </a:ln>
        </p:spPr>
      </p:sp>
      <p:sp>
        <p:nvSpPr>
          <p:cNvPr id="132" name="Text 130"/>
          <p:cNvSpPr/>
          <p:nvPr/>
        </p:nvSpPr>
        <p:spPr>
          <a:xfrm>
            <a:off x="12161639" y="6780312"/>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RDS MySQL · Amazon S3</a:t>
            </a:r>
            <a:endParaRPr lang="en-US" sz="1200" dirty="0"/>
          </a:p>
        </p:txBody>
      </p:sp>
      <p:sp>
        <p:nvSpPr>
          <p:cNvPr id="133" name="Shape 131"/>
          <p:cNvSpPr/>
          <p:nvPr/>
        </p:nvSpPr>
        <p:spPr>
          <a:xfrm>
            <a:off x="14931777" y="6685062"/>
            <a:ext cx="2894261" cy="577155"/>
          </a:xfrm>
          <a:prstGeom prst="rect">
            <a:avLst/>
          </a:prstGeom>
          <a:ln w="9525">
            <a:solidFill>
              <a:srgbClr val="CDD8E6"/>
            </a:solidFill>
            <a:prstDash val="solid"/>
          </a:ln>
        </p:spPr>
      </p:sp>
      <p:sp>
        <p:nvSpPr>
          <p:cNvPr id="134" name="Text 132"/>
          <p:cNvSpPr/>
          <p:nvPr/>
        </p:nvSpPr>
        <p:spPr>
          <a:xfrm>
            <a:off x="15055602" y="6780312"/>
            <a:ext cx="2733438" cy="424755"/>
          </a:xfrm>
          <a:prstGeom prst="rect">
            <a:avLst/>
          </a:prstGeom>
          <a:noFill/>
          <a:ln/>
        </p:spPr>
        <p:txBody>
          <a:bodyPr wrap="square" lIns="25400" tIns="25400" rIns="25400" bIns="25400" rtlCol="0" anchor="ctr">
            <a:normAutofit/>
          </a:bodyPr>
          <a:lstStyle/>
          <a:p>
            <a:pPr algn="l" indent="0" marL="0">
              <a:lnSpc>
                <a:spcPct val="130000"/>
              </a:lnSpc>
              <a:buNone/>
            </a:pPr>
            <a:r>
              <a:rPr lang="en-US" sz="1088" dirty="0">
                <a:solidFill>
                  <a:srgbClr val="4B5563"/>
                </a:solidFill>
                <a:latin typeface="Source Sans 3" pitchFamily="34" charset="0"/>
                <a:ea typeface="Source Sans 3" pitchFamily="34" charset="-122"/>
                <a:cs typeface="Source Sans 3" pitchFamily="34" charset="-120"/>
              </a:rPr>
              <a:t>results table, results_{run_id}.csv</a:t>
            </a:r>
            <a:endParaRPr lang="en-US" sz="1088" dirty="0"/>
          </a:p>
        </p:txBody>
      </p:sp>
      <p:sp>
        <p:nvSpPr>
          <p:cNvPr id="135" name="Shape 133"/>
          <p:cNvSpPr/>
          <p:nvPr/>
        </p:nvSpPr>
        <p:spPr>
          <a:xfrm>
            <a:off x="461963" y="7262217"/>
            <a:ext cx="17364075" cy="577155"/>
          </a:xfrm>
          <a:prstGeom prst="rect">
            <a:avLst/>
          </a:prstGeom>
          <a:solidFill>
            <a:srgbClr val="DDE7F3"/>
          </a:solidFill>
          <a:ln/>
        </p:spPr>
      </p:sp>
      <p:sp>
        <p:nvSpPr>
          <p:cNvPr id="136" name="Shape 134"/>
          <p:cNvSpPr/>
          <p:nvPr/>
        </p:nvSpPr>
        <p:spPr>
          <a:xfrm>
            <a:off x="461963" y="7262217"/>
            <a:ext cx="2893963" cy="577155"/>
          </a:xfrm>
          <a:prstGeom prst="rect">
            <a:avLst/>
          </a:prstGeom>
          <a:ln w="9525">
            <a:solidFill>
              <a:srgbClr val="CDD8E6"/>
            </a:solidFill>
            <a:prstDash val="solid"/>
          </a:ln>
        </p:spPr>
      </p:sp>
      <p:sp>
        <p:nvSpPr>
          <p:cNvPr id="137" name="Text 135"/>
          <p:cNvSpPr/>
          <p:nvPr/>
        </p:nvSpPr>
        <p:spPr>
          <a:xfrm>
            <a:off x="504278" y="7357467"/>
            <a:ext cx="2809332" cy="424755"/>
          </a:xfrm>
          <a:prstGeom prst="rect">
            <a:avLst/>
          </a:prstGeom>
          <a:noFill/>
          <a:ln/>
        </p:spPr>
        <p:txBody>
          <a:bodyPr wrap="square" lIns="25400" tIns="25400" rIns="25400" bIns="25400" rtlCol="0" anchor="ctr">
            <a:normAutofit/>
          </a:bodyPr>
          <a:lstStyle/>
          <a:p>
            <a:pPr algn="ctr" indent="0" marL="0">
              <a:buNone/>
            </a:pPr>
            <a:r>
              <a:rPr lang="en-US" sz="1200" b="1" dirty="0">
                <a:solidFill>
                  <a:srgbClr val="1F3864"/>
                </a:solidFill>
                <a:latin typeface="Source Sans 3" pitchFamily="34" charset="0"/>
                <a:ea typeface="Source Sans 3" pitchFamily="34" charset="-122"/>
                <a:cs typeface="Source Sans 3" pitchFamily="34" charset="-120"/>
              </a:rPr>
              <a:t>10</a:t>
            </a:r>
            <a:endParaRPr lang="en-US" sz="1200" dirty="0"/>
          </a:p>
        </p:txBody>
      </p:sp>
      <p:sp>
        <p:nvSpPr>
          <p:cNvPr id="138" name="Shape 136"/>
          <p:cNvSpPr/>
          <p:nvPr/>
        </p:nvSpPr>
        <p:spPr>
          <a:xfrm>
            <a:off x="3355925" y="7262217"/>
            <a:ext cx="2893963" cy="577155"/>
          </a:xfrm>
          <a:prstGeom prst="rect">
            <a:avLst/>
          </a:prstGeom>
          <a:ln w="9525">
            <a:solidFill>
              <a:srgbClr val="CDD8E6"/>
            </a:solidFill>
            <a:prstDash val="solid"/>
          </a:ln>
        </p:spPr>
      </p:sp>
      <p:sp>
        <p:nvSpPr>
          <p:cNvPr id="139" name="Text 137"/>
          <p:cNvSpPr/>
          <p:nvPr/>
        </p:nvSpPr>
        <p:spPr>
          <a:xfrm>
            <a:off x="3479750" y="7357467"/>
            <a:ext cx="2733132" cy="424755"/>
          </a:xfrm>
          <a:prstGeom prst="rect">
            <a:avLst/>
          </a:prstGeom>
          <a:noFill/>
          <a:ln/>
        </p:spPr>
        <p:txBody>
          <a:bodyPr wrap="square" lIns="25400" tIns="25400" rIns="25400" bIns="25400" rtlCol="0" anchor="ctr">
            <a:normAutofit/>
          </a:bodyPr>
          <a:lstStyle/>
          <a:p>
            <a:pPr algn="l" indent="0" marL="0">
              <a:buNone/>
            </a:pPr>
            <a:r>
              <a:rPr lang="en-US" sz="1200" b="1" dirty="0">
                <a:solidFill>
                  <a:srgbClr val="243447"/>
                </a:solidFill>
                <a:latin typeface="Source Sans 3" pitchFamily="34" charset="0"/>
                <a:ea typeface="Source Sans 3" pitchFamily="34" charset="-122"/>
                <a:cs typeface="Source Sans 3" pitchFamily="34" charset="-120"/>
              </a:rPr>
              <a:t>CompareVsLegacy</a:t>
            </a:r>
            <a:endParaRPr lang="en-US" sz="1200" dirty="0"/>
          </a:p>
        </p:txBody>
      </p:sp>
      <p:sp>
        <p:nvSpPr>
          <p:cNvPr id="140" name="Shape 138"/>
          <p:cNvSpPr/>
          <p:nvPr/>
        </p:nvSpPr>
        <p:spPr>
          <a:xfrm>
            <a:off x="6249888" y="7262217"/>
            <a:ext cx="2893963" cy="577155"/>
          </a:xfrm>
          <a:prstGeom prst="rect">
            <a:avLst/>
          </a:prstGeom>
          <a:ln w="9525">
            <a:solidFill>
              <a:srgbClr val="CDD8E6"/>
            </a:solidFill>
            <a:prstDash val="solid"/>
          </a:ln>
        </p:spPr>
      </p:sp>
      <p:sp>
        <p:nvSpPr>
          <p:cNvPr id="141" name="Text 139"/>
          <p:cNvSpPr/>
          <p:nvPr/>
        </p:nvSpPr>
        <p:spPr>
          <a:xfrm>
            <a:off x="6373713" y="7357467"/>
            <a:ext cx="2733132" cy="424755"/>
          </a:xfrm>
          <a:prstGeom prst="rect">
            <a:avLst/>
          </a:prstGeom>
          <a:noFill/>
          <a:ln/>
        </p:spPr>
        <p:txBody>
          <a:bodyPr wrap="square" lIns="25400" tIns="25400" rIns="25400" bIns="25400" rtlCol="0" anchor="ctr">
            <a:normAutofit/>
          </a:bodyPr>
          <a:lstStyle/>
          <a:p>
            <a:pPr algn="l" indent="0" marL="0">
              <a:lnSpc>
                <a:spcPct val="130000"/>
              </a:lnSpc>
              <a:buNone/>
            </a:pPr>
            <a:r>
              <a:rPr lang="en-US" sz="1200" dirty="0">
                <a:solidFill>
                  <a:srgbClr val="374151"/>
                </a:solidFill>
                <a:latin typeface="Source Sans 3" pitchFamily="34" charset="0"/>
                <a:ea typeface="Source Sans 3" pitchFamily="34" charset="-122"/>
                <a:cs typeface="Source Sans 3" pitchFamily="34" charset="-120"/>
              </a:rPr>
              <a:t>Comparison Tool checks SPARTA output against the legacy baseline.</a:t>
            </a:r>
            <a:endParaRPr lang="en-US" sz="1200" dirty="0"/>
          </a:p>
        </p:txBody>
      </p:sp>
      <p:sp>
        <p:nvSpPr>
          <p:cNvPr id="142" name="Shape 140"/>
          <p:cNvSpPr/>
          <p:nvPr/>
        </p:nvSpPr>
        <p:spPr>
          <a:xfrm>
            <a:off x="9143851" y="7262217"/>
            <a:ext cx="2893963" cy="577155"/>
          </a:xfrm>
          <a:prstGeom prst="rect">
            <a:avLst/>
          </a:prstGeom>
          <a:ln w="9525">
            <a:solidFill>
              <a:srgbClr val="CDD8E6"/>
            </a:solidFill>
            <a:prstDash val="solid"/>
          </a:ln>
        </p:spPr>
      </p:sp>
      <p:sp>
        <p:nvSpPr>
          <p:cNvPr id="143" name="Text 141"/>
          <p:cNvSpPr/>
          <p:nvPr/>
        </p:nvSpPr>
        <p:spPr>
          <a:xfrm>
            <a:off x="9267676" y="7357467"/>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SPARTA App (EC2)</a:t>
            </a:r>
            <a:endParaRPr lang="en-US" sz="1200" dirty="0"/>
          </a:p>
        </p:txBody>
      </p:sp>
      <p:sp>
        <p:nvSpPr>
          <p:cNvPr id="144" name="Shape 142"/>
          <p:cNvSpPr/>
          <p:nvPr/>
        </p:nvSpPr>
        <p:spPr>
          <a:xfrm>
            <a:off x="12037814" y="7262217"/>
            <a:ext cx="2893963" cy="577155"/>
          </a:xfrm>
          <a:prstGeom prst="rect">
            <a:avLst/>
          </a:prstGeom>
          <a:ln w="9525">
            <a:solidFill>
              <a:srgbClr val="CDD8E6"/>
            </a:solidFill>
            <a:prstDash val="solid"/>
          </a:ln>
        </p:spPr>
      </p:sp>
      <p:sp>
        <p:nvSpPr>
          <p:cNvPr id="145" name="Text 143"/>
          <p:cNvSpPr/>
          <p:nvPr/>
        </p:nvSpPr>
        <p:spPr>
          <a:xfrm>
            <a:off x="12161639" y="7357467"/>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Amazon S3 · RDS</a:t>
            </a:r>
            <a:endParaRPr lang="en-US" sz="1200" dirty="0"/>
          </a:p>
        </p:txBody>
      </p:sp>
      <p:sp>
        <p:nvSpPr>
          <p:cNvPr id="146" name="Shape 144"/>
          <p:cNvSpPr/>
          <p:nvPr/>
        </p:nvSpPr>
        <p:spPr>
          <a:xfrm>
            <a:off x="14931777" y="7262217"/>
            <a:ext cx="2894261" cy="577155"/>
          </a:xfrm>
          <a:prstGeom prst="rect">
            <a:avLst/>
          </a:prstGeom>
          <a:ln w="9525">
            <a:solidFill>
              <a:srgbClr val="CDD8E6"/>
            </a:solidFill>
            <a:prstDash val="solid"/>
          </a:ln>
        </p:spPr>
      </p:sp>
      <p:sp>
        <p:nvSpPr>
          <p:cNvPr id="147" name="Text 145"/>
          <p:cNvSpPr/>
          <p:nvPr/>
        </p:nvSpPr>
        <p:spPr>
          <a:xfrm>
            <a:off x="15055602" y="7357467"/>
            <a:ext cx="2733438" cy="424755"/>
          </a:xfrm>
          <a:prstGeom prst="rect">
            <a:avLst/>
          </a:prstGeom>
          <a:noFill/>
          <a:ln/>
        </p:spPr>
        <p:txBody>
          <a:bodyPr wrap="square" lIns="25400" tIns="25400" rIns="25400" bIns="25400" rtlCol="0" anchor="ctr">
            <a:normAutofit/>
          </a:bodyPr>
          <a:lstStyle/>
          <a:p>
            <a:pPr algn="l" indent="0" marL="0">
              <a:lnSpc>
                <a:spcPct val="130000"/>
              </a:lnSpc>
              <a:buNone/>
            </a:pPr>
            <a:r>
              <a:rPr lang="en-US" sz="1088" dirty="0">
                <a:solidFill>
                  <a:srgbClr val="4B5563"/>
                </a:solidFill>
                <a:latin typeface="Source Sans 3" pitchFamily="34" charset="0"/>
                <a:ea typeface="Source Sans 3" pitchFamily="34" charset="-122"/>
                <a:cs typeface="Source Sans 3" pitchFamily="34" charset="-120"/>
              </a:rPr>
              <a:t>variance_report.xlsx, diff summary</a:t>
            </a:r>
            <a:endParaRPr lang="en-US" sz="1088" dirty="0"/>
          </a:p>
        </p:txBody>
      </p:sp>
      <p:sp>
        <p:nvSpPr>
          <p:cNvPr id="148" name="Shape 146"/>
          <p:cNvSpPr/>
          <p:nvPr/>
        </p:nvSpPr>
        <p:spPr>
          <a:xfrm>
            <a:off x="461963" y="7839373"/>
            <a:ext cx="17364075" cy="577155"/>
          </a:xfrm>
          <a:prstGeom prst="rect">
            <a:avLst/>
          </a:prstGeom>
          <a:solidFill>
            <a:srgbClr val="FFFFFF"/>
          </a:solidFill>
          <a:ln/>
        </p:spPr>
      </p:sp>
      <p:sp>
        <p:nvSpPr>
          <p:cNvPr id="149" name="Shape 147"/>
          <p:cNvSpPr/>
          <p:nvPr/>
        </p:nvSpPr>
        <p:spPr>
          <a:xfrm>
            <a:off x="461963" y="7839373"/>
            <a:ext cx="2893963" cy="577155"/>
          </a:xfrm>
          <a:prstGeom prst="rect">
            <a:avLst/>
          </a:prstGeom>
          <a:ln w="9525">
            <a:solidFill>
              <a:srgbClr val="CDD8E6"/>
            </a:solidFill>
            <a:prstDash val="solid"/>
          </a:ln>
        </p:spPr>
      </p:sp>
      <p:sp>
        <p:nvSpPr>
          <p:cNvPr id="150" name="Text 148"/>
          <p:cNvSpPr/>
          <p:nvPr/>
        </p:nvSpPr>
        <p:spPr>
          <a:xfrm>
            <a:off x="504278" y="7934623"/>
            <a:ext cx="2809332" cy="424755"/>
          </a:xfrm>
          <a:prstGeom prst="rect">
            <a:avLst/>
          </a:prstGeom>
          <a:noFill/>
          <a:ln/>
        </p:spPr>
        <p:txBody>
          <a:bodyPr wrap="square" lIns="25400" tIns="25400" rIns="25400" bIns="25400" rtlCol="0" anchor="ctr">
            <a:normAutofit/>
          </a:bodyPr>
          <a:lstStyle/>
          <a:p>
            <a:pPr algn="ctr" indent="0" marL="0">
              <a:buNone/>
            </a:pPr>
            <a:r>
              <a:rPr lang="en-US" sz="1200" b="1" dirty="0">
                <a:solidFill>
                  <a:srgbClr val="1F3864"/>
                </a:solidFill>
                <a:latin typeface="Source Sans 3" pitchFamily="34" charset="0"/>
                <a:ea typeface="Source Sans 3" pitchFamily="34" charset="-122"/>
                <a:cs typeface="Source Sans 3" pitchFamily="34" charset="-120"/>
              </a:rPr>
              <a:t>11</a:t>
            </a:r>
            <a:endParaRPr lang="en-US" sz="1200" dirty="0"/>
          </a:p>
        </p:txBody>
      </p:sp>
      <p:sp>
        <p:nvSpPr>
          <p:cNvPr id="151" name="Shape 149"/>
          <p:cNvSpPr/>
          <p:nvPr/>
        </p:nvSpPr>
        <p:spPr>
          <a:xfrm>
            <a:off x="3355925" y="7839373"/>
            <a:ext cx="2893963" cy="577155"/>
          </a:xfrm>
          <a:prstGeom prst="rect">
            <a:avLst/>
          </a:prstGeom>
          <a:ln w="9525">
            <a:solidFill>
              <a:srgbClr val="CDD8E6"/>
            </a:solidFill>
            <a:prstDash val="solid"/>
          </a:ln>
        </p:spPr>
      </p:sp>
      <p:sp>
        <p:nvSpPr>
          <p:cNvPr id="152" name="Text 150"/>
          <p:cNvSpPr/>
          <p:nvPr/>
        </p:nvSpPr>
        <p:spPr>
          <a:xfrm>
            <a:off x="3479750" y="7934623"/>
            <a:ext cx="2733132" cy="424755"/>
          </a:xfrm>
          <a:prstGeom prst="rect">
            <a:avLst/>
          </a:prstGeom>
          <a:noFill/>
          <a:ln/>
        </p:spPr>
        <p:txBody>
          <a:bodyPr wrap="square" lIns="25400" tIns="25400" rIns="25400" bIns="25400" rtlCol="0" anchor="ctr">
            <a:normAutofit/>
          </a:bodyPr>
          <a:lstStyle/>
          <a:p>
            <a:pPr algn="l" indent="0" marL="0">
              <a:buNone/>
            </a:pPr>
            <a:r>
              <a:rPr lang="en-US" sz="1200" b="1" dirty="0">
                <a:solidFill>
                  <a:srgbClr val="243447"/>
                </a:solidFill>
                <a:latin typeface="Source Sans 3" pitchFamily="34" charset="0"/>
                <a:ea typeface="Source Sans 3" pitchFamily="34" charset="-122"/>
                <a:cs typeface="Source Sans 3" pitchFamily="34" charset="-120"/>
              </a:rPr>
              <a:t>EmailResults</a:t>
            </a:r>
            <a:endParaRPr lang="en-US" sz="1200" dirty="0"/>
          </a:p>
        </p:txBody>
      </p:sp>
      <p:sp>
        <p:nvSpPr>
          <p:cNvPr id="153" name="Shape 151"/>
          <p:cNvSpPr/>
          <p:nvPr/>
        </p:nvSpPr>
        <p:spPr>
          <a:xfrm>
            <a:off x="6249888" y="7839373"/>
            <a:ext cx="2893963" cy="577155"/>
          </a:xfrm>
          <a:prstGeom prst="rect">
            <a:avLst/>
          </a:prstGeom>
          <a:ln w="9525">
            <a:solidFill>
              <a:srgbClr val="CDD8E6"/>
            </a:solidFill>
            <a:prstDash val="solid"/>
          </a:ln>
        </p:spPr>
      </p:sp>
      <p:sp>
        <p:nvSpPr>
          <p:cNvPr id="154" name="Text 152"/>
          <p:cNvSpPr/>
          <p:nvPr/>
        </p:nvSpPr>
        <p:spPr>
          <a:xfrm>
            <a:off x="6373713" y="7934623"/>
            <a:ext cx="2733132" cy="424755"/>
          </a:xfrm>
          <a:prstGeom prst="rect">
            <a:avLst/>
          </a:prstGeom>
          <a:noFill/>
          <a:ln/>
        </p:spPr>
        <p:txBody>
          <a:bodyPr wrap="square" lIns="25400" tIns="25400" rIns="25400" bIns="25400" rtlCol="0" anchor="ctr">
            <a:normAutofit/>
          </a:bodyPr>
          <a:lstStyle/>
          <a:p>
            <a:pPr algn="l" indent="0" marL="0">
              <a:lnSpc>
                <a:spcPct val="130000"/>
              </a:lnSpc>
              <a:buNone/>
            </a:pPr>
            <a:r>
              <a:rPr lang="en-US" sz="1200" dirty="0">
                <a:solidFill>
                  <a:srgbClr val="374151"/>
                </a:solidFill>
                <a:latin typeface="Source Sans 3" pitchFamily="34" charset="0"/>
                <a:ea typeface="Source Sans 3" pitchFamily="34" charset="-122"/>
                <a:cs typeface="Source Sans 3" pitchFamily="34" charset="-120"/>
              </a:rPr>
              <a:t>Run summary &amp; variance report emailed to the business mailbox group.</a:t>
            </a:r>
            <a:endParaRPr lang="en-US" sz="1200" dirty="0"/>
          </a:p>
        </p:txBody>
      </p:sp>
      <p:sp>
        <p:nvSpPr>
          <p:cNvPr id="155" name="Shape 153"/>
          <p:cNvSpPr/>
          <p:nvPr/>
        </p:nvSpPr>
        <p:spPr>
          <a:xfrm>
            <a:off x="9143851" y="7839373"/>
            <a:ext cx="2893963" cy="577155"/>
          </a:xfrm>
          <a:prstGeom prst="rect">
            <a:avLst/>
          </a:prstGeom>
          <a:ln w="9525">
            <a:solidFill>
              <a:srgbClr val="CDD8E6"/>
            </a:solidFill>
            <a:prstDash val="solid"/>
          </a:ln>
        </p:spPr>
      </p:sp>
      <p:sp>
        <p:nvSpPr>
          <p:cNvPr id="156" name="Text 154"/>
          <p:cNvSpPr/>
          <p:nvPr/>
        </p:nvSpPr>
        <p:spPr>
          <a:xfrm>
            <a:off x="9267676" y="7934623"/>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SPARTA App (EC2)</a:t>
            </a:r>
            <a:endParaRPr lang="en-US" sz="1200" dirty="0"/>
          </a:p>
        </p:txBody>
      </p:sp>
      <p:sp>
        <p:nvSpPr>
          <p:cNvPr id="157" name="Shape 155"/>
          <p:cNvSpPr/>
          <p:nvPr/>
        </p:nvSpPr>
        <p:spPr>
          <a:xfrm>
            <a:off x="12037814" y="7839373"/>
            <a:ext cx="2893963" cy="577155"/>
          </a:xfrm>
          <a:prstGeom prst="rect">
            <a:avLst/>
          </a:prstGeom>
          <a:ln w="9525">
            <a:solidFill>
              <a:srgbClr val="CDD8E6"/>
            </a:solidFill>
            <a:prstDash val="solid"/>
          </a:ln>
        </p:spPr>
      </p:sp>
      <p:sp>
        <p:nvSpPr>
          <p:cNvPr id="158" name="Text 156"/>
          <p:cNvSpPr/>
          <p:nvPr/>
        </p:nvSpPr>
        <p:spPr>
          <a:xfrm>
            <a:off x="12161639" y="7934623"/>
            <a:ext cx="2733132" cy="424755"/>
          </a:xfrm>
          <a:prstGeom prst="rect">
            <a:avLst/>
          </a:prstGeom>
          <a:noFill/>
          <a:ln/>
        </p:spPr>
        <p:txBody>
          <a:bodyPr wrap="square" lIns="25400" tIns="25400" rIns="25400" bIns="25400" rtlCol="0" anchor="ctr">
            <a:normAutofit/>
          </a:bodyPr>
          <a:lstStyle/>
          <a:p>
            <a:pPr algn="l" indent="0" marL="0">
              <a:buNone/>
            </a:pPr>
            <a:r>
              <a:rPr lang="en-US" sz="1200" dirty="0">
                <a:solidFill>
                  <a:srgbClr val="374151"/>
                </a:solidFill>
                <a:latin typeface="Source Sans 3" pitchFamily="34" charset="0"/>
                <a:ea typeface="Source Sans 3" pitchFamily="34" charset="-122"/>
                <a:cs typeface="Source Sans 3" pitchFamily="34" charset="-120"/>
              </a:rPr>
              <a:t>Amazon SES → Users</a:t>
            </a:r>
            <a:endParaRPr lang="en-US" sz="1200" dirty="0"/>
          </a:p>
        </p:txBody>
      </p:sp>
      <p:sp>
        <p:nvSpPr>
          <p:cNvPr id="159" name="Shape 157"/>
          <p:cNvSpPr/>
          <p:nvPr/>
        </p:nvSpPr>
        <p:spPr>
          <a:xfrm>
            <a:off x="14931777" y="7839373"/>
            <a:ext cx="2894261" cy="577155"/>
          </a:xfrm>
          <a:prstGeom prst="rect">
            <a:avLst/>
          </a:prstGeom>
          <a:ln w="9525">
            <a:solidFill>
              <a:srgbClr val="CDD8E6"/>
            </a:solidFill>
            <a:prstDash val="solid"/>
          </a:ln>
        </p:spPr>
      </p:sp>
      <p:sp>
        <p:nvSpPr>
          <p:cNvPr id="160" name="Text 158"/>
          <p:cNvSpPr/>
          <p:nvPr/>
        </p:nvSpPr>
        <p:spPr>
          <a:xfrm>
            <a:off x="15055602" y="7934623"/>
            <a:ext cx="2733438" cy="424755"/>
          </a:xfrm>
          <a:prstGeom prst="rect">
            <a:avLst/>
          </a:prstGeom>
          <a:noFill/>
          <a:ln/>
        </p:spPr>
        <p:txBody>
          <a:bodyPr wrap="square" lIns="25400" tIns="25400" rIns="25400" bIns="25400" rtlCol="0" anchor="ctr">
            <a:normAutofit/>
          </a:bodyPr>
          <a:lstStyle/>
          <a:p>
            <a:pPr algn="l" indent="0" marL="0">
              <a:lnSpc>
                <a:spcPct val="130000"/>
              </a:lnSpc>
              <a:buNone/>
            </a:pPr>
            <a:r>
              <a:rPr lang="en-US" sz="1088" dirty="0">
                <a:solidFill>
                  <a:srgbClr val="4B5563"/>
                </a:solidFill>
                <a:latin typeface="Source Sans 3" pitchFamily="34" charset="0"/>
                <a:ea typeface="Source Sans 3" pitchFamily="34" charset="-122"/>
                <a:cs typeface="Source Sans 3" pitchFamily="34" charset="-120"/>
              </a:rPr>
              <a:t>run summary, report link, status</a:t>
            </a:r>
            <a:endParaRPr lang="en-US" sz="1088" dirty="0"/>
          </a:p>
        </p:txBody>
      </p:sp>
      <p:sp>
        <p:nvSpPr>
          <p:cNvPr id="161" name="Text 159"/>
          <p:cNvSpPr/>
          <p:nvPr/>
        </p:nvSpPr>
        <p:spPr>
          <a:xfrm>
            <a:off x="457200" y="9944100"/>
            <a:ext cx="1369606" cy="209550"/>
          </a:xfrm>
          <a:prstGeom prst="rect">
            <a:avLst/>
          </a:prstGeom>
          <a:noFill/>
          <a:ln/>
        </p:spPr>
        <p:txBody>
          <a:bodyPr wrap="square" lIns="25400" tIns="25400" rIns="25400" bIns="25400" rtlCol="0" anchor="t">
            <a:normAutofit/>
          </a:bodyPr>
          <a:lstStyle/>
          <a:p>
            <a:pPr algn="l" indent="0" marL="0">
              <a:buNone/>
            </a:pPr>
            <a:r>
              <a:rPr lang="en-US" sz="975" b="1" spc="30" kern="0" dirty="0">
                <a:solidFill>
                  <a:srgbClr val="9AA6B2"/>
                </a:solidFill>
                <a:latin typeface="Source Sans 3" pitchFamily="34" charset="0"/>
                <a:ea typeface="Source Sans 3" pitchFamily="34" charset="-122"/>
                <a:cs typeface="Source Sans 3" pitchFamily="34" charset="-120"/>
              </a:rPr>
              <a:t>INTERNAL DOCUMENT</a:t>
            </a:r>
            <a:endParaRPr lang="en-US" sz="975" dirty="0"/>
          </a:p>
        </p:txBody>
      </p:sp>
      <p:sp>
        <p:nvSpPr>
          <p:cNvPr id="162" name="Text 160"/>
          <p:cNvSpPr/>
          <p:nvPr/>
        </p:nvSpPr>
        <p:spPr>
          <a:xfrm>
            <a:off x="7799487" y="9944100"/>
            <a:ext cx="2957929" cy="209550"/>
          </a:xfrm>
          <a:prstGeom prst="rect">
            <a:avLst/>
          </a:prstGeom>
          <a:noFill/>
          <a:ln/>
        </p:spPr>
        <p:txBody>
          <a:bodyPr wrap="square" lIns="25400" tIns="25400" rIns="25400" bIns="25400" rtlCol="0" anchor="t">
            <a:normAutofit/>
          </a:bodyPr>
          <a:lstStyle/>
          <a:p>
            <a:pPr algn="l" indent="0" marL="0">
              <a:buNone/>
            </a:pPr>
            <a:r>
              <a:rPr lang="en-US" sz="975" dirty="0">
                <a:solidFill>
                  <a:srgbClr val="9AA6B2"/>
                </a:solidFill>
                <a:latin typeface="Source Sans 3" pitchFamily="34" charset="0"/>
                <a:ea typeface="Source Sans 3" pitchFamily="34" charset="-122"/>
                <a:cs typeface="Source Sans 3" pitchFamily="34" charset="-120"/>
              </a:rPr>
              <a:t>© 2025 EXL Service Holdings, Inc. All rights reserved.</a:t>
            </a:r>
            <a:endParaRPr lang="en-US" sz="975" dirty="0"/>
          </a:p>
        </p:txBody>
      </p:sp>
      <p:sp>
        <p:nvSpPr>
          <p:cNvPr id="163" name="Text 161"/>
          <p:cNvSpPr/>
          <p:nvPr/>
        </p:nvSpPr>
        <p:spPr>
          <a:xfrm>
            <a:off x="17515582" y="9886950"/>
            <a:ext cx="391418" cy="304800"/>
          </a:xfrm>
          <a:prstGeom prst="rect">
            <a:avLst/>
          </a:prstGeom>
          <a:noFill/>
          <a:ln/>
        </p:spPr>
        <p:txBody>
          <a:bodyPr wrap="square" lIns="25400" tIns="25400" rIns="25400" bIns="25400" rtlCol="0" anchor="t">
            <a:normAutofit/>
          </a:bodyPr>
          <a:lstStyle/>
          <a:p>
            <a:pPr algn="l" indent="0" marL="0">
              <a:buNone/>
            </a:pPr>
            <a:r>
              <a:rPr lang="en-US" sz="1500" b="1" dirty="0">
                <a:solidFill>
                  <a:srgbClr val="ED7100"/>
                </a:solidFill>
                <a:latin typeface="Source Sans 3" pitchFamily="34" charset="0"/>
                <a:ea typeface="Source Sans 3" pitchFamily="34" charset="-122"/>
                <a:cs typeface="Source Sans 3" pitchFamily="34" charset="-120"/>
              </a:rPr>
              <a:t>EXL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2026-06-25T10:29:55Z</dcterms:created>
  <dcterms:modified xsi:type="dcterms:W3CDTF">2026-06-25T10:29:55Z</dcterms:modified>
</cp:coreProperties>
</file>