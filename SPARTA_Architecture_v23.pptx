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image" Target="../media/image-1-49.png"/><Relationship Id="rId50" Type="http://schemas.openxmlformats.org/officeDocument/2006/relationships/image" Target="../media/image-1-50.svg"/><Relationship Id="rId51" Type="http://schemas.openxmlformats.org/officeDocument/2006/relationships/image" Target="../media/image-1-51.png"/><Relationship Id="rId52" Type="http://schemas.openxmlformats.org/officeDocument/2006/relationships/image" Target="../media/image-1-52.svg"/><Relationship Id="rId53" Type="http://schemas.openxmlformats.org/officeDocument/2006/relationships/image" Target="../media/image-1-53.png"/><Relationship Id="rId54" Type="http://schemas.openxmlformats.org/officeDocument/2006/relationships/image" Target="../media/image-1-54.svg"/><Relationship Id="rId55" Type="http://schemas.openxmlformats.org/officeDocument/2006/relationships/image" Target="../media/image-1-55.png"/><Relationship Id="rId56" Type="http://schemas.openxmlformats.org/officeDocument/2006/relationships/image" Target="../media/image-1-56.svg"/><Relationship Id="rId57" Type="http://schemas.openxmlformats.org/officeDocument/2006/relationships/image" Target="../media/image-1-57.png"/><Relationship Id="rId58" Type="http://schemas.openxmlformats.org/officeDocument/2006/relationships/image" Target="../media/image-1-58.svg"/><Relationship Id="rId59" Type="http://schemas.openxmlformats.org/officeDocument/2006/relationships/image" Target="../media/image-1-59.png"/><Relationship Id="rId60" Type="http://schemas.openxmlformats.org/officeDocument/2006/relationships/image" Target="../media/image-1-60.svg"/><Relationship Id="rId61" Type="http://schemas.openxmlformats.org/officeDocument/2006/relationships/image" Target="../media/image-1-61.png"/><Relationship Id="rId62" Type="http://schemas.openxmlformats.org/officeDocument/2006/relationships/image" Target="../media/image-1-62.svg"/><Relationship Id="rId63" Type="http://schemas.openxmlformats.org/officeDocument/2006/relationships/image" Target="../media/image-1-63.png"/><Relationship Id="rId64" Type="http://schemas.openxmlformats.org/officeDocument/2006/relationships/image" Target="../media/image-1-64.svg"/><Relationship Id="rId65" Type="http://schemas.openxmlformats.org/officeDocument/2006/relationships/image" Target="../media/image-1-65.png"/><Relationship Id="rId66" Type="http://schemas.openxmlformats.org/officeDocument/2006/relationships/image" Target="../media/image-1-66.svg"/><Relationship Id="rId67" Type="http://schemas.openxmlformats.org/officeDocument/2006/relationships/image" Target="../media/image-1-67.png"/><Relationship Id="rId68" Type="http://schemas.openxmlformats.org/officeDocument/2006/relationships/image" Target="../media/image-1-68.svg"/><Relationship Id="rId69" Type="http://schemas.openxmlformats.org/officeDocument/2006/relationships/image" Target="../media/image-1-69.png"/><Relationship Id="rId70" Type="http://schemas.openxmlformats.org/officeDocument/2006/relationships/image" Target="../media/image-1-70.svg"/><Relationship Id="rId71" Type="http://schemas.openxmlformats.org/officeDocument/2006/relationships/image" Target="../media/image-1-71.png"/><Relationship Id="rId72" Type="http://schemas.openxmlformats.org/officeDocument/2006/relationships/image" Target="../media/image-1-72.svg"/><Relationship Id="rId73" Type="http://schemas.openxmlformats.org/officeDocument/2006/relationships/image" Target="../media/image-1-73.png"/><Relationship Id="rId74" Type="http://schemas.openxmlformats.org/officeDocument/2006/relationships/image" Target="../media/image-1-74.svg"/><Relationship Id="rId75" Type="http://schemas.openxmlformats.org/officeDocument/2006/relationships/image" Target="../media/image-1-75.png"/><Relationship Id="rId76" Type="http://schemas.openxmlformats.org/officeDocument/2006/relationships/image" Target="../media/image-1-76.svg"/><Relationship Id="rId77" Type="http://schemas.openxmlformats.org/officeDocument/2006/relationships/image" Target="../media/image-1-77.png"/><Relationship Id="rId78" Type="http://schemas.openxmlformats.org/officeDocument/2006/relationships/image" Target="../media/image-1-78.svg"/><Relationship Id="rId79" Type="http://schemas.openxmlformats.org/officeDocument/2006/relationships/image" Target="../media/image-1-79.png"/><Relationship Id="rId80" Type="http://schemas.openxmlformats.org/officeDocument/2006/relationships/image" Target="../media/image-1-80.svg"/><Relationship Id="rId81" Type="http://schemas.openxmlformats.org/officeDocument/2006/relationships/image" Target="../media/image-1-81.png"/><Relationship Id="rId82" Type="http://schemas.openxmlformats.org/officeDocument/2006/relationships/image" Target="../media/image-1-82.svg"/><Relationship Id="rId83" Type="http://schemas.openxmlformats.org/officeDocument/2006/relationships/image" Target="../media/image-1-83.png"/><Relationship Id="rId84" Type="http://schemas.openxmlformats.org/officeDocument/2006/relationships/image" Target="../media/image-1-84.svg"/><Relationship Id="rId85" Type="http://schemas.openxmlformats.org/officeDocument/2006/relationships/image" Target="../media/image-1-85.png"/><Relationship Id="rId86" Type="http://schemas.openxmlformats.org/officeDocument/2006/relationships/image" Target="../media/image-1-86.svg"/><Relationship Id="rId87" Type="http://schemas.openxmlformats.org/officeDocument/2006/relationships/image" Target="../media/image-1-87.png"/><Relationship Id="rId88" Type="http://schemas.openxmlformats.org/officeDocument/2006/relationships/image" Target="../media/image-1-88.svg"/><Relationship Id="rId89" Type="http://schemas.openxmlformats.org/officeDocument/2006/relationships/image" Target="../media/image-1-89.png"/><Relationship Id="rId90" Type="http://schemas.openxmlformats.org/officeDocument/2006/relationships/image" Target="../media/image-1-90.svg"/><Relationship Id="rId91" Type="http://schemas.openxmlformats.org/officeDocument/2006/relationships/image" Target="../media/image-1-91.png"/><Relationship Id="rId92" Type="http://schemas.openxmlformats.org/officeDocument/2006/relationships/image" Target="../media/image-1-92.svg"/><Relationship Id="rId93" Type="http://schemas.openxmlformats.org/officeDocument/2006/relationships/image" Target="../media/image-1-93.png"/><Relationship Id="rId94" Type="http://schemas.openxmlformats.org/officeDocument/2006/relationships/image" Target="../media/image-1-94.svg"/><Relationship Id="rId95" Type="http://schemas.openxmlformats.org/officeDocument/2006/relationships/image" Target="../media/image-1-95.png"/><Relationship Id="rId96" Type="http://schemas.openxmlformats.org/officeDocument/2006/relationships/image" Target="../media/image-1-96.svg"/><Relationship Id="rId97" Type="http://schemas.openxmlformats.org/officeDocument/2006/relationships/image" Target="../media/image-1-97.png"/><Relationship Id="rId98" Type="http://schemas.openxmlformats.org/officeDocument/2006/relationships/image" Target="../media/image-1-98.svg"/><Relationship Id="rId99" Type="http://schemas.openxmlformats.org/officeDocument/2006/relationships/image" Target="../media/image-1-99.png"/><Relationship Id="rId100" Type="http://schemas.openxmlformats.org/officeDocument/2006/relationships/image" Target="../media/image-1-100.svg"/><Relationship Id="rId101" Type="http://schemas.openxmlformats.org/officeDocument/2006/relationships/image" Target="../media/image-1-101.png"/><Relationship Id="rId102" Type="http://schemas.openxmlformats.org/officeDocument/2006/relationships/image" Target="../media/image-1-102.svg"/><Relationship Id="rId103" Type="http://schemas.openxmlformats.org/officeDocument/2006/relationships/image" Target="../media/image-1-103.png"/><Relationship Id="rId104" Type="http://schemas.openxmlformats.org/officeDocument/2006/relationships/image" Target="../media/image-1-104.svg"/><Relationship Id="rId105" Type="http://schemas.openxmlformats.org/officeDocument/2006/relationships/image" Target="../media/image-1-105.png"/><Relationship Id="rId106" Type="http://schemas.openxmlformats.org/officeDocument/2006/relationships/image" Target="../media/image-1-106.svg"/><Relationship Id="rId107" Type="http://schemas.openxmlformats.org/officeDocument/2006/relationships/image" Target="../media/image-1-107.png"/><Relationship Id="rId108" Type="http://schemas.openxmlformats.org/officeDocument/2006/relationships/image" Target="../media/image-1-108.svg"/><Relationship Id="rId109" Type="http://schemas.openxmlformats.org/officeDocument/2006/relationships/image" Target="../media/image-1-109.png"/><Relationship Id="rId110" Type="http://schemas.openxmlformats.org/officeDocument/2006/relationships/image" Target="../media/image-1-110.svg"/><Relationship Id="rId111" Type="http://schemas.openxmlformats.org/officeDocument/2006/relationships/image" Target="../media/image-1-111.png"/><Relationship Id="rId112" Type="http://schemas.openxmlformats.org/officeDocument/2006/relationships/image" Target="../media/image-1-112.svg"/><Relationship Id="rId113" Type="http://schemas.openxmlformats.org/officeDocument/2006/relationships/image" Target="../media/image-1-113.png"/><Relationship Id="rId114" Type="http://schemas.openxmlformats.org/officeDocument/2006/relationships/image" Target="../media/image-1-114.svg"/><Relationship Id="rId115" Type="http://schemas.openxmlformats.org/officeDocument/2006/relationships/image" Target="../media/image-1-115.png"/><Relationship Id="rId116" Type="http://schemas.openxmlformats.org/officeDocument/2006/relationships/image" Target="../media/image-1-116.svg"/><Relationship Id="rId117" Type="http://schemas.openxmlformats.org/officeDocument/2006/relationships/slideLayout" Target="../slideLayouts/slideLayout1.xml"/><Relationship Id="rId1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image" Target="../media/image-2-29.png"/><Relationship Id="rId30" Type="http://schemas.openxmlformats.org/officeDocument/2006/relationships/image" Target="../media/image-2-30.svg"/><Relationship Id="rId31" Type="http://schemas.openxmlformats.org/officeDocument/2006/relationships/image" Target="../media/image-2-31.png"/><Relationship Id="rId32" Type="http://schemas.openxmlformats.org/officeDocument/2006/relationships/image" Target="../media/image-2-32.svg"/><Relationship Id="rId33" Type="http://schemas.openxmlformats.org/officeDocument/2006/relationships/image" Target="../media/image-2-33.png"/><Relationship Id="rId34" Type="http://schemas.openxmlformats.org/officeDocument/2006/relationships/image" Target="../media/image-2-34.svg"/><Relationship Id="rId35" Type="http://schemas.openxmlformats.org/officeDocument/2006/relationships/image" Target="../media/image-2-35.png"/><Relationship Id="rId36" Type="http://schemas.openxmlformats.org/officeDocument/2006/relationships/image" Target="../media/image-2-36.svg"/><Relationship Id="rId37" Type="http://schemas.openxmlformats.org/officeDocument/2006/relationships/image" Target="../media/image-2-37.png"/><Relationship Id="rId38" Type="http://schemas.openxmlformats.org/officeDocument/2006/relationships/image" Target="../media/image-2-38.svg"/><Relationship Id="rId39" Type="http://schemas.openxmlformats.org/officeDocument/2006/relationships/image" Target="../media/image-2-39.png"/><Relationship Id="rId40" Type="http://schemas.openxmlformats.org/officeDocument/2006/relationships/image" Target="../media/image-2-40.svg"/><Relationship Id="rId41" Type="http://schemas.openxmlformats.org/officeDocument/2006/relationships/image" Target="../media/image-2-41.png"/><Relationship Id="rId42" Type="http://schemas.openxmlformats.org/officeDocument/2006/relationships/image" Target="../media/image-2-42.svg"/><Relationship Id="rId43" Type="http://schemas.openxmlformats.org/officeDocument/2006/relationships/image" Target="../media/image-2-43.png"/><Relationship Id="rId44" Type="http://schemas.openxmlformats.org/officeDocument/2006/relationships/image" Target="../media/image-2-44.svg"/><Relationship Id="rId45" Type="http://schemas.openxmlformats.org/officeDocument/2006/relationships/image" Target="../media/image-2-45.png"/><Relationship Id="rId46" Type="http://schemas.openxmlformats.org/officeDocument/2006/relationships/image" Target="../media/image-2-46.svg"/><Relationship Id="rId47" Type="http://schemas.openxmlformats.org/officeDocument/2006/relationships/image" Target="../media/image-2-47.png"/><Relationship Id="rId48" Type="http://schemas.openxmlformats.org/officeDocument/2006/relationships/image" Target="../media/image-2-48.svg"/><Relationship Id="rId49" Type="http://schemas.openxmlformats.org/officeDocument/2006/relationships/image" Target="../media/image-2-49.png"/><Relationship Id="rId50" Type="http://schemas.openxmlformats.org/officeDocument/2006/relationships/image" Target="../media/image-2-50.svg"/><Relationship Id="rId51" Type="http://schemas.openxmlformats.org/officeDocument/2006/relationships/image" Target="../media/image-2-51.png"/><Relationship Id="rId52" Type="http://schemas.openxmlformats.org/officeDocument/2006/relationships/image" Target="../media/image-2-52.svg"/><Relationship Id="rId53" Type="http://schemas.openxmlformats.org/officeDocument/2006/relationships/image" Target="../media/image-2-53.png"/><Relationship Id="rId54" Type="http://schemas.openxmlformats.org/officeDocument/2006/relationships/image" Target="../media/image-2-54.svg"/><Relationship Id="rId55" Type="http://schemas.openxmlformats.org/officeDocument/2006/relationships/image" Target="../media/image-2-55.png"/><Relationship Id="rId56" Type="http://schemas.openxmlformats.org/officeDocument/2006/relationships/image" Target="../media/image-2-56.svg"/><Relationship Id="rId57" Type="http://schemas.openxmlformats.org/officeDocument/2006/relationships/image" Target="../media/image-2-57.png"/><Relationship Id="rId58" Type="http://schemas.openxmlformats.org/officeDocument/2006/relationships/image" Target="../media/image-2-58.svg"/><Relationship Id="rId59" Type="http://schemas.openxmlformats.org/officeDocument/2006/relationships/image" Target="../media/image-2-59.png"/><Relationship Id="rId60" Type="http://schemas.openxmlformats.org/officeDocument/2006/relationships/image" Target="../media/image-2-60.svg"/><Relationship Id="rId61" Type="http://schemas.openxmlformats.org/officeDocument/2006/relationships/image" Target="../media/image-2-61.png"/><Relationship Id="rId62" Type="http://schemas.openxmlformats.org/officeDocument/2006/relationships/image" Target="../media/image-2-62.svg"/><Relationship Id="rId63" Type="http://schemas.openxmlformats.org/officeDocument/2006/relationships/image" Target="../media/image-2-63.png"/><Relationship Id="rId64" Type="http://schemas.openxmlformats.org/officeDocument/2006/relationships/image" Target="../media/image-2-64.svg"/><Relationship Id="rId65" Type="http://schemas.openxmlformats.org/officeDocument/2006/relationships/slideLayout" Target="../slideLayouts/slideLayout1.xml"/><Relationship Id="rId6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" y="114300"/>
            <a:ext cx="11963400" cy="361950"/>
          </a:xfrm>
          <a:prstGeom prst="roundRect">
            <a:avLst>
              <a:gd name="adj" fmla="val 23684"/>
            </a:avLst>
          </a:prstGeom>
          <a:solidFill>
            <a:srgbClr val="F7F8FA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238125"/>
            <a:ext cx="76438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8" kern="0" dirty="0">
                <a:solidFill>
                  <a:srgbClr val="C85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</a:t>
            </a:r>
            <a:endParaRPr lang="en-US" sz="675" dirty="0"/>
          </a:p>
        </p:txBody>
      </p:sp>
      <p:sp>
        <p:nvSpPr>
          <p:cNvPr id="4" name="Shape 2"/>
          <p:cNvSpPr/>
          <p:nvPr/>
        </p:nvSpPr>
        <p:spPr>
          <a:xfrm>
            <a:off x="992981" y="171450"/>
            <a:ext cx="663922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0E4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706" y="209550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7781" y="242888"/>
            <a:ext cx="34959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638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2629" y="247650"/>
            <a:ext cx="133350" cy="952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61704" y="171450"/>
            <a:ext cx="970657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0E4E9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7429" y="209550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6504" y="242888"/>
            <a:ext cx="65633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638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18086" y="247650"/>
            <a:ext cx="133350" cy="952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237161" y="171450"/>
            <a:ext cx="87124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0E4E9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22886" y="209550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541961" y="242888"/>
            <a:ext cx="55691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ECR</a:t>
            </a:r>
            <a:endParaRPr lang="en-US" sz="638" dirty="0"/>
          </a:p>
        </p:txBody>
      </p:sp>
      <p:sp>
        <p:nvSpPr>
          <p:cNvPr id="15" name="Text 8"/>
          <p:cNvSpPr/>
          <p:nvPr/>
        </p:nvSpPr>
        <p:spPr>
          <a:xfrm>
            <a:off x="9683948" y="242888"/>
            <a:ext cx="251787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22" kern="0" dirty="0">
                <a:solidFill>
                  <a:srgbClr val="54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&amp; PUSH CONTAINER IMAGES → DEPLOY TO LAMBDA</a:t>
            </a:r>
            <a:endParaRPr lang="en-US" sz="6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02709" y="533400"/>
            <a:ext cx="114300" cy="1238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83684" y="547688"/>
            <a:ext cx="220616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spc="30" kern="0" dirty="0">
                <a:solidFill>
                  <a:srgbClr val="232F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IMAGE DEPLOY → VPC LAMBDA SERVICES</a:t>
            </a:r>
            <a:endParaRPr lang="en-US" sz="563" dirty="0"/>
          </a:p>
        </p:txBody>
      </p:sp>
      <p:sp>
        <p:nvSpPr>
          <p:cNvPr id="18" name="Shape 10"/>
          <p:cNvSpPr/>
          <p:nvPr/>
        </p:nvSpPr>
        <p:spPr>
          <a:xfrm>
            <a:off x="114300" y="714375"/>
            <a:ext cx="1428750" cy="56102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200025" y="800100"/>
            <a:ext cx="138303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8" kern="0" dirty="0">
                <a:solidFill>
                  <a:srgbClr val="69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· EDGE</a:t>
            </a:r>
            <a:endParaRPr lang="en-US" sz="675" dirty="0"/>
          </a:p>
        </p:txBody>
      </p:sp>
      <p:sp>
        <p:nvSpPr>
          <p:cNvPr id="20" name="Shape 12"/>
          <p:cNvSpPr/>
          <p:nvPr/>
        </p:nvSpPr>
        <p:spPr>
          <a:xfrm>
            <a:off x="200025" y="971550"/>
            <a:ext cx="1257300" cy="589508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4375" y="1038225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4768" y="1285875"/>
            <a:ext cx="607814" cy="1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Browser</a:t>
            </a:r>
            <a:endParaRPr lang="en-US" sz="675" dirty="0"/>
          </a:p>
        </p:txBody>
      </p:sp>
      <p:sp>
        <p:nvSpPr>
          <p:cNvPr id="23" name="Text 14"/>
          <p:cNvSpPr/>
          <p:nvPr/>
        </p:nvSpPr>
        <p:spPr>
          <a:xfrm>
            <a:off x="711398" y="1399133"/>
            <a:ext cx="23455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5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6288" y="1812875"/>
            <a:ext cx="104775" cy="762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200025" y="2141041"/>
            <a:ext cx="1257300" cy="589508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4375" y="2207716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53182" y="2455366"/>
            <a:ext cx="750838" cy="1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Cognito</a:t>
            </a:r>
            <a:endParaRPr lang="en-US" sz="675" dirty="0"/>
          </a:p>
        </p:txBody>
      </p:sp>
      <p:sp>
        <p:nvSpPr>
          <p:cNvPr id="28" name="Text 17"/>
          <p:cNvSpPr/>
          <p:nvPr/>
        </p:nvSpPr>
        <p:spPr>
          <a:xfrm>
            <a:off x="631627" y="2568625"/>
            <a:ext cx="39394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token</a:t>
            </a:r>
            <a:endParaRPr lang="en-US" sz="525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6288" y="2982367"/>
            <a:ext cx="104775" cy="76200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200025" y="3310533"/>
            <a:ext cx="1257300" cy="589508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4375" y="3377208"/>
            <a:ext cx="228600" cy="22860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64952" y="3624858"/>
            <a:ext cx="527447" cy="1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CloudFront</a:t>
            </a:r>
            <a:endParaRPr lang="en-US" sz="675" dirty="0"/>
          </a:p>
        </p:txBody>
      </p:sp>
      <p:sp>
        <p:nvSpPr>
          <p:cNvPr id="33" name="Text 20"/>
          <p:cNvSpPr/>
          <p:nvPr/>
        </p:nvSpPr>
        <p:spPr>
          <a:xfrm>
            <a:off x="721519" y="3738116"/>
            <a:ext cx="21416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</a:t>
            </a:r>
            <a:endParaRPr lang="en-US" sz="525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76288" y="4151858"/>
            <a:ext cx="104775" cy="76200"/>
          </a:xfrm>
          <a:prstGeom prst="rect">
            <a:avLst/>
          </a:prstGeom>
        </p:spPr>
      </p:pic>
      <p:sp>
        <p:nvSpPr>
          <p:cNvPr id="35" name="Shape 21"/>
          <p:cNvSpPr/>
          <p:nvPr/>
        </p:nvSpPr>
        <p:spPr>
          <a:xfrm>
            <a:off x="200025" y="4479875"/>
            <a:ext cx="1257300" cy="589508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14375" y="4546550"/>
            <a:ext cx="228600" cy="22860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14796" y="4794200"/>
            <a:ext cx="627608" cy="1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(Frontend)</a:t>
            </a:r>
            <a:endParaRPr lang="en-US" sz="675" dirty="0"/>
          </a:p>
        </p:txBody>
      </p:sp>
      <p:sp>
        <p:nvSpPr>
          <p:cNvPr id="38" name="Text 23"/>
          <p:cNvSpPr/>
          <p:nvPr/>
        </p:nvSpPr>
        <p:spPr>
          <a:xfrm>
            <a:off x="645170" y="4907459"/>
            <a:ext cx="36701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</a:t>
            </a:r>
            <a:endParaRPr lang="en-US" sz="525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76288" y="5321350"/>
            <a:ext cx="104775" cy="76200"/>
          </a:xfrm>
          <a:prstGeom prst="rect">
            <a:avLst/>
          </a:prstGeom>
        </p:spPr>
      </p:pic>
      <p:sp>
        <p:nvSpPr>
          <p:cNvPr id="40" name="Shape 24"/>
          <p:cNvSpPr/>
          <p:nvPr/>
        </p:nvSpPr>
        <p:spPr>
          <a:xfrm>
            <a:off x="200025" y="5649367"/>
            <a:ext cx="1257300" cy="589508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14375" y="5716042"/>
            <a:ext cx="228600" cy="22860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35037" y="5963692"/>
            <a:ext cx="587127" cy="1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675" dirty="0"/>
          </a:p>
        </p:txBody>
      </p:sp>
      <p:sp>
        <p:nvSpPr>
          <p:cNvPr id="43" name="Text 26"/>
          <p:cNvSpPr/>
          <p:nvPr/>
        </p:nvSpPr>
        <p:spPr>
          <a:xfrm>
            <a:off x="682675" y="6076950"/>
            <a:ext cx="292001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</a:t>
            </a:r>
            <a:endParaRPr lang="en-US" sz="525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33538" y="3007668"/>
            <a:ext cx="142875" cy="142875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1657350" y="3207693"/>
            <a:ext cx="171450" cy="86156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525" b="1" spc="30" kern="0" dirty="0">
                <a:solidFill>
                  <a:srgbClr val="7A4F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REQUESTS → VPC</a:t>
            </a:r>
            <a:endParaRPr lang="en-US" sz="525" dirty="0"/>
          </a:p>
        </p:txBody>
      </p:sp>
      <p:sp>
        <p:nvSpPr>
          <p:cNvPr id="46" name="Shape 28"/>
          <p:cNvSpPr/>
          <p:nvPr/>
        </p:nvSpPr>
        <p:spPr>
          <a:xfrm>
            <a:off x="1866900" y="714375"/>
            <a:ext cx="7620000" cy="5610225"/>
          </a:xfrm>
          <a:prstGeom prst="roundRect">
            <a:avLst>
              <a:gd name="adj" fmla="val 1868"/>
            </a:avLst>
          </a:prstGeom>
          <a:gradFill rotWithShape="1">
            <a:gsLst>
              <a:gs pos="0">
                <a:srgbClr val="FBFA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 w="19050">
            <a:solidFill>
              <a:srgbClr val="8C4FFF"/>
            </a:solidFill>
            <a:prstDash val="solid"/>
          </a:ln>
        </p:spPr>
      </p:sp>
      <p:sp>
        <p:nvSpPr>
          <p:cNvPr id="47" name="Shape 29"/>
          <p:cNvSpPr/>
          <p:nvPr/>
        </p:nvSpPr>
        <p:spPr>
          <a:xfrm>
            <a:off x="1866900" y="714375"/>
            <a:ext cx="835223" cy="190500"/>
          </a:xfrm>
          <a:prstGeom prst="roundRect">
            <a:avLst>
              <a:gd name="adj" fmla="val 50000"/>
            </a:avLst>
          </a:prstGeom>
          <a:solidFill>
            <a:srgbClr val="8C4FFF"/>
          </a:solidFill>
          <a:ln/>
        </p:spPr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971675" y="747713"/>
            <a:ext cx="123825" cy="123825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2143125" y="742950"/>
            <a:ext cx="5304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38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VPC</a:t>
            </a:r>
            <a:endParaRPr lang="en-US" sz="750" dirty="0"/>
          </a:p>
        </p:txBody>
      </p:sp>
      <p:sp>
        <p:nvSpPr>
          <p:cNvPr id="50" name="Shape 31"/>
          <p:cNvSpPr/>
          <p:nvPr/>
        </p:nvSpPr>
        <p:spPr>
          <a:xfrm>
            <a:off x="1971675" y="904875"/>
            <a:ext cx="2305050" cy="5314950"/>
          </a:xfrm>
          <a:prstGeom prst="roundRect">
            <a:avLst>
              <a:gd name="adj" fmla="val 3306"/>
            </a:avLst>
          </a:prstGeom>
          <a:solidFill>
            <a:srgbClr val="F5F7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1" name="Text 32"/>
          <p:cNvSpPr/>
          <p:nvPr/>
        </p:nvSpPr>
        <p:spPr>
          <a:xfrm>
            <a:off x="2028825" y="971550"/>
            <a:ext cx="240982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0" kern="0" dirty="0">
                <a:solidFill>
                  <a:srgbClr val="69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STAGES</a:t>
            </a:r>
            <a:endParaRPr lang="en-US" sz="638" dirty="0"/>
          </a:p>
        </p:txBody>
      </p:sp>
      <p:sp>
        <p:nvSpPr>
          <p:cNvPr id="52" name="Shape 33"/>
          <p:cNvSpPr/>
          <p:nvPr/>
        </p:nvSpPr>
        <p:spPr>
          <a:xfrm>
            <a:off x="2028825" y="1919288"/>
            <a:ext cx="2190750" cy="695325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0E4E9"/>
            </a:solidFill>
            <a:prstDash val="solid"/>
          </a:ln>
        </p:spPr>
      </p:sp>
      <p:sp>
        <p:nvSpPr>
          <p:cNvPr id="53" name="Shape 34"/>
          <p:cNvSpPr/>
          <p:nvPr/>
        </p:nvSpPr>
        <p:spPr>
          <a:xfrm>
            <a:off x="2085975" y="1981200"/>
            <a:ext cx="76200" cy="76200"/>
          </a:xfrm>
          <a:prstGeom prst="ellipse">
            <a:avLst/>
          </a:prstGeom>
          <a:solidFill>
            <a:srgbClr val="3F8624"/>
          </a:solidFill>
          <a:ln/>
        </p:spPr>
      </p:sp>
      <p:sp>
        <p:nvSpPr>
          <p:cNvPr id="54" name="Text 35"/>
          <p:cNvSpPr/>
          <p:nvPr/>
        </p:nvSpPr>
        <p:spPr>
          <a:xfrm>
            <a:off x="2200275" y="1966912"/>
            <a:ext cx="58623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600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085975" y="2100263"/>
            <a:ext cx="142875" cy="142875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2266950" y="2124075"/>
            <a:ext cx="508992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SQS Queue 1</a:t>
            </a:r>
            <a:endParaRPr lang="en-US" sz="563" dirty="0"/>
          </a:p>
        </p:txBody>
      </p:sp>
      <p:pic>
        <p:nvPicPr>
          <p:cNvPr id="57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085975" y="2262188"/>
            <a:ext cx="142875" cy="142875"/>
          </a:xfrm>
          <a:prstGeom prst="rect">
            <a:avLst/>
          </a:prstGeom>
        </p:spPr>
      </p:pic>
      <p:sp>
        <p:nvSpPr>
          <p:cNvPr id="58" name="Text 37"/>
          <p:cNvSpPr/>
          <p:nvPr/>
        </p:nvSpPr>
        <p:spPr>
          <a:xfrm>
            <a:off x="2266950" y="2286000"/>
            <a:ext cx="629841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Functions 1</a:t>
            </a:r>
            <a:endParaRPr lang="en-US" sz="563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085975" y="2424113"/>
            <a:ext cx="142875" cy="142875"/>
          </a:xfrm>
          <a:prstGeom prst="rect">
            <a:avLst/>
          </a:prstGeom>
        </p:spPr>
      </p:pic>
      <p:sp>
        <p:nvSpPr>
          <p:cNvPr id="60" name="Text 38"/>
          <p:cNvSpPr/>
          <p:nvPr/>
        </p:nvSpPr>
        <p:spPr>
          <a:xfrm>
            <a:off x="2266950" y="2447925"/>
            <a:ext cx="54233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 Validate</a:t>
            </a:r>
            <a:endParaRPr lang="en-US" sz="563" dirty="0"/>
          </a:p>
        </p:txBody>
      </p:sp>
      <p:pic>
        <p:nvPicPr>
          <p:cNvPr id="61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071813" y="2633663"/>
            <a:ext cx="104775" cy="76200"/>
          </a:xfrm>
          <a:prstGeom prst="rect">
            <a:avLst/>
          </a:prstGeom>
        </p:spPr>
      </p:pic>
      <p:sp>
        <p:nvSpPr>
          <p:cNvPr id="62" name="Shape 39"/>
          <p:cNvSpPr/>
          <p:nvPr/>
        </p:nvSpPr>
        <p:spPr>
          <a:xfrm>
            <a:off x="2028825" y="2728913"/>
            <a:ext cx="219075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4E9"/>
            </a:solidFill>
            <a:prstDash val="solid"/>
          </a:ln>
        </p:spPr>
      </p:sp>
      <p:sp>
        <p:nvSpPr>
          <p:cNvPr id="63" name="Shape 40"/>
          <p:cNvSpPr/>
          <p:nvPr/>
        </p:nvSpPr>
        <p:spPr>
          <a:xfrm>
            <a:off x="2085975" y="2790825"/>
            <a:ext cx="76200" cy="76200"/>
          </a:xfrm>
          <a:prstGeom prst="ellipse">
            <a:avLst/>
          </a:prstGeom>
          <a:solidFill>
            <a:srgbClr val="3B48CC"/>
          </a:solidFill>
          <a:ln/>
        </p:spPr>
      </p:sp>
      <p:sp>
        <p:nvSpPr>
          <p:cNvPr id="64" name="Text 41"/>
          <p:cNvSpPr/>
          <p:nvPr/>
        </p:nvSpPr>
        <p:spPr>
          <a:xfrm>
            <a:off x="2200275" y="2776538"/>
            <a:ext cx="73684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CONFIG</a:t>
            </a:r>
            <a:endParaRPr lang="en-US" sz="600" dirty="0"/>
          </a:p>
        </p:txBody>
      </p:sp>
      <p:pic>
        <p:nvPicPr>
          <p:cNvPr id="6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085975" y="2909888"/>
            <a:ext cx="142875" cy="142875"/>
          </a:xfrm>
          <a:prstGeom prst="rect">
            <a:avLst/>
          </a:prstGeom>
        </p:spPr>
      </p:pic>
      <p:sp>
        <p:nvSpPr>
          <p:cNvPr id="66" name="Text 42"/>
          <p:cNvSpPr/>
          <p:nvPr/>
        </p:nvSpPr>
        <p:spPr>
          <a:xfrm>
            <a:off x="2266950" y="2933700"/>
            <a:ext cx="80903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/ Logic Lambda</a:t>
            </a:r>
            <a:endParaRPr lang="en-US" sz="563" dirty="0"/>
          </a:p>
        </p:txBody>
      </p:sp>
      <p:pic>
        <p:nvPicPr>
          <p:cNvPr id="6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071813" y="3119438"/>
            <a:ext cx="104775" cy="76200"/>
          </a:xfrm>
          <a:prstGeom prst="rect">
            <a:avLst/>
          </a:prstGeom>
        </p:spPr>
      </p:pic>
      <p:sp>
        <p:nvSpPr>
          <p:cNvPr id="68" name="Shape 43"/>
          <p:cNvSpPr/>
          <p:nvPr/>
        </p:nvSpPr>
        <p:spPr>
          <a:xfrm>
            <a:off x="2028825" y="3214688"/>
            <a:ext cx="219075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4E9"/>
            </a:solidFill>
            <a:prstDash val="solid"/>
          </a:ln>
        </p:spPr>
      </p:sp>
      <p:sp>
        <p:nvSpPr>
          <p:cNvPr id="69" name="Shape 44"/>
          <p:cNvSpPr/>
          <p:nvPr/>
        </p:nvSpPr>
        <p:spPr>
          <a:xfrm>
            <a:off x="2085975" y="3276600"/>
            <a:ext cx="76200" cy="76200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70" name="Text 45"/>
          <p:cNvSpPr/>
          <p:nvPr/>
        </p:nvSpPr>
        <p:spPr>
          <a:xfrm>
            <a:off x="2200275" y="3262313"/>
            <a:ext cx="57685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</a:t>
            </a:r>
            <a:endParaRPr lang="en-US" sz="600" dirty="0"/>
          </a:p>
        </p:txBody>
      </p:sp>
      <p:pic>
        <p:nvPicPr>
          <p:cNvPr id="71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085975" y="3395663"/>
            <a:ext cx="142875" cy="142875"/>
          </a:xfrm>
          <a:prstGeom prst="rect">
            <a:avLst/>
          </a:prstGeom>
        </p:spPr>
      </p:pic>
      <p:sp>
        <p:nvSpPr>
          <p:cNvPr id="72" name="Text 46"/>
          <p:cNvSpPr/>
          <p:nvPr/>
        </p:nvSpPr>
        <p:spPr>
          <a:xfrm>
            <a:off x="2266950" y="3419475"/>
            <a:ext cx="764381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 Lambda</a:t>
            </a:r>
            <a:endParaRPr lang="en-US" sz="563" dirty="0"/>
          </a:p>
        </p:txBody>
      </p:sp>
      <p:pic>
        <p:nvPicPr>
          <p:cNvPr id="73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071813" y="3605213"/>
            <a:ext cx="104775" cy="76200"/>
          </a:xfrm>
          <a:prstGeom prst="rect">
            <a:avLst/>
          </a:prstGeom>
        </p:spPr>
      </p:pic>
      <p:sp>
        <p:nvSpPr>
          <p:cNvPr id="74" name="Shape 47"/>
          <p:cNvSpPr/>
          <p:nvPr/>
        </p:nvSpPr>
        <p:spPr>
          <a:xfrm>
            <a:off x="2028825" y="3700463"/>
            <a:ext cx="2190750" cy="676275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0E4E9"/>
            </a:solidFill>
            <a:prstDash val="solid"/>
          </a:ln>
        </p:spPr>
      </p:sp>
      <p:sp>
        <p:nvSpPr>
          <p:cNvPr id="75" name="Shape 48"/>
          <p:cNvSpPr/>
          <p:nvPr/>
        </p:nvSpPr>
        <p:spPr>
          <a:xfrm>
            <a:off x="2085975" y="3762375"/>
            <a:ext cx="76200" cy="76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6" name="Text 49"/>
          <p:cNvSpPr/>
          <p:nvPr/>
        </p:nvSpPr>
        <p:spPr>
          <a:xfrm>
            <a:off x="2200275" y="3748087"/>
            <a:ext cx="89356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CALCULATION ENGINE</a:t>
            </a:r>
            <a:endParaRPr lang="en-US" sz="600" dirty="0"/>
          </a:p>
        </p:txBody>
      </p:sp>
      <p:pic>
        <p:nvPicPr>
          <p:cNvPr id="77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085975" y="3881438"/>
            <a:ext cx="142875" cy="142875"/>
          </a:xfrm>
          <a:prstGeom prst="rect">
            <a:avLst/>
          </a:prstGeom>
        </p:spPr>
      </p:pic>
      <p:sp>
        <p:nvSpPr>
          <p:cNvPr id="78" name="Text 50"/>
          <p:cNvSpPr/>
          <p:nvPr/>
        </p:nvSpPr>
        <p:spPr>
          <a:xfrm>
            <a:off x="2266950" y="3905250"/>
            <a:ext cx="508992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SQS Queue 2</a:t>
            </a:r>
            <a:endParaRPr lang="en-US" sz="563" dirty="0"/>
          </a:p>
        </p:txBody>
      </p:sp>
      <p:pic>
        <p:nvPicPr>
          <p:cNvPr id="79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2756892" y="3881438"/>
            <a:ext cx="142875" cy="142875"/>
          </a:xfrm>
          <a:prstGeom prst="rect">
            <a:avLst/>
          </a:prstGeom>
        </p:spPr>
      </p:pic>
      <p:sp>
        <p:nvSpPr>
          <p:cNvPr id="80" name="Text 51"/>
          <p:cNvSpPr/>
          <p:nvPr/>
        </p:nvSpPr>
        <p:spPr>
          <a:xfrm>
            <a:off x="2937867" y="3905250"/>
            <a:ext cx="385911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Fn 2</a:t>
            </a:r>
            <a:endParaRPr lang="en-US" sz="563" dirty="0"/>
          </a:p>
        </p:txBody>
      </p:sp>
      <p:sp>
        <p:nvSpPr>
          <p:cNvPr id="81" name="Shape 52"/>
          <p:cNvSpPr/>
          <p:nvPr/>
        </p:nvSpPr>
        <p:spPr>
          <a:xfrm>
            <a:off x="2085975" y="4043363"/>
            <a:ext cx="673001" cy="28575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82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2351038" y="4071938"/>
            <a:ext cx="142875" cy="142875"/>
          </a:xfrm>
          <a:prstGeom prst="rect">
            <a:avLst/>
          </a:prstGeom>
        </p:spPr>
      </p:pic>
      <p:sp>
        <p:nvSpPr>
          <p:cNvPr id="83" name="Text 53"/>
          <p:cNvSpPr/>
          <p:nvPr/>
        </p:nvSpPr>
        <p:spPr>
          <a:xfrm>
            <a:off x="2298799" y="4214813"/>
            <a:ext cx="323404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A</a:t>
            </a:r>
            <a:endParaRPr lang="en-US" sz="488" dirty="0"/>
          </a:p>
        </p:txBody>
      </p:sp>
      <p:sp>
        <p:nvSpPr>
          <p:cNvPr id="84" name="Shape 54"/>
          <p:cNvSpPr/>
          <p:nvPr/>
        </p:nvSpPr>
        <p:spPr>
          <a:xfrm>
            <a:off x="2787551" y="4043363"/>
            <a:ext cx="673150" cy="28575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85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3052614" y="4071938"/>
            <a:ext cx="142875" cy="142875"/>
          </a:xfrm>
          <a:prstGeom prst="rect">
            <a:avLst/>
          </a:prstGeom>
        </p:spPr>
      </p:pic>
      <p:sp>
        <p:nvSpPr>
          <p:cNvPr id="86" name="Text 55"/>
          <p:cNvSpPr/>
          <p:nvPr/>
        </p:nvSpPr>
        <p:spPr>
          <a:xfrm>
            <a:off x="3002459" y="4214813"/>
            <a:ext cx="319534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B</a:t>
            </a:r>
            <a:endParaRPr lang="en-US" sz="488" dirty="0"/>
          </a:p>
        </p:txBody>
      </p:sp>
      <p:sp>
        <p:nvSpPr>
          <p:cNvPr id="87" name="Shape 56"/>
          <p:cNvSpPr/>
          <p:nvPr/>
        </p:nvSpPr>
        <p:spPr>
          <a:xfrm>
            <a:off x="3489275" y="4043363"/>
            <a:ext cx="673150" cy="28575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88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754338" y="4071938"/>
            <a:ext cx="142875" cy="142875"/>
          </a:xfrm>
          <a:prstGeom prst="rect">
            <a:avLst/>
          </a:prstGeom>
        </p:spPr>
      </p:pic>
      <p:sp>
        <p:nvSpPr>
          <p:cNvPr id="89" name="Text 57"/>
          <p:cNvSpPr/>
          <p:nvPr/>
        </p:nvSpPr>
        <p:spPr>
          <a:xfrm>
            <a:off x="3699570" y="4214813"/>
            <a:ext cx="328761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N</a:t>
            </a:r>
            <a:endParaRPr lang="en-US" sz="488" dirty="0"/>
          </a:p>
        </p:txBody>
      </p:sp>
      <p:pic>
        <p:nvPicPr>
          <p:cNvPr id="90" name="Image 30" descr="preencoded.p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3071813" y="4395788"/>
            <a:ext cx="104775" cy="76200"/>
          </a:xfrm>
          <a:prstGeom prst="rect">
            <a:avLst/>
          </a:prstGeom>
        </p:spPr>
      </p:pic>
      <p:sp>
        <p:nvSpPr>
          <p:cNvPr id="91" name="Shape 58"/>
          <p:cNvSpPr/>
          <p:nvPr/>
        </p:nvSpPr>
        <p:spPr>
          <a:xfrm>
            <a:off x="2028825" y="4491038"/>
            <a:ext cx="21907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0E4E9"/>
            </a:solidFill>
            <a:prstDash val="solid"/>
          </a:ln>
        </p:spPr>
      </p:sp>
      <p:sp>
        <p:nvSpPr>
          <p:cNvPr id="92" name="Shape 59"/>
          <p:cNvSpPr/>
          <p:nvPr/>
        </p:nvSpPr>
        <p:spPr>
          <a:xfrm>
            <a:off x="2085975" y="4552950"/>
            <a:ext cx="76200" cy="76200"/>
          </a:xfrm>
          <a:prstGeom prst="ellipse">
            <a:avLst/>
          </a:prstGeom>
          <a:solidFill>
            <a:srgbClr val="697077"/>
          </a:solidFill>
          <a:ln/>
        </p:spPr>
      </p:sp>
      <p:sp>
        <p:nvSpPr>
          <p:cNvPr id="93" name="Text 60"/>
          <p:cNvSpPr/>
          <p:nvPr/>
        </p:nvSpPr>
        <p:spPr>
          <a:xfrm>
            <a:off x="2200275" y="4538663"/>
            <a:ext cx="80143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TOOL</a:t>
            </a:r>
            <a:endParaRPr lang="en-US" sz="600" dirty="0"/>
          </a:p>
        </p:txBody>
      </p:sp>
      <p:pic>
        <p:nvPicPr>
          <p:cNvPr id="94" name="Image 31" descr="preencoded.png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2085975" y="4672013"/>
            <a:ext cx="142875" cy="142875"/>
          </a:xfrm>
          <a:prstGeom prst="rect">
            <a:avLst/>
          </a:prstGeom>
        </p:spPr>
      </p:pic>
      <p:sp>
        <p:nvSpPr>
          <p:cNvPr id="95" name="Text 61"/>
          <p:cNvSpPr/>
          <p:nvPr/>
        </p:nvSpPr>
        <p:spPr>
          <a:xfrm>
            <a:off x="2266950" y="4695825"/>
            <a:ext cx="46047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(Legacy)</a:t>
            </a:r>
            <a:endParaRPr lang="en-US" sz="563" dirty="0"/>
          </a:p>
        </p:txBody>
      </p:sp>
      <p:pic>
        <p:nvPicPr>
          <p:cNvPr id="96" name="Image 32" descr="preencoded.p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2085975" y="4833938"/>
            <a:ext cx="142875" cy="142875"/>
          </a:xfrm>
          <a:prstGeom prst="rect">
            <a:avLst/>
          </a:prstGeom>
        </p:spPr>
      </p:pic>
      <p:sp>
        <p:nvSpPr>
          <p:cNvPr id="97" name="Text 62"/>
          <p:cNvSpPr/>
          <p:nvPr/>
        </p:nvSpPr>
        <p:spPr>
          <a:xfrm>
            <a:off x="2266950" y="4857750"/>
            <a:ext cx="665857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Lambda</a:t>
            </a:r>
            <a:endParaRPr lang="en-US" sz="563" dirty="0"/>
          </a:p>
        </p:txBody>
      </p:sp>
      <p:pic>
        <p:nvPicPr>
          <p:cNvPr id="98" name="Image 33" descr="preencoded.p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085975" y="4995863"/>
            <a:ext cx="142875" cy="142875"/>
          </a:xfrm>
          <a:prstGeom prst="rect">
            <a:avLst/>
          </a:prstGeom>
        </p:spPr>
      </p:pic>
      <p:sp>
        <p:nvSpPr>
          <p:cNvPr id="99" name="Text 63"/>
          <p:cNvSpPr/>
          <p:nvPr/>
        </p:nvSpPr>
        <p:spPr>
          <a:xfrm>
            <a:off x="2266950" y="5019675"/>
            <a:ext cx="492026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(SPARTA)</a:t>
            </a:r>
            <a:endParaRPr lang="en-US" sz="563" dirty="0"/>
          </a:p>
        </p:txBody>
      </p:sp>
      <p:pic>
        <p:nvPicPr>
          <p:cNvPr id="100" name="Image 34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2085975" y="5157788"/>
            <a:ext cx="142875" cy="142875"/>
          </a:xfrm>
          <a:prstGeom prst="rect">
            <a:avLst/>
          </a:prstGeom>
        </p:spPr>
      </p:pic>
      <p:sp>
        <p:nvSpPr>
          <p:cNvPr id="101" name="Text 64"/>
          <p:cNvSpPr/>
          <p:nvPr/>
        </p:nvSpPr>
        <p:spPr>
          <a:xfrm>
            <a:off x="2266950" y="5181600"/>
            <a:ext cx="489347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SES</a:t>
            </a:r>
            <a:endParaRPr lang="en-US" sz="563" dirty="0"/>
          </a:p>
        </p:txBody>
      </p:sp>
      <p:pic>
        <p:nvPicPr>
          <p:cNvPr id="102" name="Image 35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4329113" y="3190280"/>
            <a:ext cx="142875" cy="114300"/>
          </a:xfrm>
          <a:prstGeom prst="rect">
            <a:avLst/>
          </a:prstGeom>
        </p:spPr>
      </p:pic>
      <p:sp>
        <p:nvSpPr>
          <p:cNvPr id="103" name="Text 65"/>
          <p:cNvSpPr/>
          <p:nvPr/>
        </p:nvSpPr>
        <p:spPr>
          <a:xfrm>
            <a:off x="4357688" y="3352205"/>
            <a:ext cx="161925" cy="6201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488" b="1" spc="22" kern="0" dirty="0">
                <a:solidFill>
                  <a:srgbClr val="0A7C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BEDROCK ASSISTS</a:t>
            </a:r>
            <a:endParaRPr lang="en-US" sz="488" dirty="0"/>
          </a:p>
        </p:txBody>
      </p:sp>
      <p:sp>
        <p:nvSpPr>
          <p:cNvPr id="104" name="Shape 66"/>
          <p:cNvSpPr/>
          <p:nvPr/>
        </p:nvSpPr>
        <p:spPr>
          <a:xfrm>
            <a:off x="4524375" y="904875"/>
            <a:ext cx="2513707" cy="5314950"/>
          </a:xfrm>
          <a:prstGeom prst="roundRect">
            <a:avLst>
              <a:gd name="adj" fmla="val 3031"/>
            </a:avLst>
          </a:prstGeom>
          <a:solidFill>
            <a:srgbClr val="F3FBF9"/>
          </a:solidFill>
          <a:ln w="9525">
            <a:solidFill>
              <a:srgbClr val="CDEDE6"/>
            </a:solidFill>
            <a:prstDash val="solid"/>
          </a:ln>
        </p:spPr>
      </p:sp>
      <p:pic>
        <p:nvPicPr>
          <p:cNvPr id="105" name="Image 36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4581525" y="971550"/>
            <a:ext cx="133350" cy="133350"/>
          </a:xfrm>
          <a:prstGeom prst="rect">
            <a:avLst/>
          </a:prstGeom>
        </p:spPr>
      </p:pic>
      <p:sp>
        <p:nvSpPr>
          <p:cNvPr id="106" name="Text 67"/>
          <p:cNvSpPr/>
          <p:nvPr/>
        </p:nvSpPr>
        <p:spPr>
          <a:xfrm>
            <a:off x="4752975" y="985838"/>
            <a:ext cx="11635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22" kern="0" dirty="0">
                <a:solidFill>
                  <a:srgbClr val="0A7C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 AI · BEDROCK (NOVA)</a:t>
            </a:r>
            <a:endParaRPr lang="en-US" sz="638" dirty="0"/>
          </a:p>
        </p:txBody>
      </p:sp>
      <p:sp>
        <p:nvSpPr>
          <p:cNvPr id="107" name="Shape 68"/>
          <p:cNvSpPr/>
          <p:nvPr/>
        </p:nvSpPr>
        <p:spPr>
          <a:xfrm>
            <a:off x="4581525" y="2743200"/>
            <a:ext cx="2399407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pic>
        <p:nvPicPr>
          <p:cNvPr id="108" name="Image 37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4648200" y="2790825"/>
            <a:ext cx="190500" cy="190500"/>
          </a:xfrm>
          <a:prstGeom prst="rect">
            <a:avLst/>
          </a:prstGeom>
        </p:spPr>
      </p:pic>
      <p:sp>
        <p:nvSpPr>
          <p:cNvPr id="109" name="Text 69"/>
          <p:cNvSpPr/>
          <p:nvPr/>
        </p:nvSpPr>
        <p:spPr>
          <a:xfrm>
            <a:off x="4895850" y="2804964"/>
            <a:ext cx="721816" cy="127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Bedrock</a:t>
            </a:r>
            <a:endParaRPr lang="en-US" sz="638" dirty="0"/>
          </a:p>
        </p:txBody>
      </p:sp>
      <p:sp>
        <p:nvSpPr>
          <p:cNvPr id="110" name="Text 70"/>
          <p:cNvSpPr/>
          <p:nvPr/>
        </p:nvSpPr>
        <p:spPr>
          <a:xfrm>
            <a:off x="4895850" y="2893963"/>
            <a:ext cx="721816" cy="11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5" b="1" dirty="0">
                <a:solidFill>
                  <a:srgbClr val="0A7C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Nova</a:t>
            </a:r>
            <a:endParaRPr lang="en-US" sz="525" dirty="0"/>
          </a:p>
        </p:txBody>
      </p:sp>
      <p:sp>
        <p:nvSpPr>
          <p:cNvPr id="111" name="Shape 71"/>
          <p:cNvSpPr/>
          <p:nvPr/>
        </p:nvSpPr>
        <p:spPr>
          <a:xfrm>
            <a:off x="4581525" y="3067050"/>
            <a:ext cx="2399407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pic>
        <p:nvPicPr>
          <p:cNvPr id="112" name="Image 38" descr="preencoded.png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648200" y="3114675"/>
            <a:ext cx="171450" cy="171450"/>
          </a:xfrm>
          <a:prstGeom prst="rect">
            <a:avLst/>
          </a:prstGeom>
        </p:spPr>
      </p:pic>
      <p:sp>
        <p:nvSpPr>
          <p:cNvPr id="113" name="Text 72"/>
          <p:cNvSpPr/>
          <p:nvPr/>
        </p:nvSpPr>
        <p:spPr>
          <a:xfrm>
            <a:off x="4876800" y="3148013"/>
            <a:ext cx="6977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Actuarial Scripts</a:t>
            </a:r>
            <a:endParaRPr lang="en-US" sz="638" dirty="0"/>
          </a:p>
        </p:txBody>
      </p:sp>
      <p:sp>
        <p:nvSpPr>
          <p:cNvPr id="114" name="Shape 73"/>
          <p:cNvSpPr/>
          <p:nvPr/>
        </p:nvSpPr>
        <p:spPr>
          <a:xfrm>
            <a:off x="4581525" y="3371850"/>
            <a:ext cx="2399407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pic>
        <p:nvPicPr>
          <p:cNvPr id="115" name="Image 39" descr="preencoded.png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4648200" y="3419475"/>
            <a:ext cx="171450" cy="171450"/>
          </a:xfrm>
          <a:prstGeom prst="rect">
            <a:avLst/>
          </a:prstGeom>
        </p:spPr>
      </p:pic>
      <p:sp>
        <p:nvSpPr>
          <p:cNvPr id="116" name="Text 74"/>
          <p:cNvSpPr/>
          <p:nvPr/>
        </p:nvSpPr>
        <p:spPr>
          <a:xfrm>
            <a:off x="4876800" y="3452813"/>
            <a:ext cx="71229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Products</a:t>
            </a:r>
            <a:endParaRPr lang="en-US" sz="638" dirty="0"/>
          </a:p>
        </p:txBody>
      </p:sp>
      <p:sp>
        <p:nvSpPr>
          <p:cNvPr id="117" name="Shape 75"/>
          <p:cNvSpPr/>
          <p:nvPr/>
        </p:nvSpPr>
        <p:spPr>
          <a:xfrm>
            <a:off x="4581525" y="3676650"/>
            <a:ext cx="2399407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pic>
        <p:nvPicPr>
          <p:cNvPr id="118" name="Image 40" descr="preencoded.png">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648200" y="3724275"/>
            <a:ext cx="171450" cy="171450"/>
          </a:xfrm>
          <a:prstGeom prst="rect">
            <a:avLst/>
          </a:prstGeom>
        </p:spPr>
      </p:pic>
      <p:sp>
        <p:nvSpPr>
          <p:cNvPr id="119" name="Text 76"/>
          <p:cNvSpPr/>
          <p:nvPr/>
        </p:nvSpPr>
        <p:spPr>
          <a:xfrm>
            <a:off x="4876800" y="3757613"/>
            <a:ext cx="73297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&amp; Data Conv.</a:t>
            </a:r>
            <a:endParaRPr lang="en-US" sz="638" dirty="0"/>
          </a:p>
        </p:txBody>
      </p:sp>
      <p:sp>
        <p:nvSpPr>
          <p:cNvPr id="120" name="Shape 77"/>
          <p:cNvSpPr/>
          <p:nvPr/>
        </p:nvSpPr>
        <p:spPr>
          <a:xfrm>
            <a:off x="4581525" y="3981450"/>
            <a:ext cx="2399407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pic>
        <p:nvPicPr>
          <p:cNvPr id="121" name="Image 41" descr="preencoded.png">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648200" y="4029075"/>
            <a:ext cx="171450" cy="171450"/>
          </a:xfrm>
          <a:prstGeom prst="rect">
            <a:avLst/>
          </a:prstGeom>
        </p:spPr>
      </p:pic>
      <p:sp>
        <p:nvSpPr>
          <p:cNvPr id="122" name="Text 78"/>
          <p:cNvSpPr/>
          <p:nvPr/>
        </p:nvSpPr>
        <p:spPr>
          <a:xfrm>
            <a:off x="4876800" y="4062412"/>
            <a:ext cx="67463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Query Gen.</a:t>
            </a:r>
            <a:endParaRPr lang="en-US" sz="638" dirty="0"/>
          </a:p>
        </p:txBody>
      </p:sp>
      <p:sp>
        <p:nvSpPr>
          <p:cNvPr id="123" name="Shape 79"/>
          <p:cNvSpPr/>
          <p:nvPr/>
        </p:nvSpPr>
        <p:spPr>
          <a:xfrm>
            <a:off x="4581525" y="4286250"/>
            <a:ext cx="2399407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CEFEA"/>
            </a:solidFill>
            <a:prstDash val="solid"/>
          </a:ln>
        </p:spPr>
      </p:sp>
      <p:pic>
        <p:nvPicPr>
          <p:cNvPr id="124" name="Image 42" descr="preencoded.png">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4648200" y="4333875"/>
            <a:ext cx="171450" cy="171450"/>
          </a:xfrm>
          <a:prstGeom prst="rect">
            <a:avLst/>
          </a:prstGeom>
        </p:spPr>
      </p:pic>
      <p:sp>
        <p:nvSpPr>
          <p:cNvPr id="125" name="Text 80"/>
          <p:cNvSpPr/>
          <p:nvPr/>
        </p:nvSpPr>
        <p:spPr>
          <a:xfrm>
            <a:off x="4876800" y="4367213"/>
            <a:ext cx="56004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Handling</a:t>
            </a:r>
            <a:endParaRPr lang="en-US" sz="638" dirty="0"/>
          </a:p>
        </p:txBody>
      </p:sp>
      <p:pic>
        <p:nvPicPr>
          <p:cNvPr id="126" name="Image 43" descr="preencoded.png">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090470" y="3218408"/>
            <a:ext cx="142875" cy="114300"/>
          </a:xfrm>
          <a:prstGeom prst="rect">
            <a:avLst/>
          </a:prstGeom>
        </p:spPr>
      </p:pic>
      <p:sp>
        <p:nvSpPr>
          <p:cNvPr id="127" name="Text 81"/>
          <p:cNvSpPr/>
          <p:nvPr/>
        </p:nvSpPr>
        <p:spPr>
          <a:xfrm>
            <a:off x="7119045" y="3380333"/>
            <a:ext cx="161925" cy="564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488" b="1" spc="22" kern="0" dirty="0">
                <a:solidFill>
                  <a:srgbClr val="1B5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/ WRITES</a:t>
            </a:r>
            <a:endParaRPr lang="en-US" sz="488" dirty="0"/>
          </a:p>
        </p:txBody>
      </p:sp>
      <p:sp>
        <p:nvSpPr>
          <p:cNvPr id="128" name="Shape 82"/>
          <p:cNvSpPr/>
          <p:nvPr/>
        </p:nvSpPr>
        <p:spPr>
          <a:xfrm>
            <a:off x="7285732" y="904875"/>
            <a:ext cx="2096393" cy="5314950"/>
          </a:xfrm>
          <a:prstGeom prst="roundRect">
            <a:avLst>
              <a:gd name="adj" fmla="val 3635"/>
            </a:avLst>
          </a:prstGeom>
          <a:solidFill>
            <a:srgbClr val="F4F9FF"/>
          </a:solidFill>
          <a:ln w="9525">
            <a:solidFill>
              <a:srgbClr val="2E7BD6"/>
            </a:solidFill>
            <a:prstDash val="dash"/>
          </a:ln>
        </p:spPr>
      </p:sp>
      <p:sp>
        <p:nvSpPr>
          <p:cNvPr id="129" name="Text 83"/>
          <p:cNvSpPr/>
          <p:nvPr/>
        </p:nvSpPr>
        <p:spPr>
          <a:xfrm>
            <a:off x="7342882" y="971550"/>
            <a:ext cx="218030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22" kern="0" dirty="0">
                <a:solidFill>
                  <a:srgbClr val="1B5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SUBNET · STORAGE</a:t>
            </a:r>
            <a:endParaRPr lang="en-US" sz="638" dirty="0"/>
          </a:p>
        </p:txBody>
      </p:sp>
      <p:sp>
        <p:nvSpPr>
          <p:cNvPr id="130" name="Shape 84"/>
          <p:cNvSpPr/>
          <p:nvPr/>
        </p:nvSpPr>
        <p:spPr>
          <a:xfrm>
            <a:off x="7342882" y="3100388"/>
            <a:ext cx="1982093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8E6F5"/>
            </a:solidFill>
            <a:prstDash val="solid"/>
          </a:ln>
        </p:spPr>
      </p:sp>
      <p:pic>
        <p:nvPicPr>
          <p:cNvPr id="131" name="Image 44" descr="preencoded.png">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7409557" y="3157538"/>
            <a:ext cx="209550" cy="209550"/>
          </a:xfrm>
          <a:prstGeom prst="rect">
            <a:avLst/>
          </a:prstGeom>
        </p:spPr>
      </p:pic>
      <p:sp>
        <p:nvSpPr>
          <p:cNvPr id="132" name="Text 85"/>
          <p:cNvSpPr/>
          <p:nvPr/>
        </p:nvSpPr>
        <p:spPr>
          <a:xfrm>
            <a:off x="7676257" y="3181201"/>
            <a:ext cx="1481911" cy="127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 (Local LLM)</a:t>
            </a:r>
            <a:endParaRPr lang="en-US" sz="638" dirty="0"/>
          </a:p>
        </p:txBody>
      </p:sp>
      <p:sp>
        <p:nvSpPr>
          <p:cNvPr id="133" name="Text 86"/>
          <p:cNvSpPr/>
          <p:nvPr/>
        </p:nvSpPr>
        <p:spPr>
          <a:xfrm>
            <a:off x="7676257" y="3270200"/>
            <a:ext cx="1481911" cy="11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525" dirty="0"/>
          </a:p>
        </p:txBody>
      </p:sp>
      <p:sp>
        <p:nvSpPr>
          <p:cNvPr id="134" name="Shape 87"/>
          <p:cNvSpPr/>
          <p:nvPr/>
        </p:nvSpPr>
        <p:spPr>
          <a:xfrm>
            <a:off x="9080599" y="3209925"/>
            <a:ext cx="177701" cy="104775"/>
          </a:xfrm>
          <a:prstGeom prst="roundRect">
            <a:avLst>
              <a:gd name="adj" fmla="val 27273"/>
            </a:avLst>
          </a:prstGeom>
          <a:solidFill>
            <a:srgbClr val="E8F0FE"/>
          </a:solidFill>
          <a:ln/>
        </p:spPr>
      </p:sp>
      <p:sp>
        <p:nvSpPr>
          <p:cNvPr id="135" name="Text 88"/>
          <p:cNvSpPr/>
          <p:nvPr/>
        </p:nvSpPr>
        <p:spPr>
          <a:xfrm>
            <a:off x="9109174" y="3219450"/>
            <a:ext cx="196751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8" b="1" dirty="0">
                <a:solidFill>
                  <a:srgbClr val="1B5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</a:t>
            </a:r>
            <a:endParaRPr lang="en-US" sz="488" dirty="0"/>
          </a:p>
        </p:txBody>
      </p:sp>
      <p:sp>
        <p:nvSpPr>
          <p:cNvPr id="136" name="Shape 89"/>
          <p:cNvSpPr/>
          <p:nvPr/>
        </p:nvSpPr>
        <p:spPr>
          <a:xfrm>
            <a:off x="7342882" y="3471863"/>
            <a:ext cx="1982093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8E6F5"/>
            </a:solidFill>
            <a:prstDash val="solid"/>
          </a:ln>
        </p:spPr>
      </p:sp>
      <p:pic>
        <p:nvPicPr>
          <p:cNvPr id="137" name="Image 45" descr="preencoded.png">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7409557" y="3529013"/>
            <a:ext cx="209550" cy="209550"/>
          </a:xfrm>
          <a:prstGeom prst="rect">
            <a:avLst/>
          </a:prstGeom>
        </p:spPr>
      </p:pic>
      <p:sp>
        <p:nvSpPr>
          <p:cNvPr id="138" name="Text 90"/>
          <p:cNvSpPr/>
          <p:nvPr/>
        </p:nvSpPr>
        <p:spPr>
          <a:xfrm>
            <a:off x="7676257" y="3552676"/>
            <a:ext cx="1481911" cy="127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 (MySQL)</a:t>
            </a:r>
            <a:endParaRPr lang="en-US" sz="638" dirty="0"/>
          </a:p>
        </p:txBody>
      </p:sp>
      <p:sp>
        <p:nvSpPr>
          <p:cNvPr id="139" name="Text 91"/>
          <p:cNvSpPr/>
          <p:nvPr/>
        </p:nvSpPr>
        <p:spPr>
          <a:xfrm>
            <a:off x="7676257" y="3641675"/>
            <a:ext cx="1481911" cy="11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</a:t>
            </a:r>
            <a:endParaRPr lang="en-US" sz="525" dirty="0"/>
          </a:p>
        </p:txBody>
      </p:sp>
      <p:sp>
        <p:nvSpPr>
          <p:cNvPr id="140" name="Shape 92"/>
          <p:cNvSpPr/>
          <p:nvPr/>
        </p:nvSpPr>
        <p:spPr>
          <a:xfrm>
            <a:off x="9080599" y="3581400"/>
            <a:ext cx="177701" cy="104775"/>
          </a:xfrm>
          <a:prstGeom prst="roundRect">
            <a:avLst>
              <a:gd name="adj" fmla="val 27273"/>
            </a:avLst>
          </a:prstGeom>
          <a:solidFill>
            <a:srgbClr val="E8F0FE"/>
          </a:solidFill>
          <a:ln/>
        </p:spPr>
      </p:sp>
      <p:sp>
        <p:nvSpPr>
          <p:cNvPr id="141" name="Text 93"/>
          <p:cNvSpPr/>
          <p:nvPr/>
        </p:nvSpPr>
        <p:spPr>
          <a:xfrm>
            <a:off x="9109174" y="3590925"/>
            <a:ext cx="196751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8" b="1" dirty="0">
                <a:solidFill>
                  <a:srgbClr val="1B5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</a:t>
            </a:r>
            <a:endParaRPr lang="en-US" sz="488" dirty="0"/>
          </a:p>
        </p:txBody>
      </p:sp>
      <p:sp>
        <p:nvSpPr>
          <p:cNvPr id="142" name="Shape 94"/>
          <p:cNvSpPr/>
          <p:nvPr/>
        </p:nvSpPr>
        <p:spPr>
          <a:xfrm>
            <a:off x="7342882" y="3843338"/>
            <a:ext cx="1982093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8E6F5"/>
            </a:solidFill>
            <a:prstDash val="solid"/>
          </a:ln>
        </p:spPr>
      </p:sp>
      <p:pic>
        <p:nvPicPr>
          <p:cNvPr id="143" name="Image 46" descr="preencoded.png">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7409557" y="3900488"/>
            <a:ext cx="209550" cy="209550"/>
          </a:xfrm>
          <a:prstGeom prst="rect">
            <a:avLst/>
          </a:prstGeom>
        </p:spPr>
      </p:pic>
      <p:sp>
        <p:nvSpPr>
          <p:cNvPr id="144" name="Text 95"/>
          <p:cNvSpPr/>
          <p:nvPr/>
        </p:nvSpPr>
        <p:spPr>
          <a:xfrm>
            <a:off x="7676257" y="3924151"/>
            <a:ext cx="1481911" cy="127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(Files)</a:t>
            </a:r>
            <a:endParaRPr lang="en-US" sz="638" dirty="0"/>
          </a:p>
        </p:txBody>
      </p:sp>
      <p:sp>
        <p:nvSpPr>
          <p:cNvPr id="145" name="Text 96"/>
          <p:cNvSpPr/>
          <p:nvPr/>
        </p:nvSpPr>
        <p:spPr>
          <a:xfrm>
            <a:off x="7676257" y="4013150"/>
            <a:ext cx="1481911" cy="11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</a:t>
            </a:r>
            <a:endParaRPr lang="en-US" sz="525" dirty="0"/>
          </a:p>
        </p:txBody>
      </p:sp>
      <p:sp>
        <p:nvSpPr>
          <p:cNvPr id="146" name="Shape 97"/>
          <p:cNvSpPr/>
          <p:nvPr/>
        </p:nvSpPr>
        <p:spPr>
          <a:xfrm>
            <a:off x="9080599" y="3952875"/>
            <a:ext cx="177701" cy="104775"/>
          </a:xfrm>
          <a:prstGeom prst="roundRect">
            <a:avLst>
              <a:gd name="adj" fmla="val 27273"/>
            </a:avLst>
          </a:prstGeom>
          <a:solidFill>
            <a:srgbClr val="E8F0FE"/>
          </a:solidFill>
          <a:ln/>
        </p:spPr>
      </p:sp>
      <p:sp>
        <p:nvSpPr>
          <p:cNvPr id="147" name="Text 98"/>
          <p:cNvSpPr/>
          <p:nvPr/>
        </p:nvSpPr>
        <p:spPr>
          <a:xfrm>
            <a:off x="9109174" y="3962400"/>
            <a:ext cx="196751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8" b="1" dirty="0">
                <a:solidFill>
                  <a:srgbClr val="1B5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</a:t>
            </a:r>
            <a:endParaRPr lang="en-US" sz="488" dirty="0"/>
          </a:p>
        </p:txBody>
      </p:sp>
      <p:pic>
        <p:nvPicPr>
          <p:cNvPr id="148" name="Image 47" descr="preencoded.png">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9586913" y="2651820"/>
            <a:ext cx="142875" cy="142875"/>
          </a:xfrm>
          <a:prstGeom prst="rect">
            <a:avLst/>
          </a:prstGeom>
        </p:spPr>
      </p:pic>
      <p:sp>
        <p:nvSpPr>
          <p:cNvPr id="149" name="Text 99"/>
          <p:cNvSpPr/>
          <p:nvPr/>
        </p:nvSpPr>
        <p:spPr>
          <a:xfrm>
            <a:off x="9610725" y="2851845"/>
            <a:ext cx="171450" cy="792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525" b="1" spc="30" kern="0" dirty="0">
                <a:solidFill>
                  <a:srgbClr val="B008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SECURES VPC &amp; EDGE</a:t>
            </a:r>
            <a:endParaRPr lang="en-US" sz="525" dirty="0"/>
          </a:p>
        </p:txBody>
      </p:sp>
      <p:pic>
        <p:nvPicPr>
          <p:cNvPr id="150" name="Image 48" descr="preencoded.png">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9586913" y="5518100"/>
            <a:ext cx="142875" cy="142875"/>
          </a:xfrm>
          <a:prstGeom prst="rect">
            <a:avLst/>
          </a:prstGeom>
        </p:spPr>
      </p:pic>
      <p:sp>
        <p:nvSpPr>
          <p:cNvPr id="151" name="Text 100"/>
          <p:cNvSpPr/>
          <p:nvPr/>
        </p:nvSpPr>
        <p:spPr>
          <a:xfrm>
            <a:off x="9610725" y="5718125"/>
            <a:ext cx="171450" cy="67002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525" b="1" spc="30" kern="0" dirty="0">
                <a:solidFill>
                  <a:srgbClr val="C25E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MONITORS &amp; OPS</a:t>
            </a:r>
            <a:endParaRPr lang="en-US" sz="525" dirty="0"/>
          </a:p>
        </p:txBody>
      </p:sp>
      <p:sp>
        <p:nvSpPr>
          <p:cNvPr id="152" name="Shape 101"/>
          <p:cNvSpPr/>
          <p:nvPr/>
        </p:nvSpPr>
        <p:spPr>
          <a:xfrm>
            <a:off x="9829800" y="714375"/>
            <a:ext cx="2247900" cy="4692104"/>
          </a:xfrm>
          <a:prstGeom prst="roundRect">
            <a:avLst>
              <a:gd name="adj" fmla="val 4237"/>
            </a:avLst>
          </a:prstGeom>
          <a:solidFill>
            <a:srgbClr val="FFF7F8"/>
          </a:solidFill>
          <a:ln w="9525">
            <a:solidFill>
              <a:srgbClr val="F3C9CF"/>
            </a:solidFill>
            <a:prstDash val="solid"/>
          </a:ln>
        </p:spPr>
      </p:sp>
      <p:sp>
        <p:nvSpPr>
          <p:cNvPr id="153" name="Text 102"/>
          <p:cNvSpPr/>
          <p:nvPr/>
        </p:nvSpPr>
        <p:spPr>
          <a:xfrm>
            <a:off x="9915525" y="800100"/>
            <a:ext cx="22840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0" kern="0" dirty="0">
                <a:solidFill>
                  <a:srgbClr val="B008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ACCESS CONTROL</a:t>
            </a:r>
            <a:endParaRPr lang="en-US" sz="675" dirty="0"/>
          </a:p>
        </p:txBody>
      </p:sp>
      <p:sp>
        <p:nvSpPr>
          <p:cNvPr id="154" name="Shape 103"/>
          <p:cNvSpPr/>
          <p:nvPr/>
        </p:nvSpPr>
        <p:spPr>
          <a:xfrm>
            <a:off x="9915525" y="971550"/>
            <a:ext cx="1009650" cy="523131"/>
          </a:xfrm>
          <a:prstGeom prst="roundRect">
            <a:avLst>
              <a:gd name="adj" fmla="val 10925"/>
            </a:avLst>
          </a:prstGeom>
          <a:solidFill>
            <a:srgbClr val="FFFFFF"/>
          </a:solidFill>
          <a:ln w="9525">
            <a:solidFill>
              <a:srgbClr val="F1D6DB"/>
            </a:solidFill>
            <a:prstDash val="solid"/>
          </a:ln>
        </p:spPr>
      </p:sp>
      <p:pic>
        <p:nvPicPr>
          <p:cNvPr id="155" name="Image 49" descr="preencoded.png">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0315575" y="1028700"/>
            <a:ext cx="209550" cy="209550"/>
          </a:xfrm>
          <a:prstGeom prst="rect">
            <a:avLst/>
          </a:prstGeom>
        </p:spPr>
      </p:pic>
      <p:sp>
        <p:nvSpPr>
          <p:cNvPr id="156" name="Text 104"/>
          <p:cNvSpPr/>
          <p:nvPr/>
        </p:nvSpPr>
        <p:spPr>
          <a:xfrm>
            <a:off x="10189666" y="1247775"/>
            <a:ext cx="461367" cy="1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 Roles</a:t>
            </a:r>
            <a:endParaRPr lang="en-US" sz="638" dirty="0"/>
          </a:p>
        </p:txBody>
      </p:sp>
      <p:sp>
        <p:nvSpPr>
          <p:cNvPr id="157" name="Text 105"/>
          <p:cNvSpPr/>
          <p:nvPr/>
        </p:nvSpPr>
        <p:spPr>
          <a:xfrm>
            <a:off x="10170765" y="1342281"/>
            <a:ext cx="49917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control</a:t>
            </a:r>
            <a:endParaRPr lang="en-US" sz="525" dirty="0"/>
          </a:p>
        </p:txBody>
      </p:sp>
      <p:sp>
        <p:nvSpPr>
          <p:cNvPr id="158" name="Shape 106"/>
          <p:cNvSpPr/>
          <p:nvPr/>
        </p:nvSpPr>
        <p:spPr>
          <a:xfrm>
            <a:off x="10982325" y="971550"/>
            <a:ext cx="1009650" cy="523131"/>
          </a:xfrm>
          <a:prstGeom prst="roundRect">
            <a:avLst>
              <a:gd name="adj" fmla="val 10925"/>
            </a:avLst>
          </a:prstGeom>
          <a:solidFill>
            <a:srgbClr val="FFFFFF"/>
          </a:solidFill>
          <a:ln w="9525">
            <a:solidFill>
              <a:srgbClr val="F1D6DB"/>
            </a:solidFill>
            <a:prstDash val="solid"/>
          </a:ln>
        </p:spPr>
      </p:sp>
      <p:pic>
        <p:nvPicPr>
          <p:cNvPr id="159" name="Image 50" descr="preencoded.png">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11382375" y="1028700"/>
            <a:ext cx="209550" cy="209550"/>
          </a:xfrm>
          <a:prstGeom prst="rect">
            <a:avLst/>
          </a:prstGeom>
        </p:spPr>
      </p:pic>
      <p:sp>
        <p:nvSpPr>
          <p:cNvPr id="160" name="Text 107"/>
          <p:cNvSpPr/>
          <p:nvPr/>
        </p:nvSpPr>
        <p:spPr>
          <a:xfrm>
            <a:off x="11183987" y="1247775"/>
            <a:ext cx="606326" cy="1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Cognito Pools</a:t>
            </a:r>
            <a:endParaRPr lang="en-US" sz="638" dirty="0"/>
          </a:p>
        </p:txBody>
      </p:sp>
      <p:sp>
        <p:nvSpPr>
          <p:cNvPr id="161" name="Text 108"/>
          <p:cNvSpPr/>
          <p:nvPr/>
        </p:nvSpPr>
        <p:spPr>
          <a:xfrm>
            <a:off x="11232654" y="1342281"/>
            <a:ext cx="50884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AuthN / AuthZ</a:t>
            </a:r>
            <a:endParaRPr lang="en-US" sz="525" dirty="0"/>
          </a:p>
        </p:txBody>
      </p:sp>
      <p:sp>
        <p:nvSpPr>
          <p:cNvPr id="162" name="Shape 109"/>
          <p:cNvSpPr/>
          <p:nvPr/>
        </p:nvSpPr>
        <p:spPr>
          <a:xfrm>
            <a:off x="9915525" y="2701677"/>
            <a:ext cx="1009650" cy="523131"/>
          </a:xfrm>
          <a:prstGeom prst="roundRect">
            <a:avLst>
              <a:gd name="adj" fmla="val 10925"/>
            </a:avLst>
          </a:prstGeom>
          <a:solidFill>
            <a:srgbClr val="FFFFFF"/>
          </a:solidFill>
          <a:ln w="9525">
            <a:solidFill>
              <a:srgbClr val="F1D6DB"/>
            </a:solidFill>
            <a:prstDash val="solid"/>
          </a:ln>
        </p:spPr>
      </p:sp>
      <p:pic>
        <p:nvPicPr>
          <p:cNvPr id="163" name="Image 51" descr="preencoded.png">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10315575" y="2758827"/>
            <a:ext cx="209550" cy="209550"/>
          </a:xfrm>
          <a:prstGeom prst="rect">
            <a:avLst/>
          </a:prstGeom>
        </p:spPr>
      </p:pic>
      <p:sp>
        <p:nvSpPr>
          <p:cNvPr id="164" name="Text 110"/>
          <p:cNvSpPr/>
          <p:nvPr/>
        </p:nvSpPr>
        <p:spPr>
          <a:xfrm>
            <a:off x="10191750" y="2977902"/>
            <a:ext cx="457200" cy="1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WAF</a:t>
            </a:r>
            <a:endParaRPr lang="en-US" sz="638" dirty="0"/>
          </a:p>
        </p:txBody>
      </p:sp>
      <p:sp>
        <p:nvSpPr>
          <p:cNvPr id="165" name="Text 111"/>
          <p:cNvSpPr/>
          <p:nvPr/>
        </p:nvSpPr>
        <p:spPr>
          <a:xfrm>
            <a:off x="10171361" y="3072408"/>
            <a:ext cx="49783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protection</a:t>
            </a:r>
            <a:endParaRPr lang="en-US" sz="525" dirty="0"/>
          </a:p>
        </p:txBody>
      </p:sp>
      <p:sp>
        <p:nvSpPr>
          <p:cNvPr id="166" name="Shape 112"/>
          <p:cNvSpPr/>
          <p:nvPr/>
        </p:nvSpPr>
        <p:spPr>
          <a:xfrm>
            <a:off x="10982325" y="2701677"/>
            <a:ext cx="1009650" cy="523131"/>
          </a:xfrm>
          <a:prstGeom prst="roundRect">
            <a:avLst>
              <a:gd name="adj" fmla="val 10925"/>
            </a:avLst>
          </a:prstGeom>
          <a:solidFill>
            <a:srgbClr val="FFFFFF"/>
          </a:solidFill>
          <a:ln w="9525">
            <a:solidFill>
              <a:srgbClr val="F1D6DB"/>
            </a:solidFill>
            <a:prstDash val="solid"/>
          </a:ln>
        </p:spPr>
      </p:sp>
      <p:pic>
        <p:nvPicPr>
          <p:cNvPr id="167" name="Image 52" descr="preencoded.png">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1382375" y="2758827"/>
            <a:ext cx="209550" cy="209550"/>
          </a:xfrm>
          <a:prstGeom prst="rect">
            <a:avLst/>
          </a:prstGeom>
        </p:spPr>
      </p:pic>
      <p:sp>
        <p:nvSpPr>
          <p:cNvPr id="168" name="Text 113"/>
          <p:cNvSpPr/>
          <p:nvPr/>
        </p:nvSpPr>
        <p:spPr>
          <a:xfrm>
            <a:off x="11148566" y="2977902"/>
            <a:ext cx="677019" cy="1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 Sec Groups</a:t>
            </a:r>
            <a:endParaRPr lang="en-US" sz="638" dirty="0"/>
          </a:p>
        </p:txBody>
      </p:sp>
      <p:sp>
        <p:nvSpPr>
          <p:cNvPr id="169" name="Text 114"/>
          <p:cNvSpPr/>
          <p:nvPr/>
        </p:nvSpPr>
        <p:spPr>
          <a:xfrm>
            <a:off x="11323588" y="3072408"/>
            <a:ext cx="32697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</a:t>
            </a:r>
            <a:endParaRPr lang="en-US" sz="525" dirty="0"/>
          </a:p>
        </p:txBody>
      </p:sp>
      <p:sp>
        <p:nvSpPr>
          <p:cNvPr id="170" name="Shape 115"/>
          <p:cNvSpPr/>
          <p:nvPr/>
        </p:nvSpPr>
        <p:spPr>
          <a:xfrm>
            <a:off x="9915525" y="4431804"/>
            <a:ext cx="1009650" cy="523131"/>
          </a:xfrm>
          <a:prstGeom prst="roundRect">
            <a:avLst>
              <a:gd name="adj" fmla="val 10925"/>
            </a:avLst>
          </a:prstGeom>
          <a:solidFill>
            <a:srgbClr val="FFFFFF"/>
          </a:solidFill>
          <a:ln w="9525">
            <a:solidFill>
              <a:srgbClr val="F1D6DB"/>
            </a:solidFill>
            <a:prstDash val="solid"/>
          </a:ln>
        </p:spPr>
      </p:sp>
      <p:pic>
        <p:nvPicPr>
          <p:cNvPr id="171" name="Image 53" descr="preencoded.png">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0315575" y="4488954"/>
            <a:ext cx="209550" cy="209550"/>
          </a:xfrm>
          <a:prstGeom prst="rect">
            <a:avLst/>
          </a:prstGeom>
        </p:spPr>
      </p:pic>
      <p:sp>
        <p:nvSpPr>
          <p:cNvPr id="172" name="Text 116"/>
          <p:cNvSpPr/>
          <p:nvPr/>
        </p:nvSpPr>
        <p:spPr>
          <a:xfrm>
            <a:off x="10155585" y="4708029"/>
            <a:ext cx="529382" cy="1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Mgr</a:t>
            </a:r>
            <a:endParaRPr lang="en-US" sz="638" dirty="0"/>
          </a:p>
        </p:txBody>
      </p:sp>
      <p:sp>
        <p:nvSpPr>
          <p:cNvPr id="173" name="Text 117"/>
          <p:cNvSpPr/>
          <p:nvPr/>
        </p:nvSpPr>
        <p:spPr>
          <a:xfrm>
            <a:off x="10218093" y="4802535"/>
            <a:ext cx="40451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</a:t>
            </a:r>
            <a:endParaRPr lang="en-US" sz="525" dirty="0"/>
          </a:p>
        </p:txBody>
      </p:sp>
      <p:sp>
        <p:nvSpPr>
          <p:cNvPr id="174" name="Shape 118"/>
          <p:cNvSpPr/>
          <p:nvPr/>
        </p:nvSpPr>
        <p:spPr>
          <a:xfrm>
            <a:off x="10982325" y="4431804"/>
            <a:ext cx="1009650" cy="523131"/>
          </a:xfrm>
          <a:prstGeom prst="roundRect">
            <a:avLst>
              <a:gd name="adj" fmla="val 10925"/>
            </a:avLst>
          </a:prstGeom>
          <a:solidFill>
            <a:srgbClr val="FFFFFF"/>
          </a:solidFill>
          <a:ln w="9525">
            <a:solidFill>
              <a:srgbClr val="F1D6DB"/>
            </a:solidFill>
            <a:prstDash val="solid"/>
          </a:ln>
        </p:spPr>
      </p:sp>
      <p:pic>
        <p:nvPicPr>
          <p:cNvPr id="175" name="Image 54" descr="preencoded.png">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1382375" y="4488954"/>
            <a:ext cx="209550" cy="209550"/>
          </a:xfrm>
          <a:prstGeom prst="rect">
            <a:avLst/>
          </a:prstGeom>
        </p:spPr>
      </p:pic>
      <p:sp>
        <p:nvSpPr>
          <p:cNvPr id="176" name="Text 119"/>
          <p:cNvSpPr/>
          <p:nvPr/>
        </p:nvSpPr>
        <p:spPr>
          <a:xfrm>
            <a:off x="11259592" y="4708029"/>
            <a:ext cx="455116" cy="12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38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KMS</a:t>
            </a:r>
            <a:endParaRPr lang="en-US" sz="638" dirty="0"/>
          </a:p>
        </p:txBody>
      </p:sp>
      <p:sp>
        <p:nvSpPr>
          <p:cNvPr id="177" name="Text 120"/>
          <p:cNvSpPr/>
          <p:nvPr/>
        </p:nvSpPr>
        <p:spPr>
          <a:xfrm>
            <a:off x="11299031" y="4802535"/>
            <a:ext cx="37623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7A82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mgmt</a:t>
            </a:r>
            <a:endParaRPr lang="en-US" sz="525" dirty="0"/>
          </a:p>
        </p:txBody>
      </p:sp>
      <p:sp>
        <p:nvSpPr>
          <p:cNvPr id="178" name="Shape 121"/>
          <p:cNvSpPr/>
          <p:nvPr/>
        </p:nvSpPr>
        <p:spPr>
          <a:xfrm>
            <a:off x="9915525" y="5021759"/>
            <a:ext cx="2076450" cy="298996"/>
          </a:xfrm>
          <a:prstGeom prst="roundRect">
            <a:avLst>
              <a:gd name="adj" fmla="val 22300"/>
            </a:avLst>
          </a:prstGeom>
          <a:solidFill>
            <a:srgbClr val="B0084D"/>
          </a:solidFill>
          <a:ln/>
        </p:spPr>
      </p:sp>
      <p:sp>
        <p:nvSpPr>
          <p:cNvPr id="179" name="Text 122"/>
          <p:cNvSpPr/>
          <p:nvPr/>
        </p:nvSpPr>
        <p:spPr>
          <a:xfrm>
            <a:off x="10001250" y="5069384"/>
            <a:ext cx="209550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spc="38" kern="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ENCRYPTION</a:t>
            </a:r>
            <a:endParaRPr lang="en-US" sz="563" dirty="0"/>
          </a:p>
        </p:txBody>
      </p:sp>
      <p:sp>
        <p:nvSpPr>
          <p:cNvPr id="180" name="Text 123"/>
          <p:cNvSpPr/>
          <p:nvPr/>
        </p:nvSpPr>
        <p:spPr>
          <a:xfrm>
            <a:off x="10001250" y="5174159"/>
            <a:ext cx="2095500" cy="137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in-transit · AES-256 at-rest · KMS keys</a:t>
            </a:r>
            <a:endParaRPr lang="en-US" sz="600" dirty="0"/>
          </a:p>
        </p:txBody>
      </p:sp>
      <p:sp>
        <p:nvSpPr>
          <p:cNvPr id="181" name="Shape 124"/>
          <p:cNvSpPr/>
          <p:nvPr/>
        </p:nvSpPr>
        <p:spPr>
          <a:xfrm>
            <a:off x="9829800" y="5482679"/>
            <a:ext cx="2247900" cy="841921"/>
          </a:xfrm>
          <a:prstGeom prst="roundRect">
            <a:avLst>
              <a:gd name="adj" fmla="val 1131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2" name="Text 125"/>
          <p:cNvSpPr/>
          <p:nvPr/>
        </p:nvSpPr>
        <p:spPr>
          <a:xfrm>
            <a:off x="9915525" y="5568404"/>
            <a:ext cx="22840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8" kern="0" dirty="0">
                <a:solidFill>
                  <a:srgbClr val="69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SERVICES</a:t>
            </a:r>
            <a:endParaRPr lang="en-US" sz="675" dirty="0"/>
          </a:p>
        </p:txBody>
      </p:sp>
      <p:sp>
        <p:nvSpPr>
          <p:cNvPr id="183" name="Text 126"/>
          <p:cNvSpPr/>
          <p:nvPr/>
        </p:nvSpPr>
        <p:spPr>
          <a:xfrm>
            <a:off x="9915525" y="5692229"/>
            <a:ext cx="228409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9AA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/ managed · via VPC endpoints</a:t>
            </a:r>
            <a:endParaRPr lang="en-US" sz="525" dirty="0"/>
          </a:p>
        </p:txBody>
      </p:sp>
      <p:sp>
        <p:nvSpPr>
          <p:cNvPr id="184" name="Shape 127"/>
          <p:cNvSpPr/>
          <p:nvPr/>
        </p:nvSpPr>
        <p:spPr>
          <a:xfrm>
            <a:off x="9915525" y="5844629"/>
            <a:ext cx="653951" cy="394246"/>
          </a:xfrm>
          <a:prstGeom prst="roundRect">
            <a:avLst>
              <a:gd name="adj" fmla="val 14496"/>
            </a:avLst>
          </a:prstGeom>
          <a:solidFill>
            <a:srgbClr val="FFFFFF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185" name="Image 55" descr="preencoded.png">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0147250" y="5901779"/>
            <a:ext cx="190500" cy="190500"/>
          </a:xfrm>
          <a:prstGeom prst="rect">
            <a:avLst/>
          </a:prstGeom>
        </p:spPr>
      </p:pic>
      <p:sp>
        <p:nvSpPr>
          <p:cNvPr id="186" name="Text 128"/>
          <p:cNvSpPr/>
          <p:nvPr/>
        </p:nvSpPr>
        <p:spPr>
          <a:xfrm>
            <a:off x="9986665" y="6101804"/>
            <a:ext cx="511671" cy="11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CloudWatch</a:t>
            </a:r>
            <a:endParaRPr lang="en-US" sz="600" dirty="0"/>
          </a:p>
        </p:txBody>
      </p:sp>
      <p:sp>
        <p:nvSpPr>
          <p:cNvPr id="187" name="Shape 129"/>
          <p:cNvSpPr/>
          <p:nvPr/>
        </p:nvSpPr>
        <p:spPr>
          <a:xfrm>
            <a:off x="10626626" y="5844629"/>
            <a:ext cx="654100" cy="394246"/>
          </a:xfrm>
          <a:prstGeom prst="roundRect">
            <a:avLst>
              <a:gd name="adj" fmla="val 14496"/>
            </a:avLst>
          </a:prstGeom>
          <a:solidFill>
            <a:srgbClr val="FFFFFF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188" name="Image 56" descr="preencoded.png">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0858351" y="5901779"/>
            <a:ext cx="190500" cy="190500"/>
          </a:xfrm>
          <a:prstGeom prst="rect">
            <a:avLst/>
          </a:prstGeom>
        </p:spPr>
      </p:pic>
      <p:sp>
        <p:nvSpPr>
          <p:cNvPr id="189" name="Text 130"/>
          <p:cNvSpPr/>
          <p:nvPr/>
        </p:nvSpPr>
        <p:spPr>
          <a:xfrm>
            <a:off x="10734229" y="6101804"/>
            <a:ext cx="438745" cy="11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 Roles</a:t>
            </a:r>
            <a:endParaRPr lang="en-US" sz="600" dirty="0"/>
          </a:p>
        </p:txBody>
      </p:sp>
      <p:sp>
        <p:nvSpPr>
          <p:cNvPr id="190" name="Shape 131"/>
          <p:cNvSpPr/>
          <p:nvPr/>
        </p:nvSpPr>
        <p:spPr>
          <a:xfrm>
            <a:off x="11337875" y="5844629"/>
            <a:ext cx="654100" cy="394246"/>
          </a:xfrm>
          <a:prstGeom prst="roundRect">
            <a:avLst>
              <a:gd name="adj" fmla="val 14496"/>
            </a:avLst>
          </a:prstGeom>
          <a:solidFill>
            <a:srgbClr val="FFFFFF"/>
          </a:solidFill>
          <a:ln w="9525">
            <a:solidFill>
              <a:srgbClr val="E7E9EC"/>
            </a:solidFill>
            <a:prstDash val="solid"/>
          </a:ln>
        </p:spPr>
      </p:sp>
      <p:pic>
        <p:nvPicPr>
          <p:cNvPr id="191" name="Image 57" descr="preencoded.png">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11569601" y="5901779"/>
            <a:ext cx="190500" cy="190500"/>
          </a:xfrm>
          <a:prstGeom prst="rect">
            <a:avLst/>
          </a:prstGeom>
        </p:spPr>
      </p:pic>
      <p:sp>
        <p:nvSpPr>
          <p:cNvPr id="192" name="Text 132"/>
          <p:cNvSpPr/>
          <p:nvPr/>
        </p:nvSpPr>
        <p:spPr>
          <a:xfrm>
            <a:off x="11413629" y="6101804"/>
            <a:ext cx="502593" cy="11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Mgr</a:t>
            </a:r>
            <a:endParaRPr lang="en-US" sz="600" dirty="0"/>
          </a:p>
        </p:txBody>
      </p:sp>
      <p:sp>
        <p:nvSpPr>
          <p:cNvPr id="193" name="Shape 133"/>
          <p:cNvSpPr/>
          <p:nvPr/>
        </p:nvSpPr>
        <p:spPr>
          <a:xfrm>
            <a:off x="114300" y="6438900"/>
            <a:ext cx="11963400" cy="342900"/>
          </a:xfrm>
          <a:prstGeom prst="roundRect">
            <a:avLst>
              <a:gd name="adj" fmla="val 25000"/>
            </a:avLst>
          </a:prstGeom>
          <a:ln w="9525">
            <a:solidFill>
              <a:srgbClr val="E3E6EA"/>
            </a:solidFill>
            <a:prstDash val="solid"/>
          </a:ln>
        </p:spPr>
      </p:sp>
      <p:sp>
        <p:nvSpPr>
          <p:cNvPr id="194" name="Shape 134"/>
          <p:cNvSpPr/>
          <p:nvPr/>
        </p:nvSpPr>
        <p:spPr>
          <a:xfrm>
            <a:off x="219075" y="6538913"/>
            <a:ext cx="152400" cy="19050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195" name="Text 135"/>
          <p:cNvSpPr/>
          <p:nvPr/>
        </p:nvSpPr>
        <p:spPr>
          <a:xfrm>
            <a:off x="428625" y="6496050"/>
            <a:ext cx="5871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 boundary</a:t>
            </a:r>
            <a:endParaRPr lang="en-US" sz="638" dirty="0"/>
          </a:p>
        </p:txBody>
      </p:sp>
      <p:sp>
        <p:nvSpPr>
          <p:cNvPr id="196" name="Shape 136"/>
          <p:cNvSpPr/>
          <p:nvPr/>
        </p:nvSpPr>
        <p:spPr>
          <a:xfrm>
            <a:off x="2600325" y="6538913"/>
            <a:ext cx="152400" cy="19050"/>
          </a:xfrm>
          <a:prstGeom prst="rect">
            <a:avLst/>
          </a:prstGeom>
          <a:solidFill>
            <a:srgbClr val="7A4FD0"/>
          </a:solidFill>
          <a:ln/>
        </p:spPr>
      </p:sp>
      <p:sp>
        <p:nvSpPr>
          <p:cNvPr id="197" name="Text 137"/>
          <p:cNvSpPr/>
          <p:nvPr/>
        </p:nvSpPr>
        <p:spPr>
          <a:xfrm>
            <a:off x="2809875" y="6496050"/>
            <a:ext cx="726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 edge → VPC</a:t>
            </a:r>
            <a:endParaRPr lang="en-US" sz="638" dirty="0"/>
          </a:p>
        </p:txBody>
      </p:sp>
      <p:sp>
        <p:nvSpPr>
          <p:cNvPr id="198" name="Shape 138"/>
          <p:cNvSpPr/>
          <p:nvPr/>
        </p:nvSpPr>
        <p:spPr>
          <a:xfrm>
            <a:off x="4981575" y="6538913"/>
            <a:ext cx="152400" cy="19050"/>
          </a:xfrm>
          <a:prstGeom prst="rect">
            <a:avLst/>
          </a:prstGeom>
          <a:solidFill>
            <a:srgbClr val="0A7C68"/>
          </a:solidFill>
          <a:ln/>
        </p:spPr>
      </p:sp>
      <p:sp>
        <p:nvSpPr>
          <p:cNvPr id="199" name="Text 139"/>
          <p:cNvSpPr/>
          <p:nvPr/>
        </p:nvSpPr>
        <p:spPr>
          <a:xfrm>
            <a:off x="5191125" y="6496050"/>
            <a:ext cx="8240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 AI (Bedrock) link</a:t>
            </a:r>
            <a:endParaRPr lang="en-US" sz="638" dirty="0"/>
          </a:p>
        </p:txBody>
      </p:sp>
      <p:sp>
        <p:nvSpPr>
          <p:cNvPr id="200" name="Shape 140"/>
          <p:cNvSpPr/>
          <p:nvPr/>
        </p:nvSpPr>
        <p:spPr>
          <a:xfrm>
            <a:off x="7362825" y="6538913"/>
            <a:ext cx="152400" cy="1905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01" name="Text 141"/>
          <p:cNvSpPr/>
          <p:nvPr/>
        </p:nvSpPr>
        <p:spPr>
          <a:xfrm>
            <a:off x="7572375" y="6496050"/>
            <a:ext cx="9394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(ECR → Lambda)</a:t>
            </a:r>
            <a:endParaRPr lang="en-US" sz="638" dirty="0"/>
          </a:p>
        </p:txBody>
      </p:sp>
      <p:sp>
        <p:nvSpPr>
          <p:cNvPr id="202" name="Shape 142"/>
          <p:cNvSpPr/>
          <p:nvPr/>
        </p:nvSpPr>
        <p:spPr>
          <a:xfrm>
            <a:off x="9744075" y="6538913"/>
            <a:ext cx="152400" cy="19050"/>
          </a:xfrm>
          <a:prstGeom prst="rect">
            <a:avLst/>
          </a:prstGeom>
          <a:solidFill>
            <a:srgbClr val="1B5FA6"/>
          </a:solidFill>
          <a:ln/>
        </p:spPr>
      </p:sp>
      <p:sp>
        <p:nvSpPr>
          <p:cNvPr id="203" name="Text 143"/>
          <p:cNvSpPr/>
          <p:nvPr/>
        </p:nvSpPr>
        <p:spPr>
          <a:xfrm>
            <a:off x="9953625" y="6496050"/>
            <a:ext cx="7538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/ writes data</a:t>
            </a:r>
            <a:endParaRPr lang="en-US" sz="638" dirty="0"/>
          </a:p>
        </p:txBody>
      </p:sp>
      <p:sp>
        <p:nvSpPr>
          <p:cNvPr id="204" name="Shape 144"/>
          <p:cNvSpPr/>
          <p:nvPr/>
        </p:nvSpPr>
        <p:spPr>
          <a:xfrm>
            <a:off x="219075" y="6662738"/>
            <a:ext cx="152400" cy="19050"/>
          </a:xfrm>
          <a:prstGeom prst="rect">
            <a:avLst/>
          </a:prstGeom>
          <a:solidFill>
            <a:srgbClr val="B0084D"/>
          </a:solidFill>
          <a:ln/>
        </p:spPr>
      </p:sp>
      <p:sp>
        <p:nvSpPr>
          <p:cNvPr id="205" name="Text 145"/>
          <p:cNvSpPr/>
          <p:nvPr/>
        </p:nvSpPr>
        <p:spPr>
          <a:xfrm>
            <a:off x="428625" y="6619875"/>
            <a:ext cx="9376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/ access control</a:t>
            </a:r>
            <a:endParaRPr lang="en-US" sz="638" dirty="0"/>
          </a:p>
        </p:txBody>
      </p:sp>
      <p:sp>
        <p:nvSpPr>
          <p:cNvPr id="206" name="Shape 146"/>
          <p:cNvSpPr/>
          <p:nvPr/>
        </p:nvSpPr>
        <p:spPr>
          <a:xfrm>
            <a:off x="2600325" y="6662738"/>
            <a:ext cx="152400" cy="19050"/>
          </a:xfrm>
          <a:prstGeom prst="rect">
            <a:avLst/>
          </a:prstGeom>
          <a:solidFill>
            <a:srgbClr val="2E7BD6"/>
          </a:solidFill>
          <a:ln/>
        </p:spPr>
      </p:sp>
      <p:sp>
        <p:nvSpPr>
          <p:cNvPr id="207" name="Text 147"/>
          <p:cNvSpPr/>
          <p:nvPr/>
        </p:nvSpPr>
        <p:spPr>
          <a:xfrm>
            <a:off x="2809875" y="6619875"/>
            <a:ext cx="8888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Encryption (KMS / TLS)</a:t>
            </a:r>
            <a:endParaRPr lang="en-US" sz="638" dirty="0"/>
          </a:p>
        </p:txBody>
      </p:sp>
      <p:sp>
        <p:nvSpPr>
          <p:cNvPr id="208" name="Shape 148"/>
          <p:cNvSpPr/>
          <p:nvPr/>
        </p:nvSpPr>
        <p:spPr>
          <a:xfrm>
            <a:off x="4981575" y="6662738"/>
            <a:ext cx="152400" cy="19050"/>
          </a:xfrm>
          <a:prstGeom prst="rect">
            <a:avLst/>
          </a:prstGeom>
          <a:solidFill>
            <a:srgbClr val="E15B97"/>
          </a:solidFill>
          <a:ln/>
        </p:spPr>
      </p:sp>
      <p:sp>
        <p:nvSpPr>
          <p:cNvPr id="209" name="Text 149"/>
          <p:cNvSpPr/>
          <p:nvPr/>
        </p:nvSpPr>
        <p:spPr>
          <a:xfrm>
            <a:off x="5191125" y="6619875"/>
            <a:ext cx="9840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(CloudWatch)</a:t>
            </a:r>
            <a:endParaRPr lang="en-US" sz="638" dirty="0"/>
          </a:p>
        </p:txBody>
      </p:sp>
      <p:sp>
        <p:nvSpPr>
          <p:cNvPr id="210" name="Shape 150"/>
          <p:cNvSpPr/>
          <p:nvPr/>
        </p:nvSpPr>
        <p:spPr>
          <a:xfrm>
            <a:off x="7362825" y="6662738"/>
            <a:ext cx="152400" cy="19050"/>
          </a:xfrm>
          <a:prstGeom prst="rect">
            <a:avLst/>
          </a:prstGeom>
          <a:solidFill>
            <a:srgbClr val="3F8624"/>
          </a:solidFill>
          <a:ln/>
        </p:spPr>
      </p:sp>
      <p:sp>
        <p:nvSpPr>
          <p:cNvPr id="211" name="Text 151"/>
          <p:cNvSpPr/>
          <p:nvPr/>
        </p:nvSpPr>
        <p:spPr>
          <a:xfrm>
            <a:off x="7572375" y="6619875"/>
            <a:ext cx="768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flow</a:t>
            </a:r>
            <a:endParaRPr lang="en-US" sz="638" dirty="0"/>
          </a:p>
        </p:txBody>
      </p:sp>
      <p:sp>
        <p:nvSpPr>
          <p:cNvPr id="212" name="Shape 152"/>
          <p:cNvSpPr/>
          <p:nvPr/>
        </p:nvSpPr>
        <p:spPr>
          <a:xfrm>
            <a:off x="9744075" y="6662738"/>
            <a:ext cx="152400" cy="19050"/>
          </a:xfrm>
          <a:prstGeom prst="rect">
            <a:avLst/>
          </a:prstGeom>
          <a:solidFill>
            <a:srgbClr val="9C1458"/>
          </a:solidFill>
          <a:ln/>
        </p:spPr>
      </p:sp>
      <p:sp>
        <p:nvSpPr>
          <p:cNvPr id="213" name="Text 153"/>
          <p:cNvSpPr/>
          <p:nvPr/>
        </p:nvSpPr>
        <p:spPr>
          <a:xfrm>
            <a:off x="9953625" y="6619875"/>
            <a:ext cx="780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454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(Amazon SES)</a:t>
            </a:r>
            <a:endParaRPr lang="en-US" sz="6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3815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" y="52388"/>
            <a:ext cx="26052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SPARTA — Workflow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2400" y="252413"/>
            <a:ext cx="26052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request flows through the platform, layer by layer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71450" y="552450"/>
            <a:ext cx="11849100" cy="873026"/>
          </a:xfrm>
          <a:prstGeom prst="roundRect">
            <a:avLst>
              <a:gd name="adj" fmla="val 981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71450" y="1415951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7" name="Shape 5"/>
          <p:cNvSpPr/>
          <p:nvPr/>
        </p:nvSpPr>
        <p:spPr>
          <a:xfrm>
            <a:off x="171450" y="552450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8" name="Shape 6"/>
          <p:cNvSpPr/>
          <p:nvPr/>
        </p:nvSpPr>
        <p:spPr>
          <a:xfrm>
            <a:off x="171450" y="552450"/>
            <a:ext cx="38100" cy="873026"/>
          </a:xfrm>
          <a:prstGeom prst="rect">
            <a:avLst/>
          </a:prstGeom>
          <a:solidFill>
            <a:srgbClr val="6B7884"/>
          </a:solidFill>
          <a:ln/>
        </p:spPr>
      </p:sp>
      <p:sp>
        <p:nvSpPr>
          <p:cNvPr id="9" name="Shape 7"/>
          <p:cNvSpPr/>
          <p:nvPr/>
        </p:nvSpPr>
        <p:spPr>
          <a:xfrm>
            <a:off x="12011025" y="552450"/>
            <a:ext cx="9525" cy="873026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0" name="Text 8"/>
          <p:cNvSpPr/>
          <p:nvPr/>
        </p:nvSpPr>
        <p:spPr>
          <a:xfrm>
            <a:off x="361950" y="855911"/>
            <a:ext cx="1655445" cy="180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· Edge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61950" y="1017240"/>
            <a:ext cx="16554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0" kern="0" dirty="0">
                <a:solidFill>
                  <a:srgbClr val="6B78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· ENTRY</a:t>
            </a:r>
            <a:endParaRPr lang="en-US" sz="638" dirty="0"/>
          </a:p>
        </p:txBody>
      </p:sp>
      <p:sp>
        <p:nvSpPr>
          <p:cNvPr id="12" name="Shape 10"/>
          <p:cNvSpPr/>
          <p:nvPr/>
        </p:nvSpPr>
        <p:spPr>
          <a:xfrm>
            <a:off x="2019300" y="765125"/>
            <a:ext cx="864989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793700"/>
            <a:ext cx="142875" cy="1428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276475" y="807988"/>
            <a:ext cx="6078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Browser</a:t>
            </a:r>
            <a:endParaRPr lang="en-US" sz="675" dirty="0"/>
          </a:p>
        </p:txBody>
      </p:sp>
      <p:sp>
        <p:nvSpPr>
          <p:cNvPr id="15" name="Shape 12"/>
          <p:cNvSpPr/>
          <p:nvPr/>
        </p:nvSpPr>
        <p:spPr>
          <a:xfrm>
            <a:off x="2931914" y="765125"/>
            <a:ext cx="654100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8114" y="793700"/>
            <a:ext cx="142875" cy="1428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89089" y="807988"/>
            <a:ext cx="396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Cognito</a:t>
            </a:r>
            <a:endParaRPr lang="en-US" sz="675" dirty="0"/>
          </a:p>
        </p:txBody>
      </p:sp>
      <p:sp>
        <p:nvSpPr>
          <p:cNvPr id="18" name="Shape 14"/>
          <p:cNvSpPr/>
          <p:nvPr/>
        </p:nvSpPr>
        <p:spPr>
          <a:xfrm>
            <a:off x="2019300" y="1012775"/>
            <a:ext cx="784622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5500" y="1041350"/>
            <a:ext cx="142875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76475" y="1055638"/>
            <a:ext cx="527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CloudFront</a:t>
            </a:r>
            <a:endParaRPr lang="en-US" sz="675" dirty="0"/>
          </a:p>
        </p:txBody>
      </p:sp>
      <p:sp>
        <p:nvSpPr>
          <p:cNvPr id="21" name="Shape 16"/>
          <p:cNvSpPr/>
          <p:nvPr/>
        </p:nvSpPr>
        <p:spPr>
          <a:xfrm>
            <a:off x="2851547" y="1012775"/>
            <a:ext cx="430857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7747" y="1041350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108722" y="1055638"/>
            <a:ext cx="173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</a:t>
            </a:r>
            <a:endParaRPr lang="en-US" sz="675" dirty="0"/>
          </a:p>
        </p:txBody>
      </p:sp>
      <p:sp>
        <p:nvSpPr>
          <p:cNvPr id="24" name="Shape 18"/>
          <p:cNvSpPr/>
          <p:nvPr/>
        </p:nvSpPr>
        <p:spPr>
          <a:xfrm>
            <a:off x="3330029" y="1012775"/>
            <a:ext cx="844302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06229" y="1041350"/>
            <a:ext cx="142875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87204" y="1055638"/>
            <a:ext cx="5871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675" dirty="0"/>
          </a:p>
        </p:txBody>
      </p:sp>
      <p:sp>
        <p:nvSpPr>
          <p:cNvPr id="27" name="Text 20"/>
          <p:cNvSpPr/>
          <p:nvPr/>
        </p:nvSpPr>
        <p:spPr>
          <a:xfrm>
            <a:off x="4552950" y="916484"/>
            <a:ext cx="8036243" cy="183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88" dirty="0">
                <a:solidFill>
                  <a:srgbClr val="54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open the React app served from S3 via CloudFront. Cognito authenticates the user and issues a token; API Gateway routes authenticated requests into the VPC.</a:t>
            </a:r>
            <a:endParaRPr lang="en-US" sz="788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24563" y="1463576"/>
            <a:ext cx="142875" cy="1143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71450" y="1615976"/>
            <a:ext cx="11849100" cy="873175"/>
          </a:xfrm>
          <a:prstGeom prst="roundRect">
            <a:avLst>
              <a:gd name="adj" fmla="val 9818"/>
            </a:avLst>
          </a:prstGeom>
          <a:solidFill>
            <a:srgbClr val="FFFFFF"/>
          </a:solidFill>
          <a:ln/>
        </p:spPr>
      </p:sp>
      <p:sp>
        <p:nvSpPr>
          <p:cNvPr id="30" name="Shape 22"/>
          <p:cNvSpPr/>
          <p:nvPr/>
        </p:nvSpPr>
        <p:spPr>
          <a:xfrm>
            <a:off x="171450" y="2479625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31" name="Shape 23"/>
          <p:cNvSpPr/>
          <p:nvPr/>
        </p:nvSpPr>
        <p:spPr>
          <a:xfrm>
            <a:off x="171450" y="1615976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32" name="Shape 24"/>
          <p:cNvSpPr/>
          <p:nvPr/>
        </p:nvSpPr>
        <p:spPr>
          <a:xfrm>
            <a:off x="171450" y="1615976"/>
            <a:ext cx="38100" cy="873175"/>
          </a:xfrm>
          <a:prstGeom prst="rect">
            <a:avLst/>
          </a:prstGeom>
          <a:solidFill>
            <a:srgbClr val="3F8624"/>
          </a:solidFill>
          <a:ln/>
        </p:spPr>
      </p:sp>
      <p:sp>
        <p:nvSpPr>
          <p:cNvPr id="33" name="Shape 25"/>
          <p:cNvSpPr/>
          <p:nvPr/>
        </p:nvSpPr>
        <p:spPr>
          <a:xfrm>
            <a:off x="12011025" y="1615976"/>
            <a:ext cx="9525" cy="87317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34" name="Text 26"/>
          <p:cNvSpPr/>
          <p:nvPr/>
        </p:nvSpPr>
        <p:spPr>
          <a:xfrm>
            <a:off x="361950" y="1919436"/>
            <a:ext cx="1655445" cy="180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Stages</a:t>
            </a:r>
            <a:endParaRPr lang="en-US" sz="975" dirty="0"/>
          </a:p>
        </p:txBody>
      </p:sp>
      <p:sp>
        <p:nvSpPr>
          <p:cNvPr id="35" name="Text 27"/>
          <p:cNvSpPr/>
          <p:nvPr/>
        </p:nvSpPr>
        <p:spPr>
          <a:xfrm>
            <a:off x="361950" y="2080766"/>
            <a:ext cx="16554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0" kern="0" dirty="0">
                <a:solidFill>
                  <a:srgbClr val="3F86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· CORE PIPELINE</a:t>
            </a:r>
            <a:endParaRPr lang="en-US" sz="638" dirty="0"/>
          </a:p>
        </p:txBody>
      </p:sp>
      <p:sp>
        <p:nvSpPr>
          <p:cNvPr id="36" name="Shape 28"/>
          <p:cNvSpPr/>
          <p:nvPr/>
        </p:nvSpPr>
        <p:spPr>
          <a:xfrm>
            <a:off x="2019300" y="1828651"/>
            <a:ext cx="494556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5500" y="1857226"/>
            <a:ext cx="142875" cy="14287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276475" y="1871514"/>
            <a:ext cx="237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SQS</a:t>
            </a:r>
            <a:endParaRPr lang="en-US" sz="675" dirty="0"/>
          </a:p>
        </p:txBody>
      </p:sp>
      <p:sp>
        <p:nvSpPr>
          <p:cNvPr id="39" name="Shape 30"/>
          <p:cNvSpPr/>
          <p:nvPr/>
        </p:nvSpPr>
        <p:spPr>
          <a:xfrm>
            <a:off x="2561481" y="1828651"/>
            <a:ext cx="924669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37681" y="1857226"/>
            <a:ext cx="142875" cy="14287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2818656" y="1871514"/>
            <a:ext cx="6674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Functions</a:t>
            </a:r>
            <a:endParaRPr lang="en-US" sz="675" dirty="0"/>
          </a:p>
        </p:txBody>
      </p:sp>
      <p:sp>
        <p:nvSpPr>
          <p:cNvPr id="42" name="Shape 32"/>
          <p:cNvSpPr/>
          <p:nvPr/>
        </p:nvSpPr>
        <p:spPr>
          <a:xfrm>
            <a:off x="3533775" y="1828651"/>
            <a:ext cx="654248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09975" y="1857226"/>
            <a:ext cx="142875" cy="142875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3790950" y="1871514"/>
            <a:ext cx="397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</a:t>
            </a:r>
            <a:endParaRPr lang="en-US" sz="675" dirty="0"/>
          </a:p>
        </p:txBody>
      </p:sp>
      <p:sp>
        <p:nvSpPr>
          <p:cNvPr id="45" name="Shape 34"/>
          <p:cNvSpPr/>
          <p:nvPr/>
        </p:nvSpPr>
        <p:spPr>
          <a:xfrm>
            <a:off x="2019300" y="2076301"/>
            <a:ext cx="475208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095500" y="2104876"/>
            <a:ext cx="142875" cy="142875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2276475" y="2119164"/>
            <a:ext cx="2180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</a:t>
            </a:r>
            <a:endParaRPr lang="en-US" sz="675" dirty="0"/>
          </a:p>
        </p:txBody>
      </p:sp>
      <p:sp>
        <p:nvSpPr>
          <p:cNvPr id="48" name="Text 36"/>
          <p:cNvSpPr/>
          <p:nvPr/>
        </p:nvSpPr>
        <p:spPr>
          <a:xfrm>
            <a:off x="4552950" y="1907530"/>
            <a:ext cx="7524845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88" dirty="0">
                <a:solidFill>
                  <a:srgbClr val="54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is queued &amp; validated, products and assumptions are configured, the Calculation Engine runs models in parallel, and the Comparison Tool checks output vs. legacy — emailing results via SES.</a:t>
            </a:r>
            <a:endParaRPr lang="en-US" sz="788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24563" y="2527250"/>
            <a:ext cx="142875" cy="114300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171450" y="2679650"/>
            <a:ext cx="11849100" cy="873026"/>
          </a:xfrm>
          <a:prstGeom prst="roundRect">
            <a:avLst>
              <a:gd name="adj" fmla="val 9819"/>
            </a:avLst>
          </a:prstGeom>
          <a:solidFill>
            <a:srgbClr val="FFFFFF"/>
          </a:solidFill>
          <a:ln/>
        </p:spPr>
      </p:sp>
      <p:sp>
        <p:nvSpPr>
          <p:cNvPr id="51" name="Shape 38"/>
          <p:cNvSpPr/>
          <p:nvPr/>
        </p:nvSpPr>
        <p:spPr>
          <a:xfrm>
            <a:off x="171450" y="3543151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52" name="Shape 39"/>
          <p:cNvSpPr/>
          <p:nvPr/>
        </p:nvSpPr>
        <p:spPr>
          <a:xfrm>
            <a:off x="171450" y="2679650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53" name="Shape 40"/>
          <p:cNvSpPr/>
          <p:nvPr/>
        </p:nvSpPr>
        <p:spPr>
          <a:xfrm>
            <a:off x="171450" y="2679650"/>
            <a:ext cx="38100" cy="873026"/>
          </a:xfrm>
          <a:prstGeom prst="rect">
            <a:avLst/>
          </a:prstGeom>
          <a:solidFill>
            <a:srgbClr val="0A7C68"/>
          </a:solidFill>
          <a:ln/>
        </p:spPr>
      </p:sp>
      <p:sp>
        <p:nvSpPr>
          <p:cNvPr id="54" name="Shape 41"/>
          <p:cNvSpPr/>
          <p:nvPr/>
        </p:nvSpPr>
        <p:spPr>
          <a:xfrm>
            <a:off x="12011025" y="2679650"/>
            <a:ext cx="9525" cy="873026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55" name="Text 42"/>
          <p:cNvSpPr/>
          <p:nvPr/>
        </p:nvSpPr>
        <p:spPr>
          <a:xfrm>
            <a:off x="361950" y="2983111"/>
            <a:ext cx="1655445" cy="180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</a:t>
            </a:r>
            <a:endParaRPr lang="en-US" sz="975" dirty="0"/>
          </a:p>
        </p:txBody>
      </p:sp>
      <p:sp>
        <p:nvSpPr>
          <p:cNvPr id="56" name="Text 43"/>
          <p:cNvSpPr/>
          <p:nvPr/>
        </p:nvSpPr>
        <p:spPr>
          <a:xfrm>
            <a:off x="361950" y="3144441"/>
            <a:ext cx="16554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0" kern="0" dirty="0">
                <a:solidFill>
                  <a:srgbClr val="0A7C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· BEDROCK (NOVA)</a:t>
            </a:r>
            <a:endParaRPr lang="en-US" sz="638" dirty="0"/>
          </a:p>
        </p:txBody>
      </p:sp>
      <p:sp>
        <p:nvSpPr>
          <p:cNvPr id="57" name="Shape 44"/>
          <p:cNvSpPr/>
          <p:nvPr/>
        </p:nvSpPr>
        <p:spPr>
          <a:xfrm>
            <a:off x="2019300" y="2892326"/>
            <a:ext cx="544860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95500" y="2920901"/>
            <a:ext cx="142875" cy="142875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2276475" y="2935188"/>
            <a:ext cx="287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</a:t>
            </a:r>
            <a:endParaRPr lang="en-US" sz="675" dirty="0"/>
          </a:p>
        </p:txBody>
      </p:sp>
      <p:sp>
        <p:nvSpPr>
          <p:cNvPr id="60" name="Shape 46"/>
          <p:cNvSpPr/>
          <p:nvPr/>
        </p:nvSpPr>
        <p:spPr>
          <a:xfrm>
            <a:off x="2611785" y="2892326"/>
            <a:ext cx="605730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687985" y="2920901"/>
            <a:ext cx="142875" cy="142875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2868960" y="2935188"/>
            <a:ext cx="3485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</a:t>
            </a:r>
            <a:endParaRPr lang="en-US" sz="675" dirty="0"/>
          </a:p>
        </p:txBody>
      </p:sp>
      <p:sp>
        <p:nvSpPr>
          <p:cNvPr id="63" name="Shape 48"/>
          <p:cNvSpPr/>
          <p:nvPr/>
        </p:nvSpPr>
        <p:spPr>
          <a:xfrm>
            <a:off x="3265140" y="2892326"/>
            <a:ext cx="627162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341340" y="2920901"/>
            <a:ext cx="142875" cy="142875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3522315" y="2935188"/>
            <a:ext cx="3699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</a:t>
            </a:r>
            <a:endParaRPr lang="en-US" sz="675" dirty="0"/>
          </a:p>
        </p:txBody>
      </p:sp>
      <p:sp>
        <p:nvSpPr>
          <p:cNvPr id="66" name="Shape 50"/>
          <p:cNvSpPr/>
          <p:nvPr/>
        </p:nvSpPr>
        <p:spPr>
          <a:xfrm>
            <a:off x="2019300" y="3139976"/>
            <a:ext cx="473869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6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095500" y="3168551"/>
            <a:ext cx="142875" cy="142875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2276475" y="3182838"/>
            <a:ext cx="2166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</a:t>
            </a:r>
            <a:endParaRPr lang="en-US" sz="675" dirty="0"/>
          </a:p>
        </p:txBody>
      </p:sp>
      <p:sp>
        <p:nvSpPr>
          <p:cNvPr id="69" name="Shape 52"/>
          <p:cNvSpPr/>
          <p:nvPr/>
        </p:nvSpPr>
        <p:spPr>
          <a:xfrm>
            <a:off x="2540794" y="3139976"/>
            <a:ext cx="490389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616994" y="3168551"/>
            <a:ext cx="142875" cy="142875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2797969" y="3182838"/>
            <a:ext cx="2332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</a:t>
            </a:r>
            <a:endParaRPr lang="en-US" sz="675" dirty="0"/>
          </a:p>
        </p:txBody>
      </p:sp>
      <p:sp>
        <p:nvSpPr>
          <p:cNvPr id="72" name="Shape 54"/>
          <p:cNvSpPr/>
          <p:nvPr/>
        </p:nvSpPr>
        <p:spPr>
          <a:xfrm>
            <a:off x="3078807" y="3139976"/>
            <a:ext cx="451545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73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155007" y="3168551"/>
            <a:ext cx="142875" cy="142875"/>
          </a:xfrm>
          <a:prstGeom prst="rect">
            <a:avLst/>
          </a:prstGeom>
        </p:spPr>
      </p:pic>
      <p:sp>
        <p:nvSpPr>
          <p:cNvPr id="74" name="Text 55"/>
          <p:cNvSpPr/>
          <p:nvPr/>
        </p:nvSpPr>
        <p:spPr>
          <a:xfrm>
            <a:off x="3335982" y="3182838"/>
            <a:ext cx="1943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</a:t>
            </a:r>
            <a:endParaRPr lang="en-US" sz="675" dirty="0"/>
          </a:p>
        </p:txBody>
      </p:sp>
      <p:sp>
        <p:nvSpPr>
          <p:cNvPr id="75" name="Text 56"/>
          <p:cNvSpPr/>
          <p:nvPr/>
        </p:nvSpPr>
        <p:spPr>
          <a:xfrm>
            <a:off x="4552950" y="2971205"/>
            <a:ext cx="7524845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88" dirty="0">
                <a:solidFill>
                  <a:srgbClr val="54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Bedrock (Nova) assists every stage — generating actuarial scripts, rewriting product configs, running ETL jobs, generating SQL queries, and handling database operations.</a:t>
            </a:r>
            <a:endParaRPr lang="en-US" sz="788" dirty="0"/>
          </a:p>
        </p:txBody>
      </p:sp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024563" y="3590776"/>
            <a:ext cx="142875" cy="114300"/>
          </a:xfrm>
          <a:prstGeom prst="rect">
            <a:avLst/>
          </a:prstGeom>
        </p:spPr>
      </p:pic>
      <p:sp>
        <p:nvSpPr>
          <p:cNvPr id="77" name="Shape 57"/>
          <p:cNvSpPr/>
          <p:nvPr/>
        </p:nvSpPr>
        <p:spPr>
          <a:xfrm>
            <a:off x="171450" y="3743176"/>
            <a:ext cx="11849100" cy="873175"/>
          </a:xfrm>
          <a:prstGeom prst="roundRect">
            <a:avLst>
              <a:gd name="adj" fmla="val 9818"/>
            </a:avLst>
          </a:prstGeom>
          <a:solidFill>
            <a:srgbClr val="FFFFFF"/>
          </a:solidFill>
          <a:ln/>
        </p:spPr>
      </p:sp>
      <p:sp>
        <p:nvSpPr>
          <p:cNvPr id="78" name="Shape 58"/>
          <p:cNvSpPr/>
          <p:nvPr/>
        </p:nvSpPr>
        <p:spPr>
          <a:xfrm>
            <a:off x="171450" y="4606826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79" name="Shape 59"/>
          <p:cNvSpPr/>
          <p:nvPr/>
        </p:nvSpPr>
        <p:spPr>
          <a:xfrm>
            <a:off x="171450" y="3743176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80" name="Shape 60"/>
          <p:cNvSpPr/>
          <p:nvPr/>
        </p:nvSpPr>
        <p:spPr>
          <a:xfrm>
            <a:off x="171450" y="3743176"/>
            <a:ext cx="38100" cy="873175"/>
          </a:xfrm>
          <a:prstGeom prst="rect">
            <a:avLst/>
          </a:prstGeom>
          <a:solidFill>
            <a:srgbClr val="1B5FA6"/>
          </a:solidFill>
          <a:ln/>
        </p:spPr>
      </p:sp>
      <p:sp>
        <p:nvSpPr>
          <p:cNvPr id="81" name="Shape 61"/>
          <p:cNvSpPr/>
          <p:nvPr/>
        </p:nvSpPr>
        <p:spPr>
          <a:xfrm>
            <a:off x="12011025" y="3743176"/>
            <a:ext cx="9525" cy="87317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82" name="Text 62"/>
          <p:cNvSpPr/>
          <p:nvPr/>
        </p:nvSpPr>
        <p:spPr>
          <a:xfrm>
            <a:off x="361950" y="4046637"/>
            <a:ext cx="1655445" cy="180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Subnet</a:t>
            </a:r>
            <a:endParaRPr lang="en-US" sz="975" dirty="0"/>
          </a:p>
        </p:txBody>
      </p:sp>
      <p:sp>
        <p:nvSpPr>
          <p:cNvPr id="83" name="Text 63"/>
          <p:cNvSpPr/>
          <p:nvPr/>
        </p:nvSpPr>
        <p:spPr>
          <a:xfrm>
            <a:off x="361950" y="4207966"/>
            <a:ext cx="16554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0" kern="0" dirty="0">
                <a:solidFill>
                  <a:srgbClr val="1B5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· STORAGE</a:t>
            </a:r>
            <a:endParaRPr lang="en-US" sz="638" dirty="0"/>
          </a:p>
        </p:txBody>
      </p:sp>
      <p:sp>
        <p:nvSpPr>
          <p:cNvPr id="84" name="Shape 64"/>
          <p:cNvSpPr/>
          <p:nvPr/>
        </p:nvSpPr>
        <p:spPr>
          <a:xfrm>
            <a:off x="2019300" y="4079677"/>
            <a:ext cx="481905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095500" y="4108252"/>
            <a:ext cx="142875" cy="142875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2276475" y="4122539"/>
            <a:ext cx="224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</a:t>
            </a:r>
            <a:endParaRPr lang="en-US" sz="675" dirty="0"/>
          </a:p>
        </p:txBody>
      </p:sp>
      <p:sp>
        <p:nvSpPr>
          <p:cNvPr id="87" name="Shape 66"/>
          <p:cNvSpPr/>
          <p:nvPr/>
        </p:nvSpPr>
        <p:spPr>
          <a:xfrm>
            <a:off x="2548830" y="4079677"/>
            <a:ext cx="500658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625030" y="4108252"/>
            <a:ext cx="142875" cy="142875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2806005" y="4122539"/>
            <a:ext cx="243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</a:t>
            </a:r>
            <a:endParaRPr lang="en-US" sz="675" dirty="0"/>
          </a:p>
        </p:txBody>
      </p:sp>
      <p:sp>
        <p:nvSpPr>
          <p:cNvPr id="90" name="Shape 68"/>
          <p:cNvSpPr/>
          <p:nvPr/>
        </p:nvSpPr>
        <p:spPr>
          <a:xfrm>
            <a:off x="3097113" y="4079677"/>
            <a:ext cx="430857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173313" y="4108252"/>
            <a:ext cx="142875" cy="142875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3354288" y="4122539"/>
            <a:ext cx="173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</a:t>
            </a:r>
            <a:endParaRPr lang="en-US" sz="675" dirty="0"/>
          </a:p>
        </p:txBody>
      </p:sp>
      <p:sp>
        <p:nvSpPr>
          <p:cNvPr id="93" name="Text 70"/>
          <p:cNvSpPr/>
          <p:nvPr/>
        </p:nvSpPr>
        <p:spPr>
          <a:xfrm>
            <a:off x="4552950" y="4107210"/>
            <a:ext cx="8036243" cy="183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88" dirty="0">
                <a:solidFill>
                  <a:srgbClr val="54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isolated, encrypted data tier: EC2 for in-VPC validation, RDS (MySQL) for structured data, and S3 for assumption &amp; raw files. All data is encrypted at rest.</a:t>
            </a:r>
            <a:endParaRPr lang="en-US" sz="788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024563" y="4654451"/>
            <a:ext cx="142875" cy="114300"/>
          </a:xfrm>
          <a:prstGeom prst="rect">
            <a:avLst/>
          </a:prstGeom>
        </p:spPr>
      </p:pic>
      <p:sp>
        <p:nvSpPr>
          <p:cNvPr id="95" name="Shape 71"/>
          <p:cNvSpPr/>
          <p:nvPr/>
        </p:nvSpPr>
        <p:spPr>
          <a:xfrm>
            <a:off x="171450" y="4806851"/>
            <a:ext cx="11849100" cy="873175"/>
          </a:xfrm>
          <a:prstGeom prst="roundRect">
            <a:avLst>
              <a:gd name="adj" fmla="val 9818"/>
            </a:avLst>
          </a:prstGeom>
          <a:solidFill>
            <a:srgbClr val="FFFFFF"/>
          </a:solidFill>
          <a:ln/>
        </p:spPr>
      </p:sp>
      <p:sp>
        <p:nvSpPr>
          <p:cNvPr id="96" name="Shape 72"/>
          <p:cNvSpPr/>
          <p:nvPr/>
        </p:nvSpPr>
        <p:spPr>
          <a:xfrm>
            <a:off x="171450" y="5670500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97" name="Shape 73"/>
          <p:cNvSpPr/>
          <p:nvPr/>
        </p:nvSpPr>
        <p:spPr>
          <a:xfrm>
            <a:off x="171450" y="4806851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98" name="Shape 74"/>
          <p:cNvSpPr/>
          <p:nvPr/>
        </p:nvSpPr>
        <p:spPr>
          <a:xfrm>
            <a:off x="171450" y="4806851"/>
            <a:ext cx="38100" cy="873175"/>
          </a:xfrm>
          <a:prstGeom prst="rect">
            <a:avLst/>
          </a:prstGeom>
          <a:solidFill>
            <a:srgbClr val="B0084D"/>
          </a:solidFill>
          <a:ln/>
        </p:spPr>
      </p:sp>
      <p:sp>
        <p:nvSpPr>
          <p:cNvPr id="99" name="Shape 75"/>
          <p:cNvSpPr/>
          <p:nvPr/>
        </p:nvSpPr>
        <p:spPr>
          <a:xfrm>
            <a:off x="12011025" y="4806851"/>
            <a:ext cx="9525" cy="87317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00" name="Text 76"/>
          <p:cNvSpPr/>
          <p:nvPr/>
        </p:nvSpPr>
        <p:spPr>
          <a:xfrm>
            <a:off x="361950" y="5110311"/>
            <a:ext cx="1655445" cy="180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Access Control</a:t>
            </a:r>
            <a:endParaRPr lang="en-US" sz="975" dirty="0"/>
          </a:p>
        </p:txBody>
      </p:sp>
      <p:sp>
        <p:nvSpPr>
          <p:cNvPr id="101" name="Text 77"/>
          <p:cNvSpPr/>
          <p:nvPr/>
        </p:nvSpPr>
        <p:spPr>
          <a:xfrm>
            <a:off x="361950" y="5271641"/>
            <a:ext cx="16554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0" kern="0" dirty="0">
                <a:solidFill>
                  <a:srgbClr val="B008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CROSS-CUTTING</a:t>
            </a:r>
            <a:endParaRPr lang="en-US" sz="638" dirty="0"/>
          </a:p>
        </p:txBody>
      </p:sp>
      <p:sp>
        <p:nvSpPr>
          <p:cNvPr id="102" name="Shape 78"/>
          <p:cNvSpPr/>
          <p:nvPr/>
        </p:nvSpPr>
        <p:spPr>
          <a:xfrm>
            <a:off x="2019300" y="5019526"/>
            <a:ext cx="502890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03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095500" y="5048101"/>
            <a:ext cx="142875" cy="142875"/>
          </a:xfrm>
          <a:prstGeom prst="rect">
            <a:avLst/>
          </a:prstGeom>
        </p:spPr>
      </p:pic>
      <p:sp>
        <p:nvSpPr>
          <p:cNvPr id="104" name="Text 79"/>
          <p:cNvSpPr/>
          <p:nvPr/>
        </p:nvSpPr>
        <p:spPr>
          <a:xfrm>
            <a:off x="2276475" y="5062389"/>
            <a:ext cx="2457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</a:t>
            </a:r>
            <a:endParaRPr lang="en-US" sz="675" dirty="0"/>
          </a:p>
        </p:txBody>
      </p:sp>
      <p:sp>
        <p:nvSpPr>
          <p:cNvPr id="105" name="Shape 80"/>
          <p:cNvSpPr/>
          <p:nvPr/>
        </p:nvSpPr>
        <p:spPr>
          <a:xfrm>
            <a:off x="2569815" y="5019526"/>
            <a:ext cx="654100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06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646015" y="5048101"/>
            <a:ext cx="142875" cy="142875"/>
          </a:xfrm>
          <a:prstGeom prst="rect">
            <a:avLst/>
          </a:prstGeom>
        </p:spPr>
      </p:pic>
      <p:sp>
        <p:nvSpPr>
          <p:cNvPr id="107" name="Text 81"/>
          <p:cNvSpPr/>
          <p:nvPr/>
        </p:nvSpPr>
        <p:spPr>
          <a:xfrm>
            <a:off x="2826990" y="5062389"/>
            <a:ext cx="396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Cognito</a:t>
            </a:r>
            <a:endParaRPr lang="en-US" sz="675" dirty="0"/>
          </a:p>
        </p:txBody>
      </p:sp>
      <p:sp>
        <p:nvSpPr>
          <p:cNvPr id="108" name="Shape 82"/>
          <p:cNvSpPr/>
          <p:nvPr/>
        </p:nvSpPr>
        <p:spPr>
          <a:xfrm>
            <a:off x="3271540" y="5019526"/>
            <a:ext cx="521494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09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347740" y="5048101"/>
            <a:ext cx="142875" cy="142875"/>
          </a:xfrm>
          <a:prstGeom prst="rect">
            <a:avLst/>
          </a:prstGeom>
        </p:spPr>
      </p:pic>
      <p:sp>
        <p:nvSpPr>
          <p:cNvPr id="110" name="Text 83"/>
          <p:cNvSpPr/>
          <p:nvPr/>
        </p:nvSpPr>
        <p:spPr>
          <a:xfrm>
            <a:off x="3528715" y="5062389"/>
            <a:ext cx="264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</a:t>
            </a:r>
            <a:endParaRPr lang="en-US" sz="675" dirty="0"/>
          </a:p>
        </p:txBody>
      </p:sp>
      <p:sp>
        <p:nvSpPr>
          <p:cNvPr id="111" name="Shape 84"/>
          <p:cNvSpPr/>
          <p:nvPr/>
        </p:nvSpPr>
        <p:spPr>
          <a:xfrm>
            <a:off x="2019300" y="5267176"/>
            <a:ext cx="782538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12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095500" y="5295751"/>
            <a:ext cx="142875" cy="142875"/>
          </a:xfrm>
          <a:prstGeom prst="rect">
            <a:avLst/>
          </a:prstGeom>
        </p:spPr>
      </p:pic>
      <p:sp>
        <p:nvSpPr>
          <p:cNvPr id="113" name="Text 85"/>
          <p:cNvSpPr/>
          <p:nvPr/>
        </p:nvSpPr>
        <p:spPr>
          <a:xfrm>
            <a:off x="2276475" y="5310039"/>
            <a:ext cx="5253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 Groups</a:t>
            </a:r>
            <a:endParaRPr lang="en-US" sz="675" dirty="0"/>
          </a:p>
        </p:txBody>
      </p:sp>
      <p:sp>
        <p:nvSpPr>
          <p:cNvPr id="114" name="Shape 86"/>
          <p:cNvSpPr/>
          <p:nvPr/>
        </p:nvSpPr>
        <p:spPr>
          <a:xfrm>
            <a:off x="2849463" y="5267176"/>
            <a:ext cx="620316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1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2925663" y="5295751"/>
            <a:ext cx="142875" cy="142875"/>
          </a:xfrm>
          <a:prstGeom prst="rect">
            <a:avLst/>
          </a:prstGeom>
        </p:spPr>
      </p:pic>
      <p:sp>
        <p:nvSpPr>
          <p:cNvPr id="116" name="Text 87"/>
          <p:cNvSpPr/>
          <p:nvPr/>
        </p:nvSpPr>
        <p:spPr>
          <a:xfrm>
            <a:off x="3106638" y="5310039"/>
            <a:ext cx="363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</a:t>
            </a:r>
            <a:endParaRPr lang="en-US" sz="675" dirty="0"/>
          </a:p>
        </p:txBody>
      </p:sp>
      <p:sp>
        <p:nvSpPr>
          <p:cNvPr id="117" name="Shape 88"/>
          <p:cNvSpPr/>
          <p:nvPr/>
        </p:nvSpPr>
        <p:spPr>
          <a:xfrm>
            <a:off x="3517404" y="5267176"/>
            <a:ext cx="519113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18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593604" y="5295751"/>
            <a:ext cx="142875" cy="142875"/>
          </a:xfrm>
          <a:prstGeom prst="rect">
            <a:avLst/>
          </a:prstGeom>
        </p:spPr>
      </p:pic>
      <p:sp>
        <p:nvSpPr>
          <p:cNvPr id="119" name="Text 89"/>
          <p:cNvSpPr/>
          <p:nvPr/>
        </p:nvSpPr>
        <p:spPr>
          <a:xfrm>
            <a:off x="3774579" y="5310039"/>
            <a:ext cx="261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KMS</a:t>
            </a:r>
            <a:endParaRPr lang="en-US" sz="675" dirty="0"/>
          </a:p>
        </p:txBody>
      </p:sp>
      <p:sp>
        <p:nvSpPr>
          <p:cNvPr id="120" name="Text 90"/>
          <p:cNvSpPr/>
          <p:nvPr/>
        </p:nvSpPr>
        <p:spPr>
          <a:xfrm>
            <a:off x="4552950" y="5170884"/>
            <a:ext cx="8036243" cy="183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88" dirty="0">
                <a:solidFill>
                  <a:srgbClr val="54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Secures the VPC and edge: IAM roles, Cognito, AWS WAF, VPC security groups, Secrets Manager, and KMS — with TLS in-transit and AES-256 at rest.</a:t>
            </a:r>
            <a:endParaRPr lang="en-US" sz="788" dirty="0"/>
          </a:p>
        </p:txBody>
      </p:sp>
      <p:pic>
        <p:nvPicPr>
          <p:cNvPr id="121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024563" y="5718125"/>
            <a:ext cx="142875" cy="114300"/>
          </a:xfrm>
          <a:prstGeom prst="rect">
            <a:avLst/>
          </a:prstGeom>
        </p:spPr>
      </p:pic>
      <p:sp>
        <p:nvSpPr>
          <p:cNvPr id="122" name="Shape 91"/>
          <p:cNvSpPr/>
          <p:nvPr/>
        </p:nvSpPr>
        <p:spPr>
          <a:xfrm>
            <a:off x="171450" y="5870525"/>
            <a:ext cx="11849100" cy="873175"/>
          </a:xfrm>
          <a:prstGeom prst="roundRect">
            <a:avLst>
              <a:gd name="adj" fmla="val 9818"/>
            </a:avLst>
          </a:prstGeom>
          <a:solidFill>
            <a:srgbClr val="FFFFFF"/>
          </a:solidFill>
          <a:ln/>
        </p:spPr>
      </p:sp>
      <p:sp>
        <p:nvSpPr>
          <p:cNvPr id="123" name="Shape 92"/>
          <p:cNvSpPr/>
          <p:nvPr/>
        </p:nvSpPr>
        <p:spPr>
          <a:xfrm>
            <a:off x="171450" y="6734175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24" name="Shape 93"/>
          <p:cNvSpPr/>
          <p:nvPr/>
        </p:nvSpPr>
        <p:spPr>
          <a:xfrm>
            <a:off x="171450" y="5870525"/>
            <a:ext cx="118491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25" name="Shape 94"/>
          <p:cNvSpPr/>
          <p:nvPr/>
        </p:nvSpPr>
        <p:spPr>
          <a:xfrm>
            <a:off x="171450" y="5870525"/>
            <a:ext cx="38100" cy="873175"/>
          </a:xfrm>
          <a:prstGeom prst="rect">
            <a:avLst/>
          </a:prstGeom>
          <a:solidFill>
            <a:srgbClr val="E15B97"/>
          </a:solidFill>
          <a:ln/>
        </p:spPr>
      </p:sp>
      <p:sp>
        <p:nvSpPr>
          <p:cNvPr id="126" name="Shape 95"/>
          <p:cNvSpPr/>
          <p:nvPr/>
        </p:nvSpPr>
        <p:spPr>
          <a:xfrm>
            <a:off x="12011025" y="5870525"/>
            <a:ext cx="9525" cy="87317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27" name="Text 96"/>
          <p:cNvSpPr/>
          <p:nvPr/>
        </p:nvSpPr>
        <p:spPr>
          <a:xfrm>
            <a:off x="361950" y="6173986"/>
            <a:ext cx="1655445" cy="180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5" b="1" dirty="0">
                <a:solidFill>
                  <a:srgbClr val="161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Services</a:t>
            </a:r>
            <a:endParaRPr lang="en-US" sz="975" dirty="0"/>
          </a:p>
        </p:txBody>
      </p:sp>
      <p:sp>
        <p:nvSpPr>
          <p:cNvPr id="128" name="Text 97"/>
          <p:cNvSpPr/>
          <p:nvPr/>
        </p:nvSpPr>
        <p:spPr>
          <a:xfrm>
            <a:off x="361950" y="6335316"/>
            <a:ext cx="16554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0" kern="0" dirty="0">
                <a:solidFill>
                  <a:srgbClr val="E15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638" dirty="0"/>
          </a:p>
        </p:txBody>
      </p:sp>
      <p:sp>
        <p:nvSpPr>
          <p:cNvPr id="129" name="Shape 98"/>
          <p:cNvSpPr/>
          <p:nvPr/>
        </p:nvSpPr>
        <p:spPr>
          <a:xfrm>
            <a:off x="2019300" y="6207026"/>
            <a:ext cx="823317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30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2095500" y="6235601"/>
            <a:ext cx="142875" cy="142875"/>
          </a:xfrm>
          <a:prstGeom prst="rect">
            <a:avLst/>
          </a:prstGeom>
        </p:spPr>
      </p:pic>
      <p:sp>
        <p:nvSpPr>
          <p:cNvPr id="131" name="Text 99"/>
          <p:cNvSpPr/>
          <p:nvPr/>
        </p:nvSpPr>
        <p:spPr>
          <a:xfrm>
            <a:off x="2276475" y="6249888"/>
            <a:ext cx="566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CloudWatch</a:t>
            </a:r>
            <a:endParaRPr lang="en-US" sz="675" dirty="0"/>
          </a:p>
        </p:txBody>
      </p:sp>
      <p:sp>
        <p:nvSpPr>
          <p:cNvPr id="132" name="Shape 100"/>
          <p:cNvSpPr/>
          <p:nvPr/>
        </p:nvSpPr>
        <p:spPr>
          <a:xfrm>
            <a:off x="2890242" y="6207026"/>
            <a:ext cx="502890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33" name="Image 30" descr="preencoded.p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2966442" y="6235601"/>
            <a:ext cx="142875" cy="142875"/>
          </a:xfrm>
          <a:prstGeom prst="rect">
            <a:avLst/>
          </a:prstGeom>
        </p:spPr>
      </p:pic>
      <p:sp>
        <p:nvSpPr>
          <p:cNvPr id="134" name="Text 101"/>
          <p:cNvSpPr/>
          <p:nvPr/>
        </p:nvSpPr>
        <p:spPr>
          <a:xfrm>
            <a:off x="3147417" y="6249888"/>
            <a:ext cx="2457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</a:t>
            </a:r>
            <a:endParaRPr lang="en-US" sz="675" dirty="0"/>
          </a:p>
        </p:txBody>
      </p:sp>
      <p:sp>
        <p:nvSpPr>
          <p:cNvPr id="135" name="Shape 102"/>
          <p:cNvSpPr/>
          <p:nvPr/>
        </p:nvSpPr>
        <p:spPr>
          <a:xfrm>
            <a:off x="3440757" y="6207026"/>
            <a:ext cx="620316" cy="200025"/>
          </a:xfrm>
          <a:prstGeom prst="roundRect">
            <a:avLst>
              <a:gd name="adj" fmla="val 23810"/>
            </a:avLst>
          </a:prstGeom>
          <a:solidFill>
            <a:srgbClr val="F5F7FA"/>
          </a:solidFill>
          <a:ln w="9525">
            <a:solidFill>
              <a:srgbClr val="ECEFF2"/>
            </a:solidFill>
            <a:prstDash val="solid"/>
          </a:ln>
        </p:spPr>
      </p:sp>
      <p:pic>
        <p:nvPicPr>
          <p:cNvPr id="136" name="Image 31" descr="preencoded.png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516957" y="6235601"/>
            <a:ext cx="142875" cy="142875"/>
          </a:xfrm>
          <a:prstGeom prst="rect">
            <a:avLst/>
          </a:prstGeom>
        </p:spPr>
      </p:pic>
      <p:sp>
        <p:nvSpPr>
          <p:cNvPr id="137" name="Text 103"/>
          <p:cNvSpPr/>
          <p:nvPr/>
        </p:nvSpPr>
        <p:spPr>
          <a:xfrm>
            <a:off x="3697932" y="6249888"/>
            <a:ext cx="363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A4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</a:t>
            </a:r>
            <a:endParaRPr lang="en-US" sz="675" dirty="0"/>
          </a:p>
        </p:txBody>
      </p:sp>
      <p:sp>
        <p:nvSpPr>
          <p:cNvPr id="138" name="Text 104"/>
          <p:cNvSpPr/>
          <p:nvPr/>
        </p:nvSpPr>
        <p:spPr>
          <a:xfrm>
            <a:off x="4552950" y="6234559"/>
            <a:ext cx="8036243" cy="183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88" dirty="0">
                <a:solidFill>
                  <a:srgbClr val="54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/ managed services via VPC endpoints: CloudWatch for monitoring &amp; logging, IAM execution roles, and Secrets Manager for runtime secrets.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2026-06-23T13:17:30Z</dcterms:created>
  <dcterms:modified xsi:type="dcterms:W3CDTF">2026-06-23T13:17:30Z</dcterms:modified>
</cp:coreProperties>
</file>